
<file path=[Content_Types].xml><?xml version="1.0" encoding="utf-8"?>
<Types xmlns="http://schemas.openxmlformats.org/package/2006/content-types">
  <Default Extension="xml" ContentType="application/xml"/>
  <Default Extension="jpeg" ContentType="image/jpeg"/>
  <Default Extension="jpg" ContentType="image/jpeg"/>
  <Default Extension="mp4" ContentType="video/mp4"/>
  <Default Extension="rels" ContentType="application/vnd.openxmlformats-package.relationships+xml"/>
  <Default Extension="wdp" ContentType="image/vnd.ms-photo"/>
  <Default Extension="gif" ContentType="image/gif"/>
  <Default Extension="png" ContentType="image/png"/>
  <Default Extension="ti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35"/>
  </p:notesMasterIdLst>
  <p:handoutMasterIdLst>
    <p:handoutMasterId r:id="rId36"/>
  </p:handoutMasterIdLst>
  <p:sldIdLst>
    <p:sldId id="256" r:id="rId2"/>
    <p:sldId id="306" r:id="rId3"/>
    <p:sldId id="261" r:id="rId4"/>
    <p:sldId id="283" r:id="rId5"/>
    <p:sldId id="287" r:id="rId6"/>
    <p:sldId id="286" r:id="rId7"/>
    <p:sldId id="285" r:id="rId8"/>
    <p:sldId id="282" r:id="rId9"/>
    <p:sldId id="311" r:id="rId10"/>
    <p:sldId id="307" r:id="rId11"/>
    <p:sldId id="316" r:id="rId12"/>
    <p:sldId id="317" r:id="rId13"/>
    <p:sldId id="308" r:id="rId14"/>
    <p:sldId id="299" r:id="rId15"/>
    <p:sldId id="318" r:id="rId16"/>
    <p:sldId id="289" r:id="rId17"/>
    <p:sldId id="292" r:id="rId18"/>
    <p:sldId id="321" r:id="rId19"/>
    <p:sldId id="322" r:id="rId20"/>
    <p:sldId id="276" r:id="rId21"/>
    <p:sldId id="295" r:id="rId22"/>
    <p:sldId id="319" r:id="rId23"/>
    <p:sldId id="296" r:id="rId24"/>
    <p:sldId id="297" r:id="rId25"/>
    <p:sldId id="291" r:id="rId26"/>
    <p:sldId id="320" r:id="rId27"/>
    <p:sldId id="323" r:id="rId28"/>
    <p:sldId id="327" r:id="rId29"/>
    <p:sldId id="328" r:id="rId30"/>
    <p:sldId id="278" r:id="rId31"/>
    <p:sldId id="284" r:id="rId32"/>
    <p:sldId id="262" r:id="rId33"/>
    <p:sldId id="32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1E24"/>
    <a:srgbClr val="8CC63E"/>
    <a:srgbClr val="8DC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88"/>
    <p:restoredTop sz="94633"/>
  </p:normalViewPr>
  <p:slideViewPr>
    <p:cSldViewPr snapToGrid="0" snapToObjects="1">
      <p:cViewPr>
        <p:scale>
          <a:sx n="81" d="100"/>
          <a:sy n="81" d="100"/>
        </p:scale>
        <p:origin x="3664" y="2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handoutMaster" Target="handoutMasters/handout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4"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C0253C-7DDB-7F40-B501-8F9135424000}" type="datetimeFigureOut">
              <a:rPr lang="en-US" smtClean="0"/>
              <a:t>10/18/17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E66015-5381-8445-BF28-F6B0B10B6D23}" type="slidenum">
              <a:rPr lang="en-US" smtClean="0"/>
              <a:t>‹#›</a:t>
            </a:fld>
            <a:endParaRPr lang="en-US"/>
          </a:p>
        </p:txBody>
      </p:sp>
    </p:spTree>
    <p:extLst>
      <p:ext uri="{BB962C8B-B14F-4D97-AF65-F5344CB8AC3E}">
        <p14:creationId xmlns:p14="http://schemas.microsoft.com/office/powerpoint/2010/main" val="187891111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97F1F-8C6F-6440-9EC4-B2B19D866373}" type="datetimeFigureOut">
              <a:rPr lang="en-US" smtClean="0"/>
              <a:t>10/18/17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67986C-F004-B346-A0B3-6689BA38934E}" type="slidenum">
              <a:rPr lang="en-US" smtClean="0"/>
              <a:t>‹#›</a:t>
            </a:fld>
            <a:endParaRPr lang="en-US"/>
          </a:p>
        </p:txBody>
      </p:sp>
    </p:spTree>
    <p:extLst>
      <p:ext uri="{BB962C8B-B14F-4D97-AF65-F5344CB8AC3E}">
        <p14:creationId xmlns:p14="http://schemas.microsoft.com/office/powerpoint/2010/main" val="214374428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1</a:t>
            </a:fld>
            <a:endParaRPr lang="en-US"/>
          </a:p>
        </p:txBody>
      </p:sp>
    </p:spTree>
    <p:extLst>
      <p:ext uri="{BB962C8B-B14F-4D97-AF65-F5344CB8AC3E}">
        <p14:creationId xmlns:p14="http://schemas.microsoft.com/office/powerpoint/2010/main" val="967985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2</a:t>
            </a:fld>
            <a:endParaRPr lang="en-US"/>
          </a:p>
        </p:txBody>
      </p:sp>
    </p:spTree>
    <p:extLst>
      <p:ext uri="{BB962C8B-B14F-4D97-AF65-F5344CB8AC3E}">
        <p14:creationId xmlns:p14="http://schemas.microsoft.com/office/powerpoint/2010/main" val="1740109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3</a:t>
            </a:fld>
            <a:endParaRPr lang="en-US"/>
          </a:p>
        </p:txBody>
      </p:sp>
    </p:spTree>
    <p:extLst>
      <p:ext uri="{BB962C8B-B14F-4D97-AF65-F5344CB8AC3E}">
        <p14:creationId xmlns:p14="http://schemas.microsoft.com/office/powerpoint/2010/main" val="1586229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4</a:t>
            </a:fld>
            <a:endParaRPr lang="en-US"/>
          </a:p>
        </p:txBody>
      </p:sp>
    </p:spTree>
    <p:extLst>
      <p:ext uri="{BB962C8B-B14F-4D97-AF65-F5344CB8AC3E}">
        <p14:creationId xmlns:p14="http://schemas.microsoft.com/office/powerpoint/2010/main" val="900422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5</a:t>
            </a:fld>
            <a:endParaRPr lang="en-US"/>
          </a:p>
        </p:txBody>
      </p:sp>
    </p:spTree>
    <p:extLst>
      <p:ext uri="{BB962C8B-B14F-4D97-AF65-F5344CB8AC3E}">
        <p14:creationId xmlns:p14="http://schemas.microsoft.com/office/powerpoint/2010/main" val="88386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6</a:t>
            </a:fld>
            <a:endParaRPr lang="en-US"/>
          </a:p>
        </p:txBody>
      </p:sp>
    </p:spTree>
    <p:extLst>
      <p:ext uri="{BB962C8B-B14F-4D97-AF65-F5344CB8AC3E}">
        <p14:creationId xmlns:p14="http://schemas.microsoft.com/office/powerpoint/2010/main" val="1596402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7</a:t>
            </a:fld>
            <a:endParaRPr lang="en-US"/>
          </a:p>
        </p:txBody>
      </p:sp>
    </p:spTree>
    <p:extLst>
      <p:ext uri="{BB962C8B-B14F-4D97-AF65-F5344CB8AC3E}">
        <p14:creationId xmlns:p14="http://schemas.microsoft.com/office/powerpoint/2010/main" val="81694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of computer-supported, interactive, visual representation of data to amplify cognition</a:t>
            </a:r>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8</a:t>
            </a:fld>
            <a:endParaRPr lang="en-US"/>
          </a:p>
        </p:txBody>
      </p:sp>
    </p:spTree>
    <p:extLst>
      <p:ext uri="{BB962C8B-B14F-4D97-AF65-F5344CB8AC3E}">
        <p14:creationId xmlns:p14="http://schemas.microsoft.com/office/powerpoint/2010/main" val="882951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accelerating evolution in information visualization research,</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remarkable advances in hardware and software technologies and the rapid development of the medium World Wide Web led to a trend toward more generally usable visualization systems via web applications</a:t>
            </a:r>
            <a:r>
              <a:rPr lang="en-US" sz="1200" b="0" i="0" kern="1200" baseline="0" dirty="0">
                <a:solidFill>
                  <a:schemeClr val="tx1"/>
                </a:solidFill>
                <a:effectLst/>
                <a:latin typeface="+mn-lt"/>
                <a:ea typeface="+mn-ea"/>
                <a:cs typeface="+mn-cs"/>
              </a:rPr>
              <a:t> - </a:t>
            </a:r>
            <a:r>
              <a:rPr lang="en-US" sz="1200" b="1" dirty="0"/>
              <a:t>general Web-based visualization systems, </a:t>
            </a:r>
            <a:r>
              <a:rPr lang="en-US" sz="1200" dirty="0"/>
              <a:t>(Bender at al., 2000) </a:t>
            </a:r>
            <a:r>
              <a:rPr lang="en-US" sz="1200" b="1" dirty="0"/>
              <a:t>.</a:t>
            </a:r>
          </a:p>
          <a:p>
            <a:r>
              <a:rPr lang="en-US" sz="1200" kern="1200" dirty="0" smtClean="0">
                <a:solidFill>
                  <a:schemeClr val="tx1"/>
                </a:solidFill>
                <a:effectLst/>
                <a:latin typeface="+mn-lt"/>
                <a:ea typeface="+mn-ea"/>
                <a:cs typeface="+mn-cs"/>
              </a:rPr>
              <a:t>The number </a:t>
            </a:r>
            <a:r>
              <a:rPr lang="en-US" sz="1200" kern="1200" dirty="0">
                <a:solidFill>
                  <a:schemeClr val="tx1"/>
                </a:solidFill>
                <a:effectLst/>
                <a:latin typeface="+mn-lt"/>
                <a:ea typeface="+mn-ea"/>
                <a:cs typeface="+mn-cs"/>
              </a:rPr>
              <a:t>of devices on which people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view Web content is </a:t>
            </a:r>
            <a:r>
              <a:rPr lang="en-US" sz="1200" kern="1200" dirty="0" smtClean="0">
                <a:solidFill>
                  <a:schemeClr val="tx1"/>
                </a:solidFill>
                <a:effectLst/>
                <a:latin typeface="+mn-lt"/>
                <a:ea typeface="+mn-ea"/>
                <a:cs typeface="+mn-cs"/>
              </a:rPr>
              <a:t>exploding.</a:t>
            </a:r>
            <a:endParaRPr lang="en-US" sz="1200" kern="1200" dirty="0">
              <a:solidFill>
                <a:schemeClr val="tx1"/>
              </a:solidFill>
              <a:effectLst/>
              <a:latin typeface="+mn-lt"/>
              <a:ea typeface="+mn-ea"/>
              <a:cs typeface="+mn-cs"/>
            </a:endParaRPr>
          </a:p>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9</a:t>
            </a:fld>
            <a:endParaRPr lang="en-US"/>
          </a:p>
        </p:txBody>
      </p:sp>
    </p:spTree>
    <p:extLst>
      <p:ext uri="{BB962C8B-B14F-4D97-AF65-F5344CB8AC3E}">
        <p14:creationId xmlns:p14="http://schemas.microsoft.com/office/powerpoint/2010/main" val="805797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10</a:t>
            </a:fld>
            <a:endParaRPr lang="en-US"/>
          </a:p>
        </p:txBody>
      </p:sp>
    </p:spTree>
    <p:extLst>
      <p:ext uri="{BB962C8B-B14F-4D97-AF65-F5344CB8AC3E}">
        <p14:creationId xmlns:p14="http://schemas.microsoft.com/office/powerpoint/2010/main" val="1011074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11</a:t>
            </a:fld>
            <a:endParaRPr lang="en-US"/>
          </a:p>
        </p:txBody>
      </p:sp>
    </p:spTree>
    <p:extLst>
      <p:ext uri="{BB962C8B-B14F-4D97-AF65-F5344CB8AC3E}">
        <p14:creationId xmlns:p14="http://schemas.microsoft.com/office/powerpoint/2010/main" val="8936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12</a:t>
            </a:fld>
            <a:endParaRPr lang="en-US"/>
          </a:p>
        </p:txBody>
      </p:sp>
    </p:spTree>
    <p:extLst>
      <p:ext uri="{BB962C8B-B14F-4D97-AF65-F5344CB8AC3E}">
        <p14:creationId xmlns:p14="http://schemas.microsoft.com/office/powerpoint/2010/main" val="8188744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13</a:t>
            </a:fld>
            <a:endParaRPr lang="en-US"/>
          </a:p>
        </p:txBody>
      </p:sp>
    </p:spTree>
    <p:extLst>
      <p:ext uri="{BB962C8B-B14F-4D97-AF65-F5344CB8AC3E}">
        <p14:creationId xmlns:p14="http://schemas.microsoft.com/office/powerpoint/2010/main" val="419888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14</a:t>
            </a:fld>
            <a:endParaRPr lang="en-US"/>
          </a:p>
        </p:txBody>
      </p:sp>
    </p:spTree>
    <p:extLst>
      <p:ext uri="{BB962C8B-B14F-4D97-AF65-F5344CB8AC3E}">
        <p14:creationId xmlns:p14="http://schemas.microsoft.com/office/powerpoint/2010/main" val="10911668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15</a:t>
            </a:fld>
            <a:endParaRPr lang="en-US"/>
          </a:p>
        </p:txBody>
      </p:sp>
    </p:spTree>
    <p:extLst>
      <p:ext uri="{BB962C8B-B14F-4D97-AF65-F5344CB8AC3E}">
        <p14:creationId xmlns:p14="http://schemas.microsoft.com/office/powerpoint/2010/main" val="2316505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16</a:t>
            </a:fld>
            <a:endParaRPr lang="en-US"/>
          </a:p>
        </p:txBody>
      </p:sp>
    </p:spTree>
    <p:extLst>
      <p:ext uri="{BB962C8B-B14F-4D97-AF65-F5344CB8AC3E}">
        <p14:creationId xmlns:p14="http://schemas.microsoft.com/office/powerpoint/2010/main" val="11488368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dk1"/>
                </a:solidFill>
                <a:latin typeface="+mn-lt"/>
                <a:ea typeface="Calibri"/>
                <a:cs typeface="Calibri"/>
                <a:sym typeface="Calibri"/>
              </a:rPr>
              <a:t>The goal of this visualization is to show the flow of students through Indiana University’s Information Visualization Massive Open Online Course (IVMOOC) from 2013 – 2015. The diagram was created using R+D3 with data from learning management systems (LMS), such as Google Course Builder and Canvas, but also student demographic data collected using surveys. The diagram shows demographic information regarding a student’s level of educational attainment and gender together with the year they took the course, broken down further by IVMOOC and IU sections of the course.</a:t>
            </a:r>
          </a:p>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17</a:t>
            </a:fld>
            <a:endParaRPr lang="en-US"/>
          </a:p>
        </p:txBody>
      </p:sp>
    </p:spTree>
    <p:extLst>
      <p:ext uri="{BB962C8B-B14F-4D97-AF65-F5344CB8AC3E}">
        <p14:creationId xmlns:p14="http://schemas.microsoft.com/office/powerpoint/2010/main" val="6760740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18</a:t>
            </a:fld>
            <a:endParaRPr lang="en-US"/>
          </a:p>
        </p:txBody>
      </p:sp>
    </p:spTree>
    <p:extLst>
      <p:ext uri="{BB962C8B-B14F-4D97-AF65-F5344CB8AC3E}">
        <p14:creationId xmlns:p14="http://schemas.microsoft.com/office/powerpoint/2010/main" val="2545471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19</a:t>
            </a:fld>
            <a:endParaRPr lang="en-US"/>
          </a:p>
        </p:txBody>
      </p:sp>
    </p:spTree>
    <p:extLst>
      <p:ext uri="{BB962C8B-B14F-4D97-AF65-F5344CB8AC3E}">
        <p14:creationId xmlns:p14="http://schemas.microsoft.com/office/powerpoint/2010/main" val="2896266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20</a:t>
            </a:fld>
            <a:endParaRPr lang="en-US"/>
          </a:p>
        </p:txBody>
      </p:sp>
    </p:spTree>
    <p:extLst>
      <p:ext uri="{BB962C8B-B14F-4D97-AF65-F5344CB8AC3E}">
        <p14:creationId xmlns:p14="http://schemas.microsoft.com/office/powerpoint/2010/main" val="2570201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21</a:t>
            </a:fld>
            <a:endParaRPr lang="en-US"/>
          </a:p>
        </p:txBody>
      </p:sp>
    </p:spTree>
    <p:extLst>
      <p:ext uri="{BB962C8B-B14F-4D97-AF65-F5344CB8AC3E}">
        <p14:creationId xmlns:p14="http://schemas.microsoft.com/office/powerpoint/2010/main" val="4277637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22</a:t>
            </a:fld>
            <a:endParaRPr lang="en-US"/>
          </a:p>
        </p:txBody>
      </p:sp>
    </p:spTree>
    <p:extLst>
      <p:ext uri="{BB962C8B-B14F-4D97-AF65-F5344CB8AC3E}">
        <p14:creationId xmlns:p14="http://schemas.microsoft.com/office/powerpoint/2010/main" val="8541177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mn-lt"/>
                <a:ea typeface="Calibri"/>
                <a:cs typeface="Calibri"/>
                <a:sym typeface="Calibri"/>
              </a:rPr>
              <a:t>This visualization shows CTSA hub and NIH activities on Twitter.  The accounts and tweets associated with CTSA and NIH were collected between August 2015 - Sept. 2015, then processed and analyzed to create a social network based on the interaction behaviors of users.  </a:t>
            </a:r>
            <a:r>
              <a:rPr lang="en-US" sz="1200" dirty="0" smtClean="0">
                <a:solidFill>
                  <a:schemeClr val="dk1"/>
                </a:solidFill>
                <a:highlight>
                  <a:srgbClr val="FFFFFF"/>
                </a:highlight>
                <a:latin typeface="+mn-lt"/>
                <a:ea typeface="Calibri"/>
                <a:cs typeface="Calibri"/>
                <a:sym typeface="Calibri"/>
              </a:rPr>
              <a:t> The layout of the user network is force-directed, meaning that nodes that are close to each other have a stronger connection to one another indicating which Twitter users interact with each other most often.</a:t>
            </a:r>
          </a:p>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23</a:t>
            </a:fld>
            <a:endParaRPr lang="en-US"/>
          </a:p>
        </p:txBody>
      </p:sp>
    </p:spTree>
    <p:extLst>
      <p:ext uri="{BB962C8B-B14F-4D97-AF65-F5344CB8AC3E}">
        <p14:creationId xmlns:p14="http://schemas.microsoft.com/office/powerpoint/2010/main" val="4756694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dk1"/>
                </a:solidFill>
                <a:latin typeface="+mn-lt"/>
                <a:ea typeface="Calibri"/>
                <a:cs typeface="Calibri"/>
                <a:sym typeface="Calibri"/>
              </a:rPr>
              <a:t>This interactive map supports the exploration and comparison of different high-impact and transformative science (HITS) metrics.  Interactive map allows the user to hover over a discipline label to highlight all its sub-disciplines, and also hover over a subdiscipline to see all subdisciplines it is connected to. </a:t>
            </a:r>
          </a:p>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24</a:t>
            </a:fld>
            <a:endParaRPr lang="en-US"/>
          </a:p>
        </p:txBody>
      </p:sp>
    </p:spTree>
    <p:extLst>
      <p:ext uri="{BB962C8B-B14F-4D97-AF65-F5344CB8AC3E}">
        <p14:creationId xmlns:p14="http://schemas.microsoft.com/office/powerpoint/2010/main" val="16424296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25</a:t>
            </a:fld>
            <a:endParaRPr lang="en-US"/>
          </a:p>
        </p:txBody>
      </p:sp>
    </p:spTree>
    <p:extLst>
      <p:ext uri="{BB962C8B-B14F-4D97-AF65-F5344CB8AC3E}">
        <p14:creationId xmlns:p14="http://schemas.microsoft.com/office/powerpoint/2010/main" val="5605811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69850">
              <a:lnSpc>
                <a:spcPct val="100000"/>
              </a:lnSpc>
              <a:spcBef>
                <a:spcPts val="360"/>
              </a:spcBef>
              <a:buClr>
                <a:schemeClr val="dk1"/>
              </a:buClr>
              <a:buSzPct val="100000"/>
              <a:buFont typeface="Arial"/>
              <a:buNone/>
            </a:pPr>
            <a:r>
              <a:rPr lang="en-US" sz="1200" dirty="0" smtClean="0">
                <a:solidFill>
                  <a:schemeClr val="dk1"/>
                </a:solidFill>
                <a:highlight>
                  <a:srgbClr val="FFFFFF"/>
                </a:highlight>
                <a:latin typeface="+mn-lt"/>
                <a:ea typeface="Calibri"/>
                <a:cs typeface="Calibri"/>
                <a:sym typeface="Calibri"/>
              </a:rPr>
              <a:t>STEM (science, technology, engineering, math) pathways visualization.  Data tool that will make it easier for researchers to visualize pathways and identify groups of individuals pursuing specific paths.</a:t>
            </a:r>
          </a:p>
          <a:p>
            <a:pPr marL="0" indent="-69850">
              <a:lnSpc>
                <a:spcPct val="100000"/>
              </a:lnSpc>
              <a:spcBef>
                <a:spcPts val="360"/>
              </a:spcBef>
              <a:buClr>
                <a:schemeClr val="dk1"/>
              </a:buClr>
              <a:buSzPct val="100000"/>
              <a:buFont typeface="Arial"/>
              <a:buNone/>
            </a:pPr>
            <a:r>
              <a:rPr lang="en-US" sz="1200" dirty="0" smtClean="0">
                <a:solidFill>
                  <a:schemeClr val="dk1"/>
                </a:solidFill>
                <a:highlight>
                  <a:srgbClr val="FFFFFF"/>
                </a:highlight>
                <a:latin typeface="+mn-lt"/>
                <a:ea typeface="Calibri"/>
                <a:cs typeface="Calibri"/>
                <a:sym typeface="Calibri"/>
              </a:rPr>
              <a:t/>
            </a:r>
            <a:br>
              <a:rPr lang="en-US" sz="1200" dirty="0" smtClean="0">
                <a:solidFill>
                  <a:schemeClr val="dk1"/>
                </a:solidFill>
                <a:highlight>
                  <a:srgbClr val="FFFFFF"/>
                </a:highlight>
                <a:latin typeface="+mn-lt"/>
                <a:ea typeface="Calibri"/>
                <a:cs typeface="Calibri"/>
                <a:sym typeface="Calibri"/>
              </a:rPr>
            </a:br>
            <a:r>
              <a:rPr lang="en-US" sz="1200" dirty="0" smtClean="0">
                <a:solidFill>
                  <a:schemeClr val="dk1"/>
                </a:solidFill>
                <a:highlight>
                  <a:srgbClr val="FFFFFF"/>
                </a:highlight>
                <a:latin typeface="+mn-lt"/>
                <a:ea typeface="Calibri"/>
                <a:cs typeface="Calibri"/>
                <a:sym typeface="Calibri"/>
              </a:rPr>
              <a:t>The primary goal of Sankey visualization was to understand the growth/decline of STEM career interests in students at various educational levels and across different demographics.  Users will be able to precisely analyze and identify the group of students that flow in and out of the STEM career interest areas and in turn perform detailed research on these focus groups to study the reasons and influencing factors for the change in career interests.</a:t>
            </a:r>
          </a:p>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26</a:t>
            </a:fld>
            <a:endParaRPr lang="en-US"/>
          </a:p>
        </p:txBody>
      </p:sp>
    </p:spTree>
    <p:extLst>
      <p:ext uri="{BB962C8B-B14F-4D97-AF65-F5344CB8AC3E}">
        <p14:creationId xmlns:p14="http://schemas.microsoft.com/office/powerpoint/2010/main" val="18868038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27</a:t>
            </a:fld>
            <a:endParaRPr lang="en-US"/>
          </a:p>
        </p:txBody>
      </p:sp>
    </p:spTree>
    <p:extLst>
      <p:ext uri="{BB962C8B-B14F-4D97-AF65-F5344CB8AC3E}">
        <p14:creationId xmlns:p14="http://schemas.microsoft.com/office/powerpoint/2010/main" val="20632557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28</a:t>
            </a:fld>
            <a:endParaRPr lang="en-US"/>
          </a:p>
        </p:txBody>
      </p:sp>
    </p:spTree>
    <p:extLst>
      <p:ext uri="{BB962C8B-B14F-4D97-AF65-F5344CB8AC3E}">
        <p14:creationId xmlns:p14="http://schemas.microsoft.com/office/powerpoint/2010/main" val="3558631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29</a:t>
            </a:fld>
            <a:endParaRPr lang="en-US"/>
          </a:p>
        </p:txBody>
      </p:sp>
    </p:spTree>
    <p:extLst>
      <p:ext uri="{BB962C8B-B14F-4D97-AF65-F5344CB8AC3E}">
        <p14:creationId xmlns:p14="http://schemas.microsoft.com/office/powerpoint/2010/main" val="7628820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C160A9-DA91-4677-88A7-D7B686793888}" type="slidenum">
              <a:rPr lang="en-US">
                <a:solidFill>
                  <a:prstClr val="black"/>
                </a:solidFill>
              </a:rPr>
              <a:pPr/>
              <a:t>30</a:t>
            </a:fld>
            <a:endParaRPr lang="en-US">
              <a:solidFill>
                <a:prstClr val="black"/>
              </a:solidFill>
            </a:endParaRPr>
          </a:p>
        </p:txBody>
      </p:sp>
      <p:sp>
        <p:nvSpPr>
          <p:cNvPr id="2074626" name="Rectangle 2"/>
          <p:cNvSpPr>
            <a:spLocks noGrp="1" noRot="1" noChangeAspect="1" noChangeArrowheads="1" noTextEdit="1"/>
          </p:cNvSpPr>
          <p:nvPr>
            <p:ph type="sldImg"/>
          </p:nvPr>
        </p:nvSpPr>
        <p:spPr>
          <a:ln/>
        </p:spPr>
      </p:sp>
      <p:sp>
        <p:nvSpPr>
          <p:cNvPr id="207462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65317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C160A9-DA91-4677-88A7-D7B686793888}" type="slidenum">
              <a:rPr lang="en-US">
                <a:solidFill>
                  <a:prstClr val="black"/>
                </a:solidFill>
              </a:rPr>
              <a:pPr/>
              <a:t>31</a:t>
            </a:fld>
            <a:endParaRPr lang="en-US">
              <a:solidFill>
                <a:prstClr val="black"/>
              </a:solidFill>
            </a:endParaRPr>
          </a:p>
        </p:txBody>
      </p:sp>
      <p:sp>
        <p:nvSpPr>
          <p:cNvPr id="2074626" name="Rectangle 2"/>
          <p:cNvSpPr>
            <a:spLocks noGrp="1" noRot="1" noChangeAspect="1" noChangeArrowheads="1" noTextEdit="1"/>
          </p:cNvSpPr>
          <p:nvPr>
            <p:ph type="sldImg"/>
          </p:nvPr>
        </p:nvSpPr>
        <p:spPr>
          <a:ln/>
        </p:spPr>
      </p:sp>
      <p:sp>
        <p:nvSpPr>
          <p:cNvPr id="207462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8340364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9267986C-F004-B346-A0B3-6689BA38934E}" type="slidenum">
              <a:rPr lang="en-US" smtClean="0"/>
              <a:t>32</a:t>
            </a:fld>
            <a:endParaRPr lang="en-US"/>
          </a:p>
        </p:txBody>
      </p:sp>
    </p:spTree>
    <p:extLst>
      <p:ext uri="{BB962C8B-B14F-4D97-AF65-F5344CB8AC3E}">
        <p14:creationId xmlns:p14="http://schemas.microsoft.com/office/powerpoint/2010/main" val="570896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E1E24"/>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06700" y="1388533"/>
            <a:ext cx="9144000" cy="715964"/>
          </a:xfrm>
        </p:spPr>
        <p:txBody>
          <a:bodyPr anchor="b">
            <a:normAutofit/>
          </a:bodyPr>
          <a:lstStyle>
            <a:lvl1pPr algn="l">
              <a:defRPr sz="3600"/>
            </a:lvl1pPr>
          </a:lstStyle>
          <a:p>
            <a:r>
              <a:rPr lang="en-US" dirty="0"/>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06700" y="388961"/>
            <a:ext cx="3374575" cy="590753"/>
          </a:xfrm>
          <a:prstGeom prst="rect">
            <a:avLst/>
          </a:prstGeom>
        </p:spPr>
      </p:pic>
      <p:sp>
        <p:nvSpPr>
          <p:cNvPr id="14" name="Content Placeholder 13"/>
          <p:cNvSpPr>
            <a:spLocks noGrp="1"/>
          </p:cNvSpPr>
          <p:nvPr>
            <p:ph sz="quarter" idx="13" hasCustomPrompt="1"/>
          </p:nvPr>
        </p:nvSpPr>
        <p:spPr>
          <a:xfrm>
            <a:off x="522575" y="3249611"/>
            <a:ext cx="9128125" cy="2905656"/>
          </a:xfrm>
        </p:spPr>
        <p:txBody>
          <a:bodyPr/>
          <a:lstStyle>
            <a:lvl1pPr marL="0" marR="0" indent="0" algn="l" rtl="0">
              <a:spcBef>
                <a:spcPts val="0"/>
              </a:spcBef>
              <a:spcAft>
                <a:spcPts val="0"/>
              </a:spcAft>
              <a:buNone/>
              <a:defRPr sz="1800" baseline="0">
                <a:latin typeface="+mj-lt"/>
              </a:defRPr>
            </a:lvl1pPr>
          </a:lstStyle>
          <a:p>
            <a:pPr marL="0" marR="0" lvl="0" indent="0" algn="l" rtl="0">
              <a:spcBef>
                <a:spcPts val="0"/>
              </a:spcBef>
              <a:spcAft>
                <a:spcPts val="0"/>
              </a:spcAft>
              <a:buNone/>
            </a:pPr>
            <a:r>
              <a:rPr lang="en-US" i="0" u="none" strike="noStrike" cap="none" dirty="0">
                <a:solidFill>
                  <a:srgbClr val="F2F2F2"/>
                </a:solidFill>
                <a:latin typeface="+mn-lt"/>
                <a:ea typeface="Calibri"/>
                <a:cs typeface="Calibri"/>
                <a:sym typeface="Calibri"/>
              </a:rPr>
              <a:t>Cyberinfrastructure for Network Science Center</a:t>
            </a:r>
          </a:p>
          <a:p>
            <a:pPr marL="0" marR="0" lvl="0" indent="0" algn="l" rtl="0">
              <a:spcBef>
                <a:spcPts val="0"/>
              </a:spcBef>
              <a:spcAft>
                <a:spcPts val="0"/>
              </a:spcAft>
              <a:buNone/>
            </a:pPr>
            <a:r>
              <a:rPr lang="en-US" i="0" u="none" strike="noStrike" cap="none" dirty="0">
                <a:solidFill>
                  <a:srgbClr val="F2F2F2"/>
                </a:solidFill>
                <a:latin typeface="+mn-lt"/>
                <a:ea typeface="Calibri"/>
                <a:cs typeface="Calibri"/>
                <a:sym typeface="Calibri"/>
              </a:rPr>
              <a:t>Department of Intelligent Systems Engineering</a:t>
            </a:r>
          </a:p>
          <a:p>
            <a:pPr marL="0" marR="0" lvl="0" indent="0" algn="l" rtl="0">
              <a:spcBef>
                <a:spcPts val="0"/>
              </a:spcBef>
              <a:spcAft>
                <a:spcPts val="0"/>
              </a:spcAft>
              <a:buNone/>
            </a:pPr>
            <a:r>
              <a:rPr lang="en-US" i="0" u="none" strike="noStrike" cap="none" dirty="0">
                <a:solidFill>
                  <a:srgbClr val="F2F2F2"/>
                </a:solidFill>
                <a:latin typeface="+mn-lt"/>
                <a:ea typeface="Calibri"/>
                <a:cs typeface="Calibri"/>
                <a:sym typeface="Calibri"/>
              </a:rPr>
              <a:t>School of Informatics and Computing and IU Network Science Institute</a:t>
            </a:r>
          </a:p>
          <a:p>
            <a:pPr marL="0" marR="0" lvl="0" indent="0" algn="l" rtl="0">
              <a:spcBef>
                <a:spcPts val="0"/>
              </a:spcBef>
              <a:spcAft>
                <a:spcPts val="0"/>
              </a:spcAft>
              <a:buNone/>
            </a:pPr>
            <a:r>
              <a:rPr lang="en-US" i="0" u="none" strike="noStrike" cap="none" dirty="0">
                <a:solidFill>
                  <a:srgbClr val="F2F2F2"/>
                </a:solidFill>
                <a:latin typeface="+mn-lt"/>
                <a:ea typeface="Calibri"/>
                <a:cs typeface="Calibri"/>
                <a:sym typeface="Calibri"/>
              </a:rPr>
              <a:t>Indiana University, Bloomington, USA</a:t>
            </a:r>
          </a:p>
          <a:p>
            <a:pPr marL="0" marR="0" lvl="0" indent="0" algn="l" rtl="0">
              <a:spcBef>
                <a:spcPts val="0"/>
              </a:spcBef>
              <a:spcAft>
                <a:spcPts val="0"/>
              </a:spcAft>
              <a:buNone/>
            </a:pPr>
            <a:endParaRPr lang="en-US" i="1" u="none" strike="noStrike" cap="none" dirty="0">
              <a:solidFill>
                <a:srgbClr val="F2F2F2"/>
              </a:solidFill>
              <a:latin typeface="+mn-lt"/>
              <a:ea typeface="Calibri"/>
              <a:cs typeface="Calibri"/>
              <a:sym typeface="Calibri"/>
            </a:endParaRPr>
          </a:p>
          <a:p>
            <a:pPr marL="0" marR="0" lvl="0" indent="0" algn="l" rtl="0">
              <a:spcBef>
                <a:spcPts val="0"/>
              </a:spcBef>
              <a:spcAft>
                <a:spcPts val="0"/>
              </a:spcAft>
              <a:buNone/>
            </a:pPr>
            <a:r>
              <a:rPr lang="en-US" i="1" u="none" strike="noStrike" cap="none" dirty="0">
                <a:solidFill>
                  <a:srgbClr val="F2F2F2"/>
                </a:solidFill>
                <a:latin typeface="+mn-lt"/>
                <a:ea typeface="Calibri"/>
                <a:cs typeface="Calibri"/>
                <a:sym typeface="Calibri"/>
              </a:rPr>
              <a:t>Scholars' Commons IQ-Wall (E157H) </a:t>
            </a:r>
          </a:p>
          <a:p>
            <a:pPr marL="0" marR="0" lvl="0" indent="0" algn="l" rtl="0">
              <a:spcBef>
                <a:spcPts val="0"/>
              </a:spcBef>
              <a:spcAft>
                <a:spcPts val="0"/>
              </a:spcAft>
              <a:buNone/>
            </a:pPr>
            <a:r>
              <a:rPr lang="en-US" i="1" u="none" strike="noStrike" cap="none" dirty="0">
                <a:solidFill>
                  <a:srgbClr val="F2F2F2"/>
                </a:solidFill>
                <a:latin typeface="+mn-lt"/>
                <a:ea typeface="Calibri"/>
                <a:cs typeface="Calibri"/>
                <a:sym typeface="Calibri"/>
              </a:rPr>
              <a:t>Wells Library, Indiana University Bloomington</a:t>
            </a:r>
          </a:p>
          <a:p>
            <a:pPr marL="0" marR="0" lvl="0" indent="0" algn="l" rtl="0">
              <a:spcBef>
                <a:spcPts val="0"/>
              </a:spcBef>
              <a:spcAft>
                <a:spcPts val="0"/>
              </a:spcAft>
              <a:buNone/>
            </a:pPr>
            <a:endParaRPr lang="en-US" i="0" u="none" strike="noStrike" cap="none" dirty="0">
              <a:solidFill>
                <a:srgbClr val="F2F2F2"/>
              </a:solidFill>
              <a:latin typeface="+mn-lt"/>
              <a:ea typeface="Calibri"/>
              <a:cs typeface="Calibri"/>
              <a:sym typeface="Calibri"/>
            </a:endParaRPr>
          </a:p>
          <a:p>
            <a:pPr marL="0" marR="0" lvl="0" indent="0" algn="l" rtl="0">
              <a:spcBef>
                <a:spcPts val="0"/>
              </a:spcBef>
              <a:spcAft>
                <a:spcPts val="0"/>
              </a:spcAft>
              <a:buNone/>
            </a:pPr>
            <a:r>
              <a:rPr lang="en-US" i="0" u="none" strike="noStrike" cap="none" dirty="0">
                <a:solidFill>
                  <a:srgbClr val="F2F2F2"/>
                </a:solidFill>
                <a:latin typeface="+mn-lt"/>
                <a:ea typeface="Calibri"/>
                <a:cs typeface="Calibri"/>
                <a:sym typeface="Calibri"/>
              </a:rPr>
              <a:t>April 21, 2017 | 12:00 PM</a:t>
            </a:r>
          </a:p>
          <a:p>
            <a:pPr marL="228600" marR="0" lvl="0" indent="-228600" algn="l" defTabSz="914400" rtl="0" eaLnBrk="1" fontAlgn="auto" latinLnBrk="0" hangingPunct="1">
              <a:lnSpc>
                <a:spcPct val="90000"/>
              </a:lnSpc>
              <a:spcBef>
                <a:spcPts val="1000"/>
              </a:spcBef>
              <a:spcAft>
                <a:spcPts val="0"/>
              </a:spcAft>
              <a:buClrTx/>
              <a:buSzTx/>
              <a:buFont typeface="Arial"/>
              <a:buNone/>
              <a:tabLst/>
              <a:defRPr/>
            </a:pPr>
            <a:endParaRPr lang="en-US" dirty="0"/>
          </a:p>
        </p:txBody>
      </p:sp>
      <p:sp>
        <p:nvSpPr>
          <p:cNvPr id="22" name="Text Placeholder 21"/>
          <p:cNvSpPr>
            <a:spLocks noGrp="1"/>
          </p:cNvSpPr>
          <p:nvPr>
            <p:ph type="body" sz="quarter" idx="14" hasCustomPrompt="1"/>
          </p:nvPr>
        </p:nvSpPr>
        <p:spPr>
          <a:xfrm>
            <a:off x="506700" y="2245765"/>
            <a:ext cx="9128125" cy="719137"/>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a:buNone/>
              <a:tabLst/>
              <a:defRPr sz="2200"/>
            </a:lvl1pPr>
          </a:lstStyle>
          <a:p>
            <a:pPr marL="228600" marR="0" lvl="0" indent="-228600" algn="l" defTabSz="914400" rtl="0" eaLnBrk="1" fontAlgn="auto" latinLnBrk="0" hangingPunct="1">
              <a:lnSpc>
                <a:spcPct val="90000"/>
              </a:lnSpc>
              <a:spcBef>
                <a:spcPts val="1000"/>
              </a:spcBef>
              <a:spcAft>
                <a:spcPts val="0"/>
              </a:spcAft>
              <a:buClrTx/>
              <a:buSzTx/>
              <a:buFont typeface="Arial"/>
              <a:buNone/>
              <a:tabLst/>
              <a:defRPr/>
            </a:pPr>
            <a:r>
              <a:rPr lang="en-US" i="0" u="none" strike="noStrike" cap="none" dirty="0">
                <a:solidFill>
                  <a:srgbClr val="F2F2F2"/>
                </a:solidFill>
                <a:latin typeface="+mn-lt"/>
                <a:ea typeface="Calibri"/>
                <a:cs typeface="Calibri"/>
                <a:sym typeface="Calibri"/>
              </a:rPr>
              <a:t>Speaker Name</a:t>
            </a:r>
          </a:p>
          <a:p>
            <a:pPr marL="228600" marR="0" lvl="0" indent="-228600" algn="l" defTabSz="914400" rtl="0" eaLnBrk="1" fontAlgn="auto" latinLnBrk="0" hangingPunct="1">
              <a:lnSpc>
                <a:spcPct val="90000"/>
              </a:lnSpc>
              <a:spcBef>
                <a:spcPts val="1000"/>
              </a:spcBef>
              <a:spcAft>
                <a:spcPts val="0"/>
              </a:spcAft>
              <a:buClrTx/>
              <a:buSzTx/>
              <a:buFont typeface="Arial"/>
              <a:buNone/>
              <a:tabLst/>
              <a:defRPr/>
            </a:pPr>
            <a:endParaRPr lang="en-US" dirty="0"/>
          </a:p>
        </p:txBody>
      </p:sp>
      <p:sp>
        <p:nvSpPr>
          <p:cNvPr id="12" name="Slide Number Placeholder 5"/>
          <p:cNvSpPr>
            <a:spLocks noGrp="1"/>
          </p:cNvSpPr>
          <p:nvPr>
            <p:ph type="sldNum" sz="quarter" idx="12"/>
          </p:nvPr>
        </p:nvSpPr>
        <p:spPr>
          <a:xfrm>
            <a:off x="11547334" y="6356349"/>
            <a:ext cx="492265" cy="365125"/>
          </a:xfrm>
        </p:spPr>
        <p:txBody>
          <a:bodyPr/>
          <a:lstStyle/>
          <a:p>
            <a:fld id="{290411FE-F426-8D49-82D8-99B69C723D30}" type="slidenum">
              <a:rPr lang="en-US" smtClean="0"/>
              <a:t>‹#›</a:t>
            </a:fld>
            <a:endParaRPr lang="en-US"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038804" y="4154028"/>
            <a:ext cx="5620876" cy="4794772"/>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0E1E24"/>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038804" y="4154028"/>
            <a:ext cx="5620876" cy="4794772"/>
          </a:xfrm>
          <a:prstGeom prst="rect">
            <a:avLst/>
          </a:prstGeom>
        </p:spPr>
      </p:pic>
      <p:sp>
        <p:nvSpPr>
          <p:cNvPr id="3" name="Content Placeholder 2"/>
          <p:cNvSpPr>
            <a:spLocks noGrp="1"/>
          </p:cNvSpPr>
          <p:nvPr>
            <p:ph idx="1" hasCustomPrompt="1"/>
          </p:nvPr>
        </p:nvSpPr>
        <p:spPr>
          <a:xfrm>
            <a:off x="506700" y="2751684"/>
            <a:ext cx="10515600" cy="545041"/>
          </a:xfrm>
        </p:spPr>
        <p:txBody>
          <a:bodyPr/>
          <a:lstStyle>
            <a:lvl1pPr>
              <a:defRPr baseline="0"/>
            </a:lvl1pPr>
          </a:lstStyle>
          <a:p>
            <a:pPr marL="228600" marR="0" lvl="0" indent="-228600" algn="l" defTabSz="914400" rtl="0" eaLnBrk="1" fontAlgn="auto" latinLnBrk="0" hangingPunct="1">
              <a:lnSpc>
                <a:spcPct val="90000"/>
              </a:lnSpc>
              <a:spcBef>
                <a:spcPts val="1000"/>
              </a:spcBef>
              <a:spcAft>
                <a:spcPts val="0"/>
              </a:spcAft>
              <a:buClrTx/>
              <a:buSzTx/>
              <a:buFont typeface="Arial"/>
              <a:buNone/>
              <a:tabLst/>
              <a:defRPr/>
            </a:pPr>
            <a:r>
              <a:rPr lang="en-US" dirty="0"/>
              <a:t>Subtitle of Slides Here</a:t>
            </a:r>
          </a:p>
        </p:txBody>
      </p:sp>
      <p:sp>
        <p:nvSpPr>
          <p:cNvPr id="7" name="Slide Number Placeholder 5"/>
          <p:cNvSpPr>
            <a:spLocks noGrp="1"/>
          </p:cNvSpPr>
          <p:nvPr>
            <p:ph type="sldNum" sz="quarter" idx="12"/>
          </p:nvPr>
        </p:nvSpPr>
        <p:spPr>
          <a:xfrm>
            <a:off x="11547334" y="6356349"/>
            <a:ext cx="492265" cy="365125"/>
          </a:xfrm>
        </p:spPr>
        <p:txBody>
          <a:bodyPr/>
          <a:lstStyle/>
          <a:p>
            <a:fld id="{290411FE-F426-8D49-82D8-99B69C723D30}" type="slidenum">
              <a:rPr lang="en-US" smtClean="0"/>
              <a:t>‹#›</a:t>
            </a:fld>
            <a:endParaRPr lang="en-US" dirty="0"/>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06700" y="388961"/>
            <a:ext cx="3374575" cy="590753"/>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rgbClr val="0E1E24"/>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038804" y="4154028"/>
            <a:ext cx="5620876" cy="4794772"/>
          </a:xfrm>
          <a:prstGeom prst="rect">
            <a:avLst/>
          </a:prstGeom>
        </p:spPr>
      </p:pic>
      <p:sp>
        <p:nvSpPr>
          <p:cNvPr id="3" name="Content Placeholder 2"/>
          <p:cNvSpPr>
            <a:spLocks noGrp="1"/>
          </p:cNvSpPr>
          <p:nvPr>
            <p:ph idx="1" hasCustomPrompt="1"/>
          </p:nvPr>
        </p:nvSpPr>
        <p:spPr>
          <a:xfrm>
            <a:off x="506700" y="2751684"/>
            <a:ext cx="10515600" cy="545041"/>
          </a:xfrm>
        </p:spPr>
        <p:txBody>
          <a:bodyPr/>
          <a:lstStyle>
            <a:lvl1pPr>
              <a:defRPr baseline="0"/>
            </a:lvl1pPr>
          </a:lstStyle>
          <a:p>
            <a:pPr marL="228600" marR="0" lvl="0" indent="-228600" algn="l" defTabSz="914400" rtl="0" eaLnBrk="1" fontAlgn="auto" latinLnBrk="0" hangingPunct="1">
              <a:lnSpc>
                <a:spcPct val="90000"/>
              </a:lnSpc>
              <a:spcBef>
                <a:spcPts val="1000"/>
              </a:spcBef>
              <a:spcAft>
                <a:spcPts val="0"/>
              </a:spcAft>
              <a:buClrTx/>
              <a:buSzTx/>
              <a:buFont typeface="Arial"/>
              <a:buNone/>
              <a:tabLst/>
              <a:defRPr/>
            </a:pPr>
            <a:r>
              <a:rPr lang="en-US" dirty="0"/>
              <a:t>Subtitle of Slides Here</a:t>
            </a:r>
          </a:p>
        </p:txBody>
      </p:sp>
      <p:sp>
        <p:nvSpPr>
          <p:cNvPr id="7" name="Slide Number Placeholder 5"/>
          <p:cNvSpPr>
            <a:spLocks noGrp="1"/>
          </p:cNvSpPr>
          <p:nvPr>
            <p:ph type="sldNum" sz="quarter" idx="12"/>
          </p:nvPr>
        </p:nvSpPr>
        <p:spPr>
          <a:xfrm>
            <a:off x="11547334" y="6356349"/>
            <a:ext cx="492265" cy="365125"/>
          </a:xfrm>
        </p:spPr>
        <p:txBody>
          <a:bodyPr/>
          <a:lstStyle/>
          <a:p>
            <a:fld id="{290411FE-F426-8D49-82D8-99B69C723D30}"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35251" y="236897"/>
            <a:ext cx="10515600" cy="464608"/>
          </a:xfrm>
        </p:spPr>
        <p:txBody>
          <a:bodyPr>
            <a:normAutofit/>
          </a:bodyPr>
          <a:lstStyle>
            <a:lvl1pPr>
              <a:defRPr sz="2800"/>
            </a:lvl1pPr>
          </a:lstStyle>
          <a:p>
            <a:r>
              <a:rPr lang="en-US" dirty="0"/>
              <a:t>Click to edit Master title style</a:t>
            </a:r>
          </a:p>
        </p:txBody>
      </p:sp>
      <p:sp>
        <p:nvSpPr>
          <p:cNvPr id="3" name="Content Placeholder 2"/>
          <p:cNvSpPr>
            <a:spLocks noGrp="1"/>
          </p:cNvSpPr>
          <p:nvPr>
            <p:ph sz="half" idx="1"/>
          </p:nvPr>
        </p:nvSpPr>
        <p:spPr>
          <a:xfrm>
            <a:off x="235251" y="755764"/>
            <a:ext cx="5833533" cy="544569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p:txBody>
          <a:bodyPr/>
          <a:lstStyle/>
          <a:p>
            <a:endParaRPr lang="en-US" dirty="0"/>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68823" y="6285479"/>
            <a:ext cx="1058844" cy="435995"/>
          </a:xfrm>
          <a:prstGeom prst="rect">
            <a:avLst/>
          </a:prstGeom>
        </p:spPr>
      </p:pic>
      <p:sp>
        <p:nvSpPr>
          <p:cNvPr id="9" name="Slide Number Placeholder 5"/>
          <p:cNvSpPr txBox="1">
            <a:spLocks/>
          </p:cNvSpPr>
          <p:nvPr userDrawn="1"/>
        </p:nvSpPr>
        <p:spPr>
          <a:xfrm>
            <a:off x="9296400" y="635634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0411FE-F426-8D49-82D8-99B69C723D30}" type="slidenum">
              <a:rPr lang="en-US" smtClean="0"/>
              <a:pPr/>
              <a:t>‹#›</a:t>
            </a:fld>
            <a:endParaRPr lang="en-US" dirty="0"/>
          </a:p>
        </p:txBody>
      </p:sp>
      <p:sp>
        <p:nvSpPr>
          <p:cNvPr id="10" name="Content Placeholder 2"/>
          <p:cNvSpPr>
            <a:spLocks noGrp="1"/>
          </p:cNvSpPr>
          <p:nvPr>
            <p:ph sz="half" idx="12"/>
          </p:nvPr>
        </p:nvSpPr>
        <p:spPr>
          <a:xfrm>
            <a:off x="6144984" y="755763"/>
            <a:ext cx="5833533" cy="54456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p:cNvSpPr>
            <a:spLocks noGrp="1"/>
          </p:cNvSpPr>
          <p:nvPr>
            <p:ph type="sldNum" sz="quarter" idx="13"/>
          </p:nvPr>
        </p:nvSpPr>
        <p:spPr>
          <a:xfrm>
            <a:off x="11547334" y="6356349"/>
            <a:ext cx="492265" cy="365125"/>
          </a:xfrm>
        </p:spPr>
        <p:txBody>
          <a:bodyPr/>
          <a:lstStyle/>
          <a:p>
            <a:fld id="{290411FE-F426-8D49-82D8-99B69C723D30}" type="slidenum">
              <a:rPr lang="en-US" smtClean="0"/>
              <a:t>‹#›</a:t>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68823" y="6285479"/>
            <a:ext cx="1058844" cy="435995"/>
          </a:xfrm>
          <a:prstGeom prst="rect">
            <a:avLst/>
          </a:prstGeom>
        </p:spPr>
      </p:pic>
      <p:sp>
        <p:nvSpPr>
          <p:cNvPr id="11" name="Slide Number Placeholder 5"/>
          <p:cNvSpPr txBox="1">
            <a:spLocks/>
          </p:cNvSpPr>
          <p:nvPr userDrawn="1"/>
        </p:nvSpPr>
        <p:spPr>
          <a:xfrm>
            <a:off x="11547334" y="6356349"/>
            <a:ext cx="492265"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0411FE-F426-8D49-82D8-99B69C723D30}" type="slidenum">
              <a:rPr lang="en-US" smtClean="0"/>
              <a:pPr/>
              <a:t>‹#›</a:t>
            </a:fld>
            <a:endParaRPr lang="en-US" dirty="0"/>
          </a:p>
        </p:txBody>
      </p:sp>
      <p:sp>
        <p:nvSpPr>
          <p:cNvPr id="7" name="Title 1"/>
          <p:cNvSpPr>
            <a:spLocks noGrp="1"/>
          </p:cNvSpPr>
          <p:nvPr>
            <p:ph type="title"/>
          </p:nvPr>
        </p:nvSpPr>
        <p:spPr>
          <a:xfrm>
            <a:off x="235251" y="236897"/>
            <a:ext cx="10515600" cy="464608"/>
          </a:xfrm>
        </p:spPr>
        <p:txBody>
          <a:bodyPr>
            <a:normAutofit/>
          </a:bodyPr>
          <a:lstStyle>
            <a:lvl1pPr>
              <a:defRPr sz="2800">
                <a:latin typeface="+mn-lt"/>
              </a:defRPr>
            </a:lvl1pPr>
          </a:lstStyle>
          <a:p>
            <a:r>
              <a:rPr lang="en-US" dirty="0"/>
              <a:t>Click to edit Master title style</a:t>
            </a:r>
          </a:p>
        </p:txBody>
      </p:sp>
      <p:sp>
        <p:nvSpPr>
          <p:cNvPr id="9" name="Content Placeholder 2"/>
          <p:cNvSpPr>
            <a:spLocks noGrp="1"/>
          </p:cNvSpPr>
          <p:nvPr>
            <p:ph sz="half" idx="1"/>
          </p:nvPr>
        </p:nvSpPr>
        <p:spPr>
          <a:xfrm>
            <a:off x="235251" y="1102179"/>
            <a:ext cx="10515600" cy="5099276"/>
          </a:xfrm>
        </p:spPr>
        <p:txBody>
          <a:bodyPr>
            <a:normAutofit/>
          </a:bodyPr>
          <a:lstStyle>
            <a:lvl1pPr>
              <a:defRPr sz="2000"/>
            </a:lvl1pPr>
          </a:lstStyle>
          <a:p>
            <a:pPr marL="228600" marR="0" lvl="0" indent="-228600" algn="l" defTabSz="914400" rtl="0" eaLnBrk="1" fontAlgn="auto" latinLnBrk="0" hangingPunct="1">
              <a:lnSpc>
                <a:spcPct val="90000"/>
              </a:lnSpc>
              <a:spcBef>
                <a:spcPts val="1000"/>
              </a:spcBef>
              <a:spcAft>
                <a:spcPts val="0"/>
              </a:spcAft>
              <a:buClrTx/>
              <a:buSzTx/>
              <a:buFont typeface="Arial"/>
              <a:buNone/>
              <a:tabLst/>
              <a:defRPr/>
            </a:pPr>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68823" y="6285479"/>
            <a:ext cx="1058844" cy="435995"/>
          </a:xfrm>
          <a:prstGeom prst="rect">
            <a:avLst/>
          </a:prstGeom>
        </p:spPr>
      </p:pic>
      <p:sp>
        <p:nvSpPr>
          <p:cNvPr id="4" name="Slide Number Placeholder 5"/>
          <p:cNvSpPr>
            <a:spLocks noGrp="1"/>
          </p:cNvSpPr>
          <p:nvPr>
            <p:ph type="sldNum" sz="quarter" idx="12"/>
          </p:nvPr>
        </p:nvSpPr>
        <p:spPr>
          <a:xfrm>
            <a:off x="11547334" y="6356349"/>
            <a:ext cx="492265" cy="365125"/>
          </a:xfrm>
        </p:spPr>
        <p:txBody>
          <a:bodyPr/>
          <a:lstStyle/>
          <a:p>
            <a:fld id="{290411FE-F426-8D49-82D8-99B69C723D30}" type="slidenum">
              <a:rPr lang="en-US" smtClean="0"/>
              <a:t>‹#›</a:t>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t>Katy Börner, Network Workbench: A CI-Marketplace for Network Scientists</a:t>
            </a:r>
          </a:p>
        </p:txBody>
      </p:sp>
    </p:spTree>
    <p:extLst>
      <p:ext uri="{BB962C8B-B14F-4D97-AF65-F5344CB8AC3E}">
        <p14:creationId xmlns:p14="http://schemas.microsoft.com/office/powerpoint/2010/main" val="1137522503"/>
      </p:ext>
    </p:extLst>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F304763-195D-D041-B2BB-5E889B3728D3}" type="datetimeFigureOut">
              <a:rPr lang="en-US" smtClean="0"/>
              <a:t>10/18/17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67AD03-5254-EF44-A64C-B0581FA638BD}" type="slidenum">
              <a:rPr lang="en-US" smtClean="0"/>
              <a:t>‹#›</a:t>
            </a:fld>
            <a:endParaRPr lang="en-US"/>
          </a:p>
        </p:txBody>
      </p:sp>
    </p:spTree>
    <p:extLst>
      <p:ext uri="{BB962C8B-B14F-4D97-AF65-F5344CB8AC3E}">
        <p14:creationId xmlns:p14="http://schemas.microsoft.com/office/powerpoint/2010/main" val="20861777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6267" y="195792"/>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86267" y="1656292"/>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304763-195D-D041-B2BB-5E889B3728D3}" type="datetimeFigureOut">
              <a:rPr lang="en-US" smtClean="0"/>
              <a:t>10/18/17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67AD03-5254-EF44-A64C-B0581FA638BD}" type="slidenum">
              <a:rPr lang="en-US" smtClean="0"/>
              <a:t>‹#›</a:t>
            </a:fld>
            <a:endParaRPr lang="en-US"/>
          </a:p>
        </p:txBody>
      </p:sp>
    </p:spTree>
    <p:extLst>
      <p:ext uri="{BB962C8B-B14F-4D97-AF65-F5344CB8AC3E}">
        <p14:creationId xmlns:p14="http://schemas.microsoft.com/office/powerpoint/2010/main" val="1509432747"/>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0" r:id="rId3"/>
    <p:sldLayoutId id="2147483655" r:id="rId4"/>
    <p:sldLayoutId id="2147483657" r:id="rId5"/>
    <p:sldLayoutId id="2147483658" r:id="rId6"/>
    <p:sldLayoutId id="2147483659" r:id="rId7"/>
    <p:sldLayoutId id="2147483661"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9" Type="http://schemas.openxmlformats.org/officeDocument/2006/relationships/image" Target="../media/image11.jpeg"/><Relationship Id="rId20" Type="http://schemas.openxmlformats.org/officeDocument/2006/relationships/image" Target="../media/image22.jpg"/><Relationship Id="rId21" Type="http://schemas.openxmlformats.org/officeDocument/2006/relationships/image" Target="../media/image23.jpg"/><Relationship Id="rId22" Type="http://schemas.openxmlformats.org/officeDocument/2006/relationships/image" Target="../media/image24.png"/><Relationship Id="rId10" Type="http://schemas.openxmlformats.org/officeDocument/2006/relationships/image" Target="../media/image12.jpeg"/><Relationship Id="rId11" Type="http://schemas.openxmlformats.org/officeDocument/2006/relationships/image" Target="../media/image13.png"/><Relationship Id="rId12" Type="http://schemas.openxmlformats.org/officeDocument/2006/relationships/image" Target="../media/image14.jpeg"/><Relationship Id="rId13" Type="http://schemas.openxmlformats.org/officeDocument/2006/relationships/image" Target="../media/image15.jpeg"/><Relationship Id="rId14" Type="http://schemas.openxmlformats.org/officeDocument/2006/relationships/image" Target="../media/image16.png"/><Relationship Id="rId15" Type="http://schemas.openxmlformats.org/officeDocument/2006/relationships/image" Target="../media/image17.png"/><Relationship Id="rId16" Type="http://schemas.openxmlformats.org/officeDocument/2006/relationships/image" Target="../media/image18.jpeg"/><Relationship Id="rId17" Type="http://schemas.openxmlformats.org/officeDocument/2006/relationships/image" Target="../media/image19.jpg"/><Relationship Id="rId18" Type="http://schemas.openxmlformats.org/officeDocument/2006/relationships/image" Target="../media/image20.jpeg"/><Relationship Id="rId19" Type="http://schemas.openxmlformats.org/officeDocument/2006/relationships/image" Target="../media/image21.jpeg"/><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jpe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image" Target="../media/image9.jpeg"/><Relationship Id="rId8" Type="http://schemas.openxmlformats.org/officeDocument/2006/relationships/image" Target="../media/image10.jpg"/></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5.xml"/><Relationship Id="rId4" Type="http://schemas.openxmlformats.org/officeDocument/2006/relationships/notesSlide" Target="../notesSlides/notesSlide4.xml"/><Relationship Id="rId5" Type="http://schemas.openxmlformats.org/officeDocument/2006/relationships/image" Target="../media/image3.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4.png"/><Relationship Id="rId1" Type="http://schemas.microsoft.com/office/2007/relationships/media" Target="../media/media1.mp4"/><Relationship Id="rId2" Type="http://schemas.openxmlformats.org/officeDocument/2006/relationships/video" Target="../media/media1.mp4"/></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28.jpg"/><Relationship Id="rId5" Type="http://schemas.openxmlformats.org/officeDocument/2006/relationships/image" Target="../media/image29.jpg"/><Relationship Id="rId6" Type="http://schemas.openxmlformats.org/officeDocument/2006/relationships/image" Target="../media/image4.png"/><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30.png"/><Relationship Id="rId5" Type="http://schemas.openxmlformats.org/officeDocument/2006/relationships/image" Target="../media/image4.png"/><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31.png"/><Relationship Id="rId5" Type="http://schemas.microsoft.com/office/2007/relationships/hdphoto" Target="../media/hdphoto1.wdp"/><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4.png"/><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31.png"/><Relationship Id="rId5" Type="http://schemas.microsoft.com/office/2007/relationships/hdphoto" Target="../media/hdphoto1.wdp"/><Relationship Id="rId6" Type="http://schemas.openxmlformats.org/officeDocument/2006/relationships/image" Target="../media/image35.png"/><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36.png"/><Relationship Id="rId5" Type="http://schemas.microsoft.com/office/2007/relationships/hdphoto" Target="../media/hdphoto1.wdp"/><Relationship Id="rId6" Type="http://schemas.openxmlformats.org/officeDocument/2006/relationships/image" Target="../media/image4.png"/><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microsoft.com/office/2007/relationships/hdphoto" Target="../media/hdphoto1.wdp"/><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4" Type="http://schemas.microsoft.com/office/2007/relationships/hdphoto" Target="../media/hdphoto1.wdp"/><Relationship Id="rId5" Type="http://schemas.openxmlformats.org/officeDocument/2006/relationships/image" Target="../media/image40.png"/><Relationship Id="rId6" Type="http://schemas.openxmlformats.org/officeDocument/2006/relationships/hyperlink" Target="http://www.reactivemanifesto.org/" TargetMode="External"/><Relationship Id="rId7" Type="http://schemas.openxmlformats.org/officeDocument/2006/relationships/image" Target="../media/image4.png"/><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jpeg"/><Relationship Id="rId6" Type="http://schemas.openxmlformats.org/officeDocument/2006/relationships/image" Target="../media/image44.png"/><Relationship Id="rId7" Type="http://schemas.openxmlformats.org/officeDocument/2006/relationships/image" Target="../media/image4.png"/><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5.gif"/><Relationship Id="rId5" Type="http://schemas.openxmlformats.org/officeDocument/2006/relationships/image" Target="../media/image4.png"/><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6.png"/><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4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48.png"/></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4" Type="http://schemas.openxmlformats.org/officeDocument/2006/relationships/image" Target="../media/image50.png"/><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51.tif"/><Relationship Id="rId4" Type="http://schemas.openxmlformats.org/officeDocument/2006/relationships/image" Target="../media/image3.png"/><Relationship Id="rId5" Type="http://schemas.openxmlformats.org/officeDocument/2006/relationships/image" Target="../media/image4.png"/><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52.png"/><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53.png"/><Relationship Id="rId5" Type="http://schemas.openxmlformats.org/officeDocument/2006/relationships/hyperlink" Target="http://demo.cns.iu.edu/client/econ-ucsdmap/" TargetMode="External"/><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demo.cns.iu.edu/client/hsd/static/heatmap_group.html" TargetMode="External"/><Relationship Id="rId4" Type="http://schemas.openxmlformats.org/officeDocument/2006/relationships/image" Target="../media/image54.png"/><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4" Type="http://schemas.openxmlformats.org/officeDocument/2006/relationships/hyperlink" Target="http://demo.cns.iu.edu/webvis/stem/" TargetMode="External"/><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hyperlink" Target="http://cns.iu.edu/" TargetMode="External"/><Relationship Id="rId7" Type="http://schemas.openxmlformats.org/officeDocument/2006/relationships/hyperlink" Target="http://cns.iu.edu/presentations.html" TargetMode="External"/><Relationship Id="rId8" Type="http://schemas.openxmlformats.org/officeDocument/2006/relationships/hyperlink" Target="http://www.facebook.com/cnscenter" TargetMode="External"/><Relationship Id="rId9" Type="http://schemas.openxmlformats.org/officeDocument/2006/relationships/hyperlink" Target="http://cns.iu.edu/visualizations.html" TargetMode="External"/><Relationship Id="rId10" Type="http://schemas.openxmlformats.org/officeDocument/2006/relationships/hyperlink" Target="http://cns.iu.edu/data_tools.html" TargetMode="External"/><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image" Target="../media/image58.png"/><Relationship Id="rId4" Type="http://schemas.openxmlformats.org/officeDocument/2006/relationships/image" Target="../media/image59.jpeg"/><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60.jpeg"/></Relationships>
</file>

<file path=ppt/slides/_rels/slide30.xml.rels><?xml version="1.0" encoding="UTF-8" standalone="yes"?>
<Relationships xmlns="http://schemas.openxmlformats.org/package/2006/relationships"><Relationship Id="rId3" Type="http://schemas.openxmlformats.org/officeDocument/2006/relationships/hyperlink" Target="http://ivl.slis.indiana.edu/km/pub/2003-borner-arist.pdf" TargetMode="External"/><Relationship Id="rId4" Type="http://schemas.openxmlformats.org/officeDocument/2006/relationships/hyperlink" Target="http://www.pnas.org/content/vol101/suppl_1/" TargetMode="External"/><Relationship Id="rId5" Type="http://schemas.openxmlformats.org/officeDocument/2006/relationships/hyperlink" Target="http://scimaps.org/atlas" TargetMode="External"/><Relationship Id="rId6" Type="http://schemas.openxmlformats.org/officeDocument/2006/relationships/hyperlink" Target="http://scimaps.org/atlas2" TargetMode="External"/><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jpeg"/><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hyperlink" Target="http://www.marketwired.com/press-release/dresner-advisory-services-publishes-2016-embedded-business-intelligence-market-study-2174046.htm" TargetMode="External"/><Relationship Id="rId4" Type="http://schemas.openxmlformats.org/officeDocument/2006/relationships/hyperlink" Target="https://www.planet-source-code.com/vb/default.asp?lngWId=14" TargetMode="External"/><Relationship Id="rId5" Type="http://schemas.openxmlformats.org/officeDocument/2006/relationships/hyperlink" Target="https://realpython.com/learn/python-first-steps/" TargetMode="External"/><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jpeg"/><Relationship Id="rId3" Type="http://schemas.openxmlformats.org/officeDocument/2006/relationships/image" Target="../media/image6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506699" y="1228725"/>
            <a:ext cx="11095687" cy="1098472"/>
          </a:xfrm>
        </p:spPr>
        <p:txBody>
          <a:bodyPr>
            <a:normAutofit/>
          </a:bodyPr>
          <a:lstStyle/>
          <a:p>
            <a:r>
              <a:rPr lang="en-US" b="1" dirty="0"/>
              <a:t>Building Effective Visualization Tools for Everyday Business:</a:t>
            </a:r>
            <a:br>
              <a:rPr lang="en-US" b="1" dirty="0"/>
            </a:br>
            <a:r>
              <a:rPr lang="en-US" b="1" dirty="0"/>
              <a:t>Web Visualization Framework</a:t>
            </a:r>
          </a:p>
        </p:txBody>
      </p:sp>
      <p:sp>
        <p:nvSpPr>
          <p:cNvPr id="4" name="Slide Number Placeholder 3"/>
          <p:cNvSpPr>
            <a:spLocks noGrp="1"/>
          </p:cNvSpPr>
          <p:nvPr>
            <p:ph type="sldNum" sz="quarter" idx="12"/>
          </p:nvPr>
        </p:nvSpPr>
        <p:spPr>
          <a:xfrm>
            <a:off x="9296400" y="6356349"/>
            <a:ext cx="2743200" cy="365125"/>
          </a:xfrm>
        </p:spPr>
        <p:txBody>
          <a:bodyPr/>
          <a:lstStyle/>
          <a:p>
            <a:fld id="{290411FE-F426-8D49-82D8-99B69C723D30}" type="slidenum">
              <a:rPr lang="en-US" smtClean="0"/>
              <a:t>1</a:t>
            </a:fld>
            <a:endParaRPr lang="en-US" dirty="0"/>
          </a:p>
        </p:txBody>
      </p:sp>
      <p:sp>
        <p:nvSpPr>
          <p:cNvPr id="6" name="Content Placeholder 5"/>
          <p:cNvSpPr>
            <a:spLocks noGrp="1"/>
          </p:cNvSpPr>
          <p:nvPr>
            <p:ph sz="quarter" idx="13"/>
          </p:nvPr>
        </p:nvSpPr>
        <p:spPr>
          <a:xfrm>
            <a:off x="506700" y="3544379"/>
            <a:ext cx="9128125" cy="2905656"/>
          </a:xfrm>
        </p:spPr>
        <p:txBody>
          <a:bodyPr/>
          <a:lstStyle/>
          <a:p>
            <a:pPr lvl="0"/>
            <a:r>
              <a:rPr lang="en-US" dirty="0">
                <a:solidFill>
                  <a:srgbClr val="F2F2F2"/>
                </a:solidFill>
                <a:latin typeface="Calibri"/>
                <a:ea typeface="Calibri"/>
                <a:cs typeface="Calibri"/>
                <a:sym typeface="Calibri"/>
              </a:rPr>
              <a:t>Cyberinfrastructure for Network Science Center</a:t>
            </a:r>
          </a:p>
          <a:p>
            <a:pPr lvl="0"/>
            <a:r>
              <a:rPr lang="en-US" dirty="0">
                <a:solidFill>
                  <a:srgbClr val="F2F2F2"/>
                </a:solidFill>
                <a:latin typeface="Calibri"/>
                <a:ea typeface="Calibri"/>
                <a:cs typeface="Calibri"/>
                <a:sym typeface="Calibri"/>
              </a:rPr>
              <a:t>Department of Intelligent Systems Engineering</a:t>
            </a:r>
          </a:p>
          <a:p>
            <a:pPr lvl="0"/>
            <a:r>
              <a:rPr lang="en-US" dirty="0">
                <a:solidFill>
                  <a:srgbClr val="F2F2F2"/>
                </a:solidFill>
                <a:latin typeface="Calibri"/>
                <a:ea typeface="Calibri"/>
                <a:cs typeface="Calibri"/>
                <a:sym typeface="Calibri"/>
              </a:rPr>
              <a:t>School of Informatics, Computing, and Engineering</a:t>
            </a:r>
          </a:p>
          <a:p>
            <a:pPr lvl="0"/>
            <a:r>
              <a:rPr lang="en-US" dirty="0">
                <a:solidFill>
                  <a:srgbClr val="F2F2F2"/>
                </a:solidFill>
                <a:latin typeface="Calibri"/>
                <a:ea typeface="Calibri"/>
                <a:cs typeface="Calibri"/>
                <a:sym typeface="Calibri"/>
              </a:rPr>
              <a:t>Indiana University, Bloomington, USA</a:t>
            </a:r>
          </a:p>
          <a:p>
            <a:pPr lvl="0"/>
            <a:endParaRPr lang="en-US" dirty="0">
              <a:solidFill>
                <a:srgbClr val="F2F2F2"/>
              </a:solidFill>
              <a:latin typeface="Calibri"/>
              <a:ea typeface="Calibri"/>
              <a:cs typeface="Calibri"/>
              <a:sym typeface="Calibri"/>
            </a:endParaRPr>
          </a:p>
          <a:p>
            <a:pPr lvl="0"/>
            <a:endParaRPr lang="en-US" dirty="0">
              <a:solidFill>
                <a:srgbClr val="F2F2F2"/>
              </a:solidFill>
              <a:latin typeface="Calibri"/>
              <a:ea typeface="Calibri"/>
              <a:cs typeface="Calibri"/>
              <a:sym typeface="Calibri"/>
            </a:endParaRPr>
          </a:p>
          <a:p>
            <a:pPr lvl="0"/>
            <a:r>
              <a:rPr lang="en-US" dirty="0">
                <a:solidFill>
                  <a:srgbClr val="F2F2F2"/>
                </a:solidFill>
                <a:latin typeface="Calibri"/>
                <a:ea typeface="Calibri"/>
                <a:cs typeface="Calibri"/>
                <a:sym typeface="Calibri"/>
              </a:rPr>
              <a:t>October 18, 2017</a:t>
            </a:r>
          </a:p>
          <a:p>
            <a:pPr lvl="0"/>
            <a:endParaRPr lang="en-US" i="1" dirty="0">
              <a:solidFill>
                <a:srgbClr val="F2F2F2"/>
              </a:solidFill>
              <a:latin typeface="Calibri"/>
              <a:ea typeface="Calibri"/>
              <a:cs typeface="Calibri"/>
              <a:sym typeface="Calibri"/>
            </a:endParaRPr>
          </a:p>
          <a:p>
            <a:pPr lvl="0"/>
            <a:endParaRPr lang="en-US" dirty="0">
              <a:solidFill>
                <a:srgbClr val="F2F2F2"/>
              </a:solidFill>
              <a:latin typeface="Calibri"/>
              <a:ea typeface="Calibri"/>
              <a:cs typeface="Calibri"/>
              <a:sym typeface="Calibri"/>
            </a:endParaRPr>
          </a:p>
          <a:p>
            <a:endParaRPr lang="en-US" dirty="0"/>
          </a:p>
        </p:txBody>
      </p:sp>
      <p:sp>
        <p:nvSpPr>
          <p:cNvPr id="7" name="Text Placeholder 6"/>
          <p:cNvSpPr>
            <a:spLocks noGrp="1"/>
          </p:cNvSpPr>
          <p:nvPr>
            <p:ph type="body" sz="quarter" idx="14"/>
          </p:nvPr>
        </p:nvSpPr>
        <p:spPr>
          <a:xfrm>
            <a:off x="506700" y="2440500"/>
            <a:ext cx="10511070" cy="719137"/>
          </a:xfrm>
        </p:spPr>
        <p:txBody>
          <a:bodyPr>
            <a:normAutofit fontScale="85000" lnSpcReduction="20000"/>
          </a:bodyPr>
          <a:lstStyle/>
          <a:p>
            <a:pPr lvl="0"/>
            <a:r>
              <a:rPr lang="en-US" sz="2900" dirty="0">
                <a:solidFill>
                  <a:srgbClr val="F2F2F2"/>
                </a:solidFill>
                <a:ea typeface="Calibri"/>
                <a:cs typeface="Calibri"/>
                <a:sym typeface="Calibri"/>
              </a:rPr>
              <a:t>Olga Scrivner</a:t>
            </a:r>
          </a:p>
          <a:p>
            <a:pPr lvl="0"/>
            <a:r>
              <a:rPr lang="en-US" dirty="0">
                <a:solidFill>
                  <a:srgbClr val="F2F2F2"/>
                </a:solidFill>
                <a:ea typeface="Calibri"/>
                <a:cs typeface="Calibri"/>
                <a:sym typeface="Calibri"/>
              </a:rPr>
              <a:t>with contributions by Adam Simpson, Gagandeep Singh, Jivitesh Poojary, Sara Bouchard, and Katy Börner</a:t>
            </a:r>
          </a:p>
          <a:p>
            <a:pPr lvl="0"/>
            <a:endParaRPr lang="en-US" sz="2000" dirty="0">
              <a:solidFill>
                <a:srgbClr val="F2F2F2"/>
              </a:solidFill>
              <a:ea typeface="Calibri"/>
              <a:cs typeface="Calibri"/>
              <a:sym typeface="Calibri"/>
            </a:endParaRPr>
          </a:p>
          <a:p>
            <a:endParaRPr lang="en-US" dirty="0"/>
          </a:p>
        </p:txBody>
      </p:sp>
      <p:pic>
        <p:nvPicPr>
          <p:cNvPr id="8" name="Picture 7">
            <a:extLst>
              <a:ext uri="{FF2B5EF4-FFF2-40B4-BE49-F238E27FC236}">
                <a16:creationId xmlns="" xmlns:a16="http://schemas.microsoft.com/office/drawing/2014/main" id="{9AA23F80-5ED4-4983-B8E2-8C19546169E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60027" y="5062651"/>
            <a:ext cx="2187834" cy="2187834"/>
          </a:xfrm>
          <a:prstGeom prst="rect">
            <a:avLst/>
          </a:prstGeom>
        </p:spPr>
      </p:pic>
    </p:spTree>
    <p:extLst>
      <p:ext uri="{BB962C8B-B14F-4D97-AF65-F5344CB8AC3E}">
        <p14:creationId xmlns:p14="http://schemas.microsoft.com/office/powerpoint/2010/main" val="10190628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90411FE-F426-8D49-82D8-99B69C723D30}" type="slidenum">
              <a:rPr lang="en-US" smtClean="0"/>
              <a:t>2</a:t>
            </a:fld>
            <a:endParaRPr lang="en-US" dirty="0"/>
          </a:p>
        </p:txBody>
      </p:sp>
      <p:sp>
        <p:nvSpPr>
          <p:cNvPr id="5" name="TextBox 4"/>
          <p:cNvSpPr txBox="1"/>
          <p:nvPr/>
        </p:nvSpPr>
        <p:spPr>
          <a:xfrm>
            <a:off x="1544567" y="4475311"/>
            <a:ext cx="8458200" cy="1477328"/>
          </a:xfrm>
          <a:prstGeom prst="rect">
            <a:avLst/>
          </a:prstGeom>
          <a:noFill/>
        </p:spPr>
        <p:txBody>
          <a:bodyPr wrap="square" rtlCol="0">
            <a:spAutoFit/>
          </a:bodyPr>
          <a:lstStyle/>
          <a:p>
            <a:pPr algn="ctr"/>
            <a:r>
              <a:rPr lang="en-US" dirty="0">
                <a:latin typeface="+mj-lt"/>
              </a:rPr>
              <a:t>Our mission is to advance datasets, tools, and services for the study of biomedical, social and behavioral science, physics, and other networks. A specific focus is research on the structure and evolution of science and technology (S&amp;T) and the communication of results via static and interactive maps of science. Learn more at </a:t>
            </a:r>
            <a:r>
              <a:rPr lang="en-US" dirty="0" err="1">
                <a:latin typeface="+mj-lt"/>
              </a:rPr>
              <a:t>cishell.org</a:t>
            </a:r>
            <a:r>
              <a:rPr lang="en-US" dirty="0">
                <a:latin typeface="+mj-lt"/>
              </a:rPr>
              <a:t>.</a:t>
            </a:r>
          </a:p>
          <a:p>
            <a:pPr algn="ctr"/>
            <a:endParaRPr lang="en-US" dirty="0"/>
          </a:p>
        </p:txBody>
      </p:sp>
      <p:pic>
        <p:nvPicPr>
          <p:cNvPr id="7" name="Picture 6"/>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887716" y="6022974"/>
            <a:ext cx="3906729" cy="653878"/>
          </a:xfrm>
          <a:prstGeom prst="rect">
            <a:avLst/>
          </a:prstGeom>
        </p:spPr>
      </p:pic>
      <p:sp>
        <p:nvSpPr>
          <p:cNvPr id="9" name="TextBox 8"/>
          <p:cNvSpPr txBox="1"/>
          <p:nvPr/>
        </p:nvSpPr>
        <p:spPr>
          <a:xfrm>
            <a:off x="1544567" y="519746"/>
            <a:ext cx="8458200" cy="1077218"/>
          </a:xfrm>
          <a:prstGeom prst="rect">
            <a:avLst/>
          </a:prstGeom>
          <a:noFill/>
        </p:spPr>
        <p:txBody>
          <a:bodyPr wrap="square" rtlCol="0">
            <a:spAutoFit/>
          </a:bodyPr>
          <a:lstStyle/>
          <a:p>
            <a:pPr algn="ctr"/>
            <a:r>
              <a:rPr lang="en-US" sz="3200" b="1" dirty="0"/>
              <a:t>CNS Tools and Services </a:t>
            </a:r>
            <a:r>
              <a:rPr lang="en-US" sz="3200" dirty="0">
                <a:latin typeface="+mj-lt"/>
              </a:rPr>
              <a:t>are used by </a:t>
            </a:r>
          </a:p>
          <a:p>
            <a:pPr algn="ctr"/>
            <a:r>
              <a:rPr lang="en-US" sz="3200" dirty="0">
                <a:latin typeface="+mj-lt"/>
              </a:rPr>
              <a:t>hundreds of thousands around the globe.</a:t>
            </a:r>
          </a:p>
        </p:txBody>
      </p:sp>
      <p:pic>
        <p:nvPicPr>
          <p:cNvPr id="10" name="Picture 9"/>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450730" y="2006100"/>
            <a:ext cx="751840" cy="939800"/>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064391" y="2013243"/>
            <a:ext cx="740410" cy="925513"/>
          </a:xfrm>
          <a:prstGeom prst="rect">
            <a:avLst/>
          </a:prstGeom>
        </p:spPr>
      </p:pic>
      <p:pic>
        <p:nvPicPr>
          <p:cNvPr id="13" name="Picture 12"/>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2327030" y="2010861"/>
            <a:ext cx="748031" cy="935039"/>
          </a:xfrm>
          <a:prstGeom prst="rect">
            <a:avLst/>
          </a:prstGeom>
        </p:spPr>
      </p:pic>
      <p:pic>
        <p:nvPicPr>
          <p:cNvPr id="14" name="Picture 13"/>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3199521" y="2020387"/>
            <a:ext cx="740410" cy="925513"/>
          </a:xfrm>
          <a:prstGeom prst="rect">
            <a:avLst/>
          </a:prstGeom>
        </p:spPr>
      </p:pic>
      <p:pic>
        <p:nvPicPr>
          <p:cNvPr id="15" name="Picture 14"/>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929261" y="2006100"/>
            <a:ext cx="746124" cy="932656"/>
          </a:xfrm>
          <a:prstGeom prst="rect">
            <a:avLst/>
          </a:prstGeom>
        </p:spPr>
      </p:pic>
      <p:pic>
        <p:nvPicPr>
          <p:cNvPr id="16" name="Picture 15"/>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1818835" y="3071253"/>
            <a:ext cx="751840" cy="939800"/>
          </a:xfrm>
          <a:prstGeom prst="rect">
            <a:avLst/>
          </a:prstGeom>
        </p:spPr>
      </p:pic>
      <p:pic>
        <p:nvPicPr>
          <p:cNvPr id="17" name="Picture 16"/>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2674375" y="3071650"/>
            <a:ext cx="762635" cy="953294"/>
          </a:xfrm>
          <a:prstGeom prst="rect">
            <a:avLst/>
          </a:prstGeom>
        </p:spPr>
      </p:pic>
      <p:pic>
        <p:nvPicPr>
          <p:cNvPr id="18" name="Picture 17"/>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5789297" y="2013243"/>
            <a:ext cx="740410" cy="925513"/>
          </a:xfrm>
          <a:prstGeom prst="rect">
            <a:avLst/>
          </a:prstGeom>
        </p:spPr>
      </p:pic>
      <p:pic>
        <p:nvPicPr>
          <p:cNvPr id="19" name="Picture 18"/>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3536813" y="3071638"/>
            <a:ext cx="760619" cy="950774"/>
          </a:xfrm>
          <a:prstGeom prst="rect">
            <a:avLst/>
          </a:prstGeom>
        </p:spPr>
      </p:pic>
      <p:pic>
        <p:nvPicPr>
          <p:cNvPr id="20" name="Picture 19"/>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4403624" y="3076354"/>
            <a:ext cx="758872" cy="948590"/>
          </a:xfrm>
          <a:prstGeom prst="rect">
            <a:avLst/>
          </a:prstGeom>
        </p:spPr>
      </p:pic>
      <p:pic>
        <p:nvPicPr>
          <p:cNvPr id="22" name="Picture 21"/>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a:off x="6119587" y="3057361"/>
            <a:ext cx="774067" cy="967584"/>
          </a:xfrm>
          <a:prstGeom prst="rect">
            <a:avLst/>
          </a:prstGeom>
        </p:spPr>
      </p:pic>
      <p:pic>
        <p:nvPicPr>
          <p:cNvPr id="23" name="Picture 22"/>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a:off x="5268688" y="3070827"/>
            <a:ext cx="752522" cy="940653"/>
          </a:xfrm>
          <a:prstGeom prst="rect">
            <a:avLst/>
          </a:prstGeom>
        </p:spPr>
      </p:pic>
      <p:pic>
        <p:nvPicPr>
          <p:cNvPr id="3" name="Picture 2"/>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a:off x="7521104" y="2005095"/>
            <a:ext cx="752644" cy="940805"/>
          </a:xfrm>
          <a:prstGeom prst="rect">
            <a:avLst/>
          </a:prstGeom>
        </p:spPr>
      </p:pic>
      <p:pic>
        <p:nvPicPr>
          <p:cNvPr id="6" name="Picture 5"/>
          <p:cNvPicPr>
            <a:picLocks noChangeAspect="1"/>
          </p:cNvPicPr>
          <p:nvPr/>
        </p:nvPicPr>
        <p:blipFill>
          <a:blip r:embed="rId17">
            <a:extLst>
              <a:ext uri="{28A0092B-C50C-407E-A947-70E740481C1C}">
                <a14:useLocalDpi xmlns:a14="http://schemas.microsoft.com/office/drawing/2010/main"/>
              </a:ext>
            </a:extLst>
          </a:blip>
          <a:stretch>
            <a:fillRect/>
          </a:stretch>
        </p:blipFill>
        <p:spPr>
          <a:xfrm>
            <a:off x="6640604" y="2006101"/>
            <a:ext cx="751840" cy="939800"/>
          </a:xfrm>
          <a:prstGeom prst="rect">
            <a:avLst/>
          </a:prstGeom>
        </p:spPr>
      </p:pic>
      <p:pic>
        <p:nvPicPr>
          <p:cNvPr id="8" name="Picture 7"/>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6999846" y="3077946"/>
            <a:ext cx="741132" cy="926415"/>
          </a:xfrm>
          <a:prstGeom prst="rect">
            <a:avLst/>
          </a:prstGeom>
        </p:spPr>
      </p:pic>
      <p:pic>
        <p:nvPicPr>
          <p:cNvPr id="11" name="Picture 10"/>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a:off x="7862800" y="3063759"/>
            <a:ext cx="727713" cy="954788"/>
          </a:xfrm>
          <a:prstGeom prst="rect">
            <a:avLst/>
          </a:prstGeom>
        </p:spPr>
      </p:pic>
      <p:pic>
        <p:nvPicPr>
          <p:cNvPr id="21" name="Picture 20"/>
          <p:cNvPicPr>
            <a:picLocks noChangeAspect="1"/>
          </p:cNvPicPr>
          <p:nvPr/>
        </p:nvPicPr>
        <p:blipFill>
          <a:blip r:embed="rId20" cstate="print">
            <a:extLst>
              <a:ext uri="{28A0092B-C50C-407E-A947-70E740481C1C}">
                <a14:useLocalDpi xmlns:a14="http://schemas.microsoft.com/office/drawing/2010/main"/>
              </a:ext>
            </a:extLst>
          </a:blip>
          <a:stretch>
            <a:fillRect/>
          </a:stretch>
        </p:blipFill>
        <p:spPr>
          <a:xfrm>
            <a:off x="8385780" y="2010861"/>
            <a:ext cx="742410" cy="928012"/>
          </a:xfrm>
          <a:prstGeom prst="rect">
            <a:avLst/>
          </a:prstGeom>
        </p:spPr>
      </p:pic>
      <p:pic>
        <p:nvPicPr>
          <p:cNvPr id="24" name="Picture 23"/>
          <p:cNvPicPr>
            <a:picLocks noChangeAspect="1"/>
          </p:cNvPicPr>
          <p:nvPr/>
        </p:nvPicPr>
        <p:blipFill>
          <a:blip r:embed="rId21">
            <a:extLst>
              <a:ext uri="{28A0092B-C50C-407E-A947-70E740481C1C}">
                <a14:useLocalDpi xmlns:a14="http://schemas.microsoft.com/office/drawing/2010/main"/>
              </a:ext>
            </a:extLst>
          </a:blip>
          <a:stretch>
            <a:fillRect/>
          </a:stretch>
        </p:blipFill>
        <p:spPr>
          <a:xfrm>
            <a:off x="9243548" y="2017512"/>
            <a:ext cx="736995" cy="921244"/>
          </a:xfrm>
          <a:prstGeom prst="rect">
            <a:avLst/>
          </a:prstGeom>
        </p:spPr>
      </p:pic>
      <p:pic>
        <p:nvPicPr>
          <p:cNvPr id="25" name="Picture 24"/>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8710124" y="3063321"/>
            <a:ext cx="764532" cy="955665"/>
          </a:xfrm>
          <a:prstGeom prst="rect">
            <a:avLst/>
          </a:prstGeom>
        </p:spPr>
      </p:pic>
    </p:spTree>
    <p:extLst>
      <p:ext uri="{BB962C8B-B14F-4D97-AF65-F5344CB8AC3E}">
        <p14:creationId xmlns:p14="http://schemas.microsoft.com/office/powerpoint/2010/main" val="6039207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3600" dirty="0"/>
              <a:t>Visual Analytics</a:t>
            </a:r>
          </a:p>
        </p:txBody>
      </p:sp>
      <p:sp>
        <p:nvSpPr>
          <p:cNvPr id="2" name="Slide Number Placeholder 1"/>
          <p:cNvSpPr>
            <a:spLocks noGrp="1"/>
          </p:cNvSpPr>
          <p:nvPr>
            <p:ph type="sldNum" sz="quarter" idx="12"/>
          </p:nvPr>
        </p:nvSpPr>
        <p:spPr>
          <a:xfrm>
            <a:off x="9296400" y="6356349"/>
            <a:ext cx="2743200" cy="365125"/>
          </a:xfrm>
        </p:spPr>
        <p:txBody>
          <a:bodyPr/>
          <a:lstStyle/>
          <a:p>
            <a:fld id="{290411FE-F426-8D49-82D8-99B69C723D30}" type="slidenum">
              <a:rPr lang="en-US" smtClean="0"/>
              <a:t>3</a:t>
            </a:fld>
            <a:endParaRPr lang="en-US"/>
          </a:p>
        </p:txBody>
      </p:sp>
      <p:pic>
        <p:nvPicPr>
          <p:cNvPr id="4" name="Shape 219" descr="bottom-test-1.4.png"/>
          <p:cNvPicPr preferRelativeResize="0"/>
          <p:nvPr/>
        </p:nvPicPr>
        <p:blipFill>
          <a:blip r:embed="rId3" cstate="print">
            <a:alphaModFix amt="25000"/>
            <a:extLst>
              <a:ext uri="{28A0092B-C50C-407E-A947-70E740481C1C}">
                <a14:useLocalDpi xmlns:a14="http://schemas.microsoft.com/office/drawing/2010/main"/>
              </a:ext>
            </a:extLst>
          </a:blip>
          <a:stretch>
            <a:fillRect/>
          </a:stretch>
        </p:blipFill>
        <p:spPr>
          <a:xfrm>
            <a:off x="-7" y="5401200"/>
            <a:ext cx="9526392" cy="1467534"/>
          </a:xfrm>
          <a:prstGeom prst="rect">
            <a:avLst/>
          </a:prstGeom>
          <a:noFill/>
          <a:ln>
            <a:noFill/>
          </a:ln>
        </p:spPr>
      </p:pic>
      <p:pic>
        <p:nvPicPr>
          <p:cNvPr id="5" name="Picture 4">
            <a:extLst>
              <a:ext uri="{FF2B5EF4-FFF2-40B4-BE49-F238E27FC236}">
                <a16:creationId xmlns="" xmlns:a16="http://schemas.microsoft.com/office/drawing/2014/main" id="{F5B5C803-0F80-4518-BA2D-F7ACCEB2C033}"/>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376814" y="-69528"/>
            <a:ext cx="1562425" cy="1562425"/>
          </a:xfrm>
          <a:prstGeom prst="rect">
            <a:avLst/>
          </a:prstGeom>
        </p:spPr>
      </p:pic>
    </p:spTree>
    <p:extLst>
      <p:ext uri="{BB962C8B-B14F-4D97-AF65-F5344CB8AC3E}">
        <p14:creationId xmlns:p14="http://schemas.microsoft.com/office/powerpoint/2010/main" val="19879372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9296400" y="6356349"/>
            <a:ext cx="2743200" cy="365125"/>
          </a:xfrm>
        </p:spPr>
        <p:txBody>
          <a:bodyPr/>
          <a:lstStyle/>
          <a:p>
            <a:fld id="{290411FE-F426-8D49-82D8-99B69C723D30}" type="slidenum">
              <a:rPr lang="en-US" smtClean="0"/>
              <a:t>4</a:t>
            </a:fld>
            <a:endParaRPr lang="en-US"/>
          </a:p>
        </p:txBody>
      </p:sp>
      <p:sp>
        <p:nvSpPr>
          <p:cNvPr id="8" name="Content Placeholder 7"/>
          <p:cNvSpPr>
            <a:spLocks noGrp="1"/>
          </p:cNvSpPr>
          <p:nvPr>
            <p:ph sz="quarter" idx="4294967295"/>
          </p:nvPr>
        </p:nvSpPr>
        <p:spPr>
          <a:xfrm>
            <a:off x="263525" y="267151"/>
            <a:ext cx="9531350" cy="753385"/>
          </a:xfrm>
        </p:spPr>
        <p:txBody>
          <a:bodyPr>
            <a:normAutofit/>
          </a:bodyPr>
          <a:lstStyle/>
          <a:p>
            <a:pPr lvl="0">
              <a:spcBef>
                <a:spcPts val="0"/>
              </a:spcBef>
              <a:buNone/>
            </a:pPr>
            <a:r>
              <a:rPr lang="en-US" sz="3200" b="1" dirty="0">
                <a:latin typeface="+mj-lt"/>
                <a:ea typeface="Calibri"/>
                <a:cs typeface="Calibri"/>
                <a:sym typeface="Calibri"/>
              </a:rPr>
              <a:t>Transforming Data into Insight</a:t>
            </a:r>
          </a:p>
          <a:p>
            <a:pPr lvl="0">
              <a:spcBef>
                <a:spcPts val="0"/>
              </a:spcBef>
              <a:buNone/>
            </a:pPr>
            <a:endParaRPr lang="en-US" dirty="0"/>
          </a:p>
          <a:p>
            <a:pPr marL="0" indent="0">
              <a:buNone/>
            </a:pPr>
            <a:endParaRPr lang="en-US" dirty="0"/>
          </a:p>
        </p:txBody>
      </p:sp>
      <p:pic>
        <p:nvPicPr>
          <p:cNvPr id="6" name="Picture 5"/>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68823" y="6285479"/>
            <a:ext cx="1058844" cy="435995"/>
          </a:xfrm>
          <a:prstGeom prst="rect">
            <a:avLst/>
          </a:prstGeom>
        </p:spPr>
      </p:pic>
      <p:sp>
        <p:nvSpPr>
          <p:cNvPr id="7" name="TextBox 6"/>
          <p:cNvSpPr txBox="1"/>
          <p:nvPr/>
        </p:nvSpPr>
        <p:spPr>
          <a:xfrm>
            <a:off x="3633239" y="5862731"/>
            <a:ext cx="5243557" cy="369332"/>
          </a:xfrm>
          <a:prstGeom prst="rect">
            <a:avLst/>
          </a:prstGeom>
          <a:noFill/>
        </p:spPr>
        <p:txBody>
          <a:bodyPr wrap="square" rtlCol="0">
            <a:spAutoFit/>
          </a:bodyPr>
          <a:lstStyle/>
          <a:p>
            <a:r>
              <a:rPr lang="en-US" i="1" dirty="0"/>
              <a:t>Data-Driven Decision Making (credits: PwC)</a:t>
            </a:r>
          </a:p>
        </p:txBody>
      </p:sp>
      <p:pic>
        <p:nvPicPr>
          <p:cNvPr id="9" name="intro.mp4">
            <a:hlinkClick r:id="" action="ppaction://media"/>
          </p:cNvPr>
          <p:cNvPicPr>
            <a:picLocks noChangeAspect="1"/>
          </p:cNvPicPr>
          <p:nvPr>
            <a:videoFile r:link="rId2"/>
            <p:extLst>
              <p:ext uri="{DAA4B4D4-6D71-4841-9C94-3DE7FCFB9230}">
                <p14:media xmlns:p14="http://schemas.microsoft.com/office/powerpoint/2010/main" r:embed="rId1">
                  <p14:bmkLst>
                    <p14:bmk name="Bookmark 1" time="2484.2024"/>
                  </p14:bmkLst>
                </p14:media>
              </p:ext>
            </p:extLst>
          </p:nvPr>
        </p:nvPicPr>
        <p:blipFill>
          <a:blip r:embed="rId6"/>
          <a:stretch>
            <a:fillRect/>
          </a:stretch>
        </p:blipFill>
        <p:spPr>
          <a:xfrm>
            <a:off x="2097289" y="1235609"/>
            <a:ext cx="7348451" cy="4133504"/>
          </a:xfrm>
          <a:prstGeom prst="rect">
            <a:avLst/>
          </a:prstGeom>
        </p:spPr>
      </p:pic>
      <p:pic>
        <p:nvPicPr>
          <p:cNvPr id="10" name="Picture 9"/>
          <p:cNvPicPr>
            <a:picLocks noChangeAspect="1"/>
          </p:cNvPicPr>
          <p:nvPr/>
        </p:nvPicPr>
        <p:blipFill>
          <a:blip r:embed="rId7">
            <a:alphaModFix amt="23000"/>
            <a:extLst>
              <a:ext uri="{28A0092B-C50C-407E-A947-70E740481C1C}">
                <a14:useLocalDpi xmlns:a14="http://schemas.microsoft.com/office/drawing/2010/main"/>
              </a:ext>
            </a:extLst>
          </a:blip>
          <a:stretch>
            <a:fillRect/>
          </a:stretch>
        </p:blipFill>
        <p:spPr>
          <a:xfrm>
            <a:off x="2115972" y="836840"/>
            <a:ext cx="7384011" cy="5025891"/>
          </a:xfrm>
          <a:prstGeom prst="rect">
            <a:avLst/>
          </a:prstGeom>
        </p:spPr>
      </p:pic>
      <p:sp>
        <p:nvSpPr>
          <p:cNvPr id="2" name="TextBox 1"/>
          <p:cNvSpPr txBox="1"/>
          <p:nvPr/>
        </p:nvSpPr>
        <p:spPr>
          <a:xfrm>
            <a:off x="3442083" y="2719345"/>
            <a:ext cx="2812935" cy="2123658"/>
          </a:xfrm>
          <a:prstGeom prst="rect">
            <a:avLst/>
          </a:prstGeom>
          <a:noFill/>
        </p:spPr>
        <p:txBody>
          <a:bodyPr wrap="square" rtlCol="0">
            <a:spAutoFit/>
          </a:bodyPr>
          <a:lstStyle/>
          <a:p>
            <a:r>
              <a:rPr lang="en-US" sz="2400" dirty="0">
                <a:latin typeface="+mj-lt"/>
              </a:rPr>
              <a:t>“</a:t>
            </a:r>
            <a:r>
              <a:rPr lang="en-US" sz="2400" i="1" dirty="0">
                <a:latin typeface="+mj-lt"/>
              </a:rPr>
              <a:t>Information is the currency of this digital age</a:t>
            </a:r>
            <a:r>
              <a:rPr lang="en-US" sz="2400" dirty="0">
                <a:latin typeface="+mj-lt"/>
              </a:rPr>
              <a:t>”</a:t>
            </a:r>
          </a:p>
          <a:p>
            <a:endParaRPr lang="en-US" sz="2400" dirty="0"/>
          </a:p>
          <a:p>
            <a:r>
              <a:rPr lang="en-US" i="1" dirty="0">
                <a:latin typeface="+mj-lt"/>
              </a:rPr>
              <a:t>Carly Fiorina, Former CEO </a:t>
            </a:r>
          </a:p>
          <a:p>
            <a:r>
              <a:rPr lang="en-US" i="1" dirty="0">
                <a:latin typeface="+mj-lt"/>
              </a:rPr>
              <a:t>of HP</a:t>
            </a:r>
          </a:p>
        </p:txBody>
      </p:sp>
      <p:pic>
        <p:nvPicPr>
          <p:cNvPr id="11" name="Picture 10">
            <a:extLst>
              <a:ext uri="{FF2B5EF4-FFF2-40B4-BE49-F238E27FC236}">
                <a16:creationId xmlns="" xmlns:a16="http://schemas.microsoft.com/office/drawing/2014/main" id="{2B8FB7EE-0F12-4582-A40C-AFF08859263E}"/>
              </a:ext>
            </a:extLst>
          </p:cNvPr>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10477175" y="5450850"/>
            <a:ext cx="1562425" cy="1562425"/>
          </a:xfrm>
          <a:prstGeom prst="rect">
            <a:avLst/>
          </a:prstGeom>
        </p:spPr>
      </p:pic>
    </p:spTree>
    <p:extLst>
      <p:ext uri="{BB962C8B-B14F-4D97-AF65-F5344CB8AC3E}">
        <p14:creationId xmlns:p14="http://schemas.microsoft.com/office/powerpoint/2010/main" val="715806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85"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9296400" y="6356349"/>
            <a:ext cx="2743200" cy="365125"/>
          </a:xfrm>
        </p:spPr>
        <p:txBody>
          <a:bodyPr/>
          <a:lstStyle/>
          <a:p>
            <a:fld id="{290411FE-F426-8D49-82D8-99B69C723D30}" type="slidenum">
              <a:rPr lang="en-US" smtClean="0"/>
              <a:t>5</a:t>
            </a:fld>
            <a:endParaRPr lang="en-US"/>
          </a:p>
        </p:txBody>
      </p:sp>
      <p:sp>
        <p:nvSpPr>
          <p:cNvPr id="8" name="Content Placeholder 7"/>
          <p:cNvSpPr>
            <a:spLocks noGrp="1"/>
          </p:cNvSpPr>
          <p:nvPr>
            <p:ph sz="quarter" idx="4294967295"/>
          </p:nvPr>
        </p:nvSpPr>
        <p:spPr>
          <a:xfrm>
            <a:off x="263525" y="267151"/>
            <a:ext cx="9531350" cy="753385"/>
          </a:xfrm>
        </p:spPr>
        <p:txBody>
          <a:bodyPr>
            <a:normAutofit/>
          </a:bodyPr>
          <a:lstStyle/>
          <a:p>
            <a:pPr lvl="0">
              <a:spcBef>
                <a:spcPts val="0"/>
              </a:spcBef>
              <a:buNone/>
            </a:pPr>
            <a:r>
              <a:rPr lang="en-US" sz="3200" b="1" dirty="0">
                <a:latin typeface="+mj-lt"/>
                <a:ea typeface="Calibri"/>
                <a:cs typeface="Calibri"/>
                <a:sym typeface="Calibri"/>
              </a:rPr>
              <a:t>A Research Agenda for the Analytics Age</a:t>
            </a:r>
          </a:p>
          <a:p>
            <a:pPr lvl="0">
              <a:spcBef>
                <a:spcPts val="0"/>
              </a:spcBef>
              <a:buNone/>
            </a:pPr>
            <a:endParaRPr lang="en-US" dirty="0"/>
          </a:p>
          <a:p>
            <a:pPr marL="0" indent="0">
              <a:buNone/>
            </a:pPr>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8823" y="6285479"/>
            <a:ext cx="1058844" cy="435995"/>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07534" y="1520042"/>
            <a:ext cx="4413480" cy="3690366"/>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5927107" y="1326887"/>
            <a:ext cx="5079559" cy="4445860"/>
          </a:xfrm>
          <a:prstGeom prst="rect">
            <a:avLst/>
          </a:prstGeom>
        </p:spPr>
      </p:pic>
      <p:sp>
        <p:nvSpPr>
          <p:cNvPr id="7" name="TextBox 6"/>
          <p:cNvSpPr txBox="1"/>
          <p:nvPr/>
        </p:nvSpPr>
        <p:spPr>
          <a:xfrm>
            <a:off x="2183251" y="5864493"/>
            <a:ext cx="8130046" cy="400110"/>
          </a:xfrm>
          <a:prstGeom prst="rect">
            <a:avLst/>
          </a:prstGeom>
          <a:noFill/>
        </p:spPr>
        <p:txBody>
          <a:bodyPr wrap="none" rtlCol="0">
            <a:spAutoFit/>
          </a:bodyPr>
          <a:lstStyle/>
          <a:p>
            <a:r>
              <a:rPr lang="en-US" sz="2000" i="1" dirty="0"/>
              <a:t>Figure 1. A Taxonomy of Disciplines (Mortenson et al., 2015 and Evans, 2012)</a:t>
            </a:r>
          </a:p>
        </p:txBody>
      </p:sp>
      <p:pic>
        <p:nvPicPr>
          <p:cNvPr id="10" name="Picture 9">
            <a:extLst>
              <a:ext uri="{FF2B5EF4-FFF2-40B4-BE49-F238E27FC236}">
                <a16:creationId xmlns="" xmlns:a16="http://schemas.microsoft.com/office/drawing/2014/main" id="{2E295F4D-66C6-41C0-A7C1-6AE546B8C8BC}"/>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10477175" y="5450850"/>
            <a:ext cx="1562425" cy="1562425"/>
          </a:xfrm>
          <a:prstGeom prst="rect">
            <a:avLst/>
          </a:prstGeom>
        </p:spPr>
      </p:pic>
    </p:spTree>
    <p:extLst>
      <p:ext uri="{BB962C8B-B14F-4D97-AF65-F5344CB8AC3E}">
        <p14:creationId xmlns:p14="http://schemas.microsoft.com/office/powerpoint/2010/main" val="3737409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9296400" y="6356349"/>
            <a:ext cx="2743200" cy="365125"/>
          </a:xfrm>
        </p:spPr>
        <p:txBody>
          <a:bodyPr/>
          <a:lstStyle/>
          <a:p>
            <a:fld id="{290411FE-F426-8D49-82D8-99B69C723D30}" type="slidenum">
              <a:rPr lang="en-US" smtClean="0"/>
              <a:t>6</a:t>
            </a:fld>
            <a:endParaRPr lang="en-US"/>
          </a:p>
        </p:txBody>
      </p:sp>
      <p:sp>
        <p:nvSpPr>
          <p:cNvPr id="8" name="Content Placeholder 7"/>
          <p:cNvSpPr>
            <a:spLocks noGrp="1"/>
          </p:cNvSpPr>
          <p:nvPr>
            <p:ph sz="quarter" idx="4294967295"/>
          </p:nvPr>
        </p:nvSpPr>
        <p:spPr>
          <a:xfrm>
            <a:off x="263524" y="267151"/>
            <a:ext cx="9794875" cy="798233"/>
          </a:xfrm>
        </p:spPr>
        <p:txBody>
          <a:bodyPr>
            <a:normAutofit fontScale="85000" lnSpcReduction="20000"/>
          </a:bodyPr>
          <a:lstStyle/>
          <a:p>
            <a:pPr lvl="0">
              <a:spcBef>
                <a:spcPts val="0"/>
              </a:spcBef>
              <a:buNone/>
            </a:pPr>
            <a:r>
              <a:rPr lang="en-US" sz="3800" b="1" dirty="0">
                <a:latin typeface="+mj-lt"/>
                <a:ea typeface="Calibri"/>
                <a:cs typeface="Calibri"/>
                <a:sym typeface="Calibri"/>
              </a:rPr>
              <a:t>Dresner Advisory Report (2016):</a:t>
            </a:r>
          </a:p>
          <a:p>
            <a:pPr lvl="0">
              <a:spcBef>
                <a:spcPts val="0"/>
              </a:spcBef>
              <a:buNone/>
            </a:pPr>
            <a:r>
              <a:rPr lang="en-US" sz="3800" b="1" dirty="0">
                <a:latin typeface="+mj-lt"/>
                <a:ea typeface="Calibri"/>
                <a:cs typeface="Calibri"/>
                <a:sym typeface="Calibri"/>
              </a:rPr>
              <a:t>Embedded Business Intelligence Market Study</a:t>
            </a:r>
          </a:p>
          <a:p>
            <a:pPr lvl="0">
              <a:spcBef>
                <a:spcPts val="0"/>
              </a:spcBef>
              <a:buNone/>
            </a:pPr>
            <a:endParaRPr lang="en-US" dirty="0"/>
          </a:p>
          <a:p>
            <a:pPr marL="0" indent="0">
              <a:buNone/>
            </a:pPr>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8823" y="6285479"/>
            <a:ext cx="1058844" cy="435995"/>
          </a:xfrm>
          <a:prstGeom prst="rect">
            <a:avLst/>
          </a:prstGeom>
        </p:spPr>
      </p:pic>
      <p:pic>
        <p:nvPicPr>
          <p:cNvPr id="2" name="Picture 1"/>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2267717" y="1213795"/>
            <a:ext cx="7299037" cy="5325116"/>
          </a:xfrm>
          <a:prstGeom prst="rect">
            <a:avLst/>
          </a:prstGeom>
        </p:spPr>
      </p:pic>
      <p:sp>
        <p:nvSpPr>
          <p:cNvPr id="12" name="TextBox 11"/>
          <p:cNvSpPr txBox="1"/>
          <p:nvPr/>
        </p:nvSpPr>
        <p:spPr>
          <a:xfrm>
            <a:off x="2618477" y="6461774"/>
            <a:ext cx="7439922" cy="400110"/>
          </a:xfrm>
          <a:prstGeom prst="rect">
            <a:avLst/>
          </a:prstGeom>
          <a:noFill/>
        </p:spPr>
        <p:txBody>
          <a:bodyPr wrap="none" rtlCol="0">
            <a:spAutoFit/>
          </a:bodyPr>
          <a:lstStyle/>
          <a:p>
            <a:r>
              <a:rPr lang="en-US" sz="2000" i="1" dirty="0"/>
              <a:t>Figure 2. Technologies and Initiatives Strategic to Business Intelligence</a:t>
            </a:r>
            <a:endParaRPr lang="en-US" sz="2000" dirty="0"/>
          </a:p>
        </p:txBody>
      </p:sp>
      <p:cxnSp>
        <p:nvCxnSpPr>
          <p:cNvPr id="14" name="Straight Arrow Connector 13"/>
          <p:cNvCxnSpPr/>
          <p:nvPr/>
        </p:nvCxnSpPr>
        <p:spPr>
          <a:xfrm flipV="1">
            <a:off x="2267717" y="2050126"/>
            <a:ext cx="1463040" cy="147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2876204" y="1712364"/>
            <a:ext cx="1463040" cy="147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 xmlns:a16="http://schemas.microsoft.com/office/drawing/2014/main" id="{2A0C0274-21A3-4693-AE3E-69EE1FDF8FF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0477175" y="5450850"/>
            <a:ext cx="1562425" cy="1562425"/>
          </a:xfrm>
          <a:prstGeom prst="rect">
            <a:avLst/>
          </a:prstGeom>
        </p:spPr>
      </p:pic>
    </p:spTree>
    <p:extLst>
      <p:ext uri="{BB962C8B-B14F-4D97-AF65-F5344CB8AC3E}">
        <p14:creationId xmlns:p14="http://schemas.microsoft.com/office/powerpoint/2010/main" val="8928530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9296400" y="6356349"/>
            <a:ext cx="2743200" cy="365125"/>
          </a:xfrm>
        </p:spPr>
        <p:txBody>
          <a:bodyPr/>
          <a:lstStyle/>
          <a:p>
            <a:fld id="{290411FE-F426-8D49-82D8-99B69C723D30}" type="slidenum">
              <a:rPr lang="en-US" smtClean="0"/>
              <a:t>7</a:t>
            </a:fld>
            <a:endParaRPr lang="en-US"/>
          </a:p>
        </p:txBody>
      </p:sp>
      <p:sp>
        <p:nvSpPr>
          <p:cNvPr id="8" name="Content Placeholder 7"/>
          <p:cNvSpPr>
            <a:spLocks noGrp="1"/>
          </p:cNvSpPr>
          <p:nvPr>
            <p:ph sz="quarter" idx="4294967295"/>
          </p:nvPr>
        </p:nvSpPr>
        <p:spPr>
          <a:xfrm>
            <a:off x="263525" y="267151"/>
            <a:ext cx="9531350" cy="753385"/>
          </a:xfrm>
        </p:spPr>
        <p:txBody>
          <a:bodyPr>
            <a:normAutofit/>
          </a:bodyPr>
          <a:lstStyle/>
          <a:p>
            <a:pPr lvl="0">
              <a:spcBef>
                <a:spcPts val="0"/>
              </a:spcBef>
              <a:buNone/>
            </a:pPr>
            <a:r>
              <a:rPr lang="en-US" sz="3200" b="1" dirty="0">
                <a:latin typeface="+mj-lt"/>
                <a:ea typeface="Calibri"/>
                <a:cs typeface="Calibri"/>
                <a:sym typeface="Calibri"/>
              </a:rPr>
              <a:t>Dashboards</a:t>
            </a:r>
          </a:p>
          <a:p>
            <a:pPr lvl="0">
              <a:spcBef>
                <a:spcPts val="0"/>
              </a:spcBef>
              <a:buNone/>
            </a:pPr>
            <a:endParaRPr lang="en-US" dirty="0"/>
          </a:p>
          <a:p>
            <a:pPr marL="0" indent="0">
              <a:buNone/>
            </a:pPr>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8823" y="6285479"/>
            <a:ext cx="1058844" cy="435995"/>
          </a:xfrm>
          <a:prstGeom prst="rect">
            <a:avLst/>
          </a:prstGeom>
        </p:spPr>
      </p:pic>
      <p:pic>
        <p:nvPicPr>
          <p:cNvPr id="11" name="Picture 10"/>
          <p:cNvPicPr>
            <a:picLocks noChangeAspect="1"/>
          </p:cNvPicPr>
          <p:nvPr/>
        </p:nvPicPr>
        <p:blipFill>
          <a:blip r:embed="rId4" cstate="print">
            <a:extLst>
              <a:ext uri="{BEBA8EAE-BF5A-486C-A8C5-ECC9F3942E4B}">
                <a14:imgProps xmlns:a14="http://schemas.microsoft.com/office/drawing/2010/main">
                  <a14:imgLayer r:embed="rId5">
                    <a14:imgEffect>
                      <a14:saturation sat="315000"/>
                    </a14:imgEffect>
                  </a14:imgLayer>
                </a14:imgProps>
              </a:ext>
              <a:ext uri="{28A0092B-C50C-407E-A947-70E740481C1C}">
                <a14:useLocalDpi xmlns:a14="http://schemas.microsoft.com/office/drawing/2010/main"/>
              </a:ext>
            </a:extLst>
          </a:blip>
          <a:stretch>
            <a:fillRect/>
          </a:stretch>
        </p:blipFill>
        <p:spPr>
          <a:xfrm>
            <a:off x="1227667" y="1069828"/>
            <a:ext cx="618677" cy="452274"/>
          </a:xfrm>
          <a:prstGeom prst="rect">
            <a:avLst/>
          </a:prstGeom>
        </p:spPr>
      </p:pic>
      <p:sp>
        <p:nvSpPr>
          <p:cNvPr id="3" name="TextBox 2"/>
          <p:cNvSpPr txBox="1"/>
          <p:nvPr/>
        </p:nvSpPr>
        <p:spPr>
          <a:xfrm>
            <a:off x="1846344" y="1480281"/>
            <a:ext cx="8233607" cy="954107"/>
          </a:xfrm>
          <a:prstGeom prst="rect">
            <a:avLst/>
          </a:prstGeom>
          <a:noFill/>
        </p:spPr>
        <p:txBody>
          <a:bodyPr wrap="square" rtlCol="0">
            <a:spAutoFit/>
          </a:bodyPr>
          <a:lstStyle/>
          <a:p>
            <a:r>
              <a:rPr lang="en-US" sz="2800" i="1" dirty="0">
                <a:latin typeface="+mj-lt"/>
              </a:rPr>
              <a:t>What's happening? What's happened? What's going to happen? Check the dashboard! (Markus, 2006)</a:t>
            </a:r>
          </a:p>
        </p:txBody>
      </p:sp>
      <p:pic>
        <p:nvPicPr>
          <p:cNvPr id="9" name="Picture 8"/>
          <p:cNvPicPr>
            <a:picLocks noChangeAspect="1"/>
          </p:cNvPicPr>
          <p:nvPr/>
        </p:nvPicPr>
        <p:blipFill>
          <a:blip r:embed="rId4" cstate="print">
            <a:extLst>
              <a:ext uri="{BEBA8EAE-BF5A-486C-A8C5-ECC9F3942E4B}">
                <a14:imgProps xmlns:a14="http://schemas.microsoft.com/office/drawing/2010/main">
                  <a14:imgLayer r:embed="rId5">
                    <a14:imgEffect>
                      <a14:saturation sat="315000"/>
                    </a14:imgEffect>
                  </a14:imgLayer>
                </a14:imgProps>
              </a:ext>
              <a:ext uri="{28A0092B-C50C-407E-A947-70E740481C1C}">
                <a14:useLocalDpi xmlns:a14="http://schemas.microsoft.com/office/drawing/2010/main"/>
              </a:ext>
            </a:extLst>
          </a:blip>
          <a:stretch>
            <a:fillRect/>
          </a:stretch>
        </p:blipFill>
        <p:spPr>
          <a:xfrm rot="10636422">
            <a:off x="9306805" y="2243002"/>
            <a:ext cx="618677" cy="452274"/>
          </a:xfrm>
          <a:prstGeom prst="rect">
            <a:avLst/>
          </a:prstGeom>
        </p:spPr>
      </p:pic>
      <p:pic>
        <p:nvPicPr>
          <p:cNvPr id="5" name="Picture 4"/>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061189" y="2921415"/>
            <a:ext cx="4775836" cy="3088635"/>
          </a:xfrm>
          <a:prstGeom prst="rect">
            <a:avLst/>
          </a:prstGeom>
        </p:spPr>
      </p:pic>
      <p:pic>
        <p:nvPicPr>
          <p:cNvPr id="10" name="Picture 9"/>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3202812" y="3649385"/>
            <a:ext cx="4920463" cy="2636094"/>
          </a:xfrm>
          <a:prstGeom prst="rect">
            <a:avLst/>
          </a:prstGeom>
        </p:spPr>
      </p:pic>
      <p:pic>
        <p:nvPicPr>
          <p:cNvPr id="7" name="Picture 6"/>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6429600" y="4419690"/>
            <a:ext cx="3948545" cy="2232281"/>
          </a:xfrm>
          <a:prstGeom prst="rect">
            <a:avLst/>
          </a:prstGeom>
        </p:spPr>
      </p:pic>
      <p:pic>
        <p:nvPicPr>
          <p:cNvPr id="12" name="Picture 11">
            <a:extLst>
              <a:ext uri="{FF2B5EF4-FFF2-40B4-BE49-F238E27FC236}">
                <a16:creationId xmlns="" xmlns:a16="http://schemas.microsoft.com/office/drawing/2014/main" id="{EE3DF43C-6523-4238-9C61-A94406CFB55E}"/>
              </a:ext>
            </a:extLst>
          </p:cNvPr>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10477175" y="5450850"/>
            <a:ext cx="1562425" cy="1562425"/>
          </a:xfrm>
          <a:prstGeom prst="rect">
            <a:avLst/>
          </a:prstGeom>
        </p:spPr>
      </p:pic>
    </p:spTree>
    <p:extLst>
      <p:ext uri="{BB962C8B-B14F-4D97-AF65-F5344CB8AC3E}">
        <p14:creationId xmlns:p14="http://schemas.microsoft.com/office/powerpoint/2010/main" val="7530067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9296400" y="6356349"/>
            <a:ext cx="2743200" cy="365125"/>
          </a:xfrm>
        </p:spPr>
        <p:txBody>
          <a:bodyPr/>
          <a:lstStyle/>
          <a:p>
            <a:fld id="{290411FE-F426-8D49-82D8-99B69C723D30}" type="slidenum">
              <a:rPr lang="en-US" smtClean="0"/>
              <a:t>8</a:t>
            </a:fld>
            <a:endParaRPr lang="en-US"/>
          </a:p>
        </p:txBody>
      </p:sp>
      <p:sp>
        <p:nvSpPr>
          <p:cNvPr id="8" name="Content Placeholder 7"/>
          <p:cNvSpPr>
            <a:spLocks noGrp="1"/>
          </p:cNvSpPr>
          <p:nvPr>
            <p:ph sz="quarter" idx="4294967295"/>
          </p:nvPr>
        </p:nvSpPr>
        <p:spPr>
          <a:xfrm>
            <a:off x="263525" y="267151"/>
            <a:ext cx="9531350" cy="753385"/>
          </a:xfrm>
        </p:spPr>
        <p:txBody>
          <a:bodyPr>
            <a:normAutofit/>
          </a:bodyPr>
          <a:lstStyle/>
          <a:p>
            <a:pPr lvl="0">
              <a:spcBef>
                <a:spcPts val="0"/>
              </a:spcBef>
              <a:buNone/>
            </a:pPr>
            <a:r>
              <a:rPr lang="en-US" sz="3200" b="1" dirty="0">
                <a:latin typeface="+mj-lt"/>
                <a:ea typeface="Calibri"/>
                <a:cs typeface="Calibri"/>
                <a:sym typeface="Calibri"/>
              </a:rPr>
              <a:t>Data Visualization</a:t>
            </a:r>
          </a:p>
          <a:p>
            <a:pPr lvl="0">
              <a:spcBef>
                <a:spcPts val="0"/>
              </a:spcBef>
              <a:buNone/>
            </a:pPr>
            <a:endParaRPr lang="en-US" dirty="0"/>
          </a:p>
          <a:p>
            <a:pPr marL="0" indent="0">
              <a:buNone/>
            </a:pPr>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8823" y="6285479"/>
            <a:ext cx="1058844" cy="435995"/>
          </a:xfrm>
          <a:prstGeom prst="rect">
            <a:avLst/>
          </a:prstGeom>
        </p:spPr>
      </p:pic>
      <p:pic>
        <p:nvPicPr>
          <p:cNvPr id="11" name="Picture 10"/>
          <p:cNvPicPr>
            <a:picLocks noChangeAspect="1"/>
          </p:cNvPicPr>
          <p:nvPr/>
        </p:nvPicPr>
        <p:blipFill>
          <a:blip r:embed="rId4" cstate="print">
            <a:extLst>
              <a:ext uri="{BEBA8EAE-BF5A-486C-A8C5-ECC9F3942E4B}">
                <a14:imgProps xmlns:a14="http://schemas.microsoft.com/office/drawing/2010/main">
                  <a14:imgLayer r:embed="rId5">
                    <a14:imgEffect>
                      <a14:saturation sat="315000"/>
                    </a14:imgEffect>
                  </a14:imgLayer>
                </a14:imgProps>
              </a:ext>
              <a:ext uri="{28A0092B-C50C-407E-A947-70E740481C1C}">
                <a14:useLocalDpi xmlns:a14="http://schemas.microsoft.com/office/drawing/2010/main"/>
              </a:ext>
            </a:extLst>
          </a:blip>
          <a:stretch>
            <a:fillRect/>
          </a:stretch>
        </p:blipFill>
        <p:spPr>
          <a:xfrm>
            <a:off x="483509" y="1214438"/>
            <a:ext cx="618677" cy="452274"/>
          </a:xfrm>
          <a:prstGeom prst="rect">
            <a:avLst/>
          </a:prstGeom>
        </p:spPr>
      </p:pic>
      <p:sp>
        <p:nvSpPr>
          <p:cNvPr id="2" name="Right Triangle 1"/>
          <p:cNvSpPr/>
          <p:nvPr/>
        </p:nvSpPr>
        <p:spPr>
          <a:xfrm rot="16200000">
            <a:off x="3420534" y="-1913468"/>
            <a:ext cx="6858000" cy="10684933"/>
          </a:xfrm>
          <a:prstGeom prst="rtTriangle">
            <a:avLst/>
          </a:prstGeom>
          <a:solidFill>
            <a:srgbClr val="0E1E24">
              <a:alpha val="8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4" cstate="print">
            <a:extLst>
              <a:ext uri="{BEBA8EAE-BF5A-486C-A8C5-ECC9F3942E4B}">
                <a14:imgProps xmlns:a14="http://schemas.microsoft.com/office/drawing/2010/main">
                  <a14:imgLayer r:embed="rId5">
                    <a14:imgEffect>
                      <a14:saturation sat="315000"/>
                    </a14:imgEffect>
                  </a14:imgLayer>
                </a14:imgProps>
              </a:ext>
              <a:ext uri="{28A0092B-C50C-407E-A947-70E740481C1C}">
                <a14:useLocalDpi xmlns:a14="http://schemas.microsoft.com/office/drawing/2010/main"/>
              </a:ext>
            </a:extLst>
          </a:blip>
          <a:stretch>
            <a:fillRect/>
          </a:stretch>
        </p:blipFill>
        <p:spPr>
          <a:xfrm rot="10800000">
            <a:off x="6111572" y="2677474"/>
            <a:ext cx="618677" cy="452274"/>
          </a:xfrm>
          <a:prstGeom prst="rect">
            <a:avLst/>
          </a:prstGeom>
        </p:spPr>
      </p:pic>
      <p:sp>
        <p:nvSpPr>
          <p:cNvPr id="3" name="TextBox 2"/>
          <p:cNvSpPr txBox="1"/>
          <p:nvPr/>
        </p:nvSpPr>
        <p:spPr>
          <a:xfrm>
            <a:off x="1495634" y="1333952"/>
            <a:ext cx="5353900" cy="2062103"/>
          </a:xfrm>
          <a:prstGeom prst="rect">
            <a:avLst/>
          </a:prstGeom>
          <a:noFill/>
        </p:spPr>
        <p:txBody>
          <a:bodyPr wrap="square" rtlCol="0">
            <a:spAutoFit/>
          </a:bodyPr>
          <a:lstStyle/>
          <a:p>
            <a:pPr algn="just"/>
            <a:r>
              <a:rPr lang="en-US" sz="3200" i="1" dirty="0">
                <a:latin typeface="+mj-lt"/>
              </a:rPr>
              <a:t>The goal is to turn data into information, and information into insight. </a:t>
            </a:r>
          </a:p>
          <a:p>
            <a:r>
              <a:rPr lang="en-US" sz="3200" dirty="0">
                <a:latin typeface="+mj-lt"/>
              </a:rPr>
              <a:t>(Carly Fiorina, 2004)</a:t>
            </a:r>
          </a:p>
        </p:txBody>
      </p:sp>
      <p:sp>
        <p:nvSpPr>
          <p:cNvPr id="5" name="TextBox 4"/>
          <p:cNvSpPr txBox="1"/>
          <p:nvPr/>
        </p:nvSpPr>
        <p:spPr>
          <a:xfrm>
            <a:off x="6420910" y="4503975"/>
            <a:ext cx="5043487" cy="1569660"/>
          </a:xfrm>
          <a:prstGeom prst="rect">
            <a:avLst/>
          </a:prstGeom>
          <a:noFill/>
        </p:spPr>
        <p:txBody>
          <a:bodyPr wrap="square" rtlCol="0">
            <a:spAutoFit/>
          </a:bodyPr>
          <a:lstStyle/>
          <a:p>
            <a:pPr algn="just"/>
            <a:r>
              <a:rPr lang="en-US" sz="3200" i="1" dirty="0">
                <a:solidFill>
                  <a:schemeClr val="bg1"/>
                </a:solidFill>
                <a:latin typeface="+mj-lt"/>
              </a:rPr>
              <a:t>The purpose of visualization is insight, not pictures.</a:t>
            </a:r>
          </a:p>
          <a:p>
            <a:r>
              <a:rPr lang="en-US" sz="3200" i="1" dirty="0">
                <a:solidFill>
                  <a:schemeClr val="bg1"/>
                </a:solidFill>
                <a:latin typeface="+mj-lt"/>
              </a:rPr>
              <a:t>(Ben Shneiderman, 1999)</a:t>
            </a:r>
          </a:p>
        </p:txBody>
      </p:sp>
      <p:pic>
        <p:nvPicPr>
          <p:cNvPr id="10" name="Picture 9"/>
          <p:cNvPicPr>
            <a:picLocks noChangeAspect="1"/>
          </p:cNvPicPr>
          <p:nvPr/>
        </p:nvPicPr>
        <p:blipFill>
          <a:blip r:embed="rId6" cstate="print">
            <a:extLst>
              <a:ext uri="{BEBA8EAE-BF5A-486C-A8C5-ECC9F3942E4B}">
                <a14:imgProps xmlns:a14="http://schemas.microsoft.com/office/drawing/2010/main">
                  <a14:imgLayer r:embed="rId5">
                    <a14:imgEffect>
                      <a14:sharpenSoften amount="6000"/>
                    </a14:imgEffect>
                    <a14:imgEffect>
                      <a14:colorTemperature colorTemp="4861"/>
                    </a14:imgEffect>
                    <a14:imgEffect>
                      <a14:saturation sat="115000"/>
                    </a14:imgEffect>
                    <a14:imgEffect>
                      <a14:brightnessContrast bright="100000"/>
                    </a14:imgEffect>
                  </a14:imgLayer>
                </a14:imgProps>
              </a:ext>
              <a:ext uri="{28A0092B-C50C-407E-A947-70E740481C1C}">
                <a14:useLocalDpi xmlns:a14="http://schemas.microsoft.com/office/drawing/2010/main"/>
              </a:ext>
            </a:extLst>
          </a:blip>
          <a:stretch>
            <a:fillRect/>
          </a:stretch>
        </p:blipFill>
        <p:spPr>
          <a:xfrm>
            <a:off x="5599792" y="4344730"/>
            <a:ext cx="618677" cy="452274"/>
          </a:xfrm>
          <a:prstGeom prst="rect">
            <a:avLst/>
          </a:prstGeom>
        </p:spPr>
      </p:pic>
      <p:pic>
        <p:nvPicPr>
          <p:cNvPr id="12" name="Picture 11"/>
          <p:cNvPicPr>
            <a:picLocks noChangeAspect="1"/>
          </p:cNvPicPr>
          <p:nvPr/>
        </p:nvPicPr>
        <p:blipFill>
          <a:blip r:embed="rId6" cstate="print">
            <a:extLst>
              <a:ext uri="{BEBA8EAE-BF5A-486C-A8C5-ECC9F3942E4B}">
                <a14:imgProps xmlns:a14="http://schemas.microsoft.com/office/drawing/2010/main">
                  <a14:imgLayer r:embed="rId5">
                    <a14:imgEffect>
                      <a14:sharpenSoften amount="6000"/>
                    </a14:imgEffect>
                    <a14:imgEffect>
                      <a14:colorTemperature colorTemp="4861"/>
                    </a14:imgEffect>
                    <a14:imgEffect>
                      <a14:saturation sat="115000"/>
                    </a14:imgEffect>
                    <a14:imgEffect>
                      <a14:brightnessContrast bright="100000"/>
                    </a14:imgEffect>
                  </a14:imgLayer>
                </a14:imgProps>
              </a:ext>
              <a:ext uri="{28A0092B-C50C-407E-A947-70E740481C1C}">
                <a14:useLocalDpi xmlns:a14="http://schemas.microsoft.com/office/drawing/2010/main"/>
              </a:ext>
            </a:extLst>
          </a:blip>
          <a:stretch>
            <a:fillRect/>
          </a:stretch>
        </p:blipFill>
        <p:spPr>
          <a:xfrm rot="10800000">
            <a:off x="10900183" y="5787406"/>
            <a:ext cx="618677" cy="452274"/>
          </a:xfrm>
          <a:prstGeom prst="rect">
            <a:avLst/>
          </a:prstGeom>
        </p:spPr>
      </p:pic>
    </p:spTree>
    <p:extLst>
      <p:ext uri="{BB962C8B-B14F-4D97-AF65-F5344CB8AC3E}">
        <p14:creationId xmlns:p14="http://schemas.microsoft.com/office/powerpoint/2010/main" val="13489884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8823" y="6285479"/>
            <a:ext cx="1058844" cy="435995"/>
          </a:xfrm>
          <a:prstGeom prst="rect">
            <a:avLst/>
          </a:prstGeom>
        </p:spPr>
      </p:pic>
      <p:sp>
        <p:nvSpPr>
          <p:cNvPr id="2" name="Slide Number Placeholder 1"/>
          <p:cNvSpPr>
            <a:spLocks noGrp="1"/>
          </p:cNvSpPr>
          <p:nvPr>
            <p:ph type="sldNum" sz="quarter" idx="12"/>
          </p:nvPr>
        </p:nvSpPr>
        <p:spPr/>
        <p:txBody>
          <a:bodyPr vert="horz" lIns="91440" tIns="45720" rIns="91440" bIns="45720" rtlCol="0" anchor="ctr">
            <a:normAutofit/>
          </a:bodyPr>
          <a:lstStyle/>
          <a:p>
            <a:pPr>
              <a:spcAft>
                <a:spcPts val="600"/>
              </a:spcAft>
              <a:defRPr/>
            </a:pPr>
            <a:fld id="{290411FE-F426-8D49-82D8-99B69C723D30}" type="slidenum">
              <a:rPr lang="en-US" smtClean="0">
                <a:solidFill>
                  <a:schemeClr val="tx1"/>
                </a:solidFill>
                <a:latin typeface="Calibri" panose="020F0502020204030204"/>
              </a:rPr>
              <a:pPr>
                <a:spcAft>
                  <a:spcPts val="600"/>
                </a:spcAft>
                <a:defRPr/>
              </a:pPr>
              <a:t>9</a:t>
            </a:fld>
            <a:endParaRPr lang="en-US" dirty="0">
              <a:solidFill>
                <a:schemeClr val="tx1"/>
              </a:solidFill>
              <a:latin typeface="Calibri" panose="020F0502020204030204"/>
            </a:endParaRPr>
          </a:p>
        </p:txBody>
      </p:sp>
      <p:sp>
        <p:nvSpPr>
          <p:cNvPr id="17" name="Content Placeholder 7"/>
          <p:cNvSpPr txBox="1">
            <a:spLocks/>
          </p:cNvSpPr>
          <p:nvPr/>
        </p:nvSpPr>
        <p:spPr>
          <a:xfrm>
            <a:off x="263525" y="267151"/>
            <a:ext cx="9531350" cy="7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0"/>
              </a:spcBef>
              <a:buNone/>
            </a:pPr>
            <a:r>
              <a:rPr lang="en-US" sz="3200" b="1" dirty="0">
                <a:latin typeface="+mj-lt"/>
                <a:ea typeface="Calibri"/>
                <a:cs typeface="Calibri"/>
                <a:sym typeface="Calibri"/>
              </a:rPr>
              <a:t>Web Application versus Software Visualization</a:t>
            </a:r>
          </a:p>
          <a:p>
            <a:pPr>
              <a:spcBef>
                <a:spcPts val="0"/>
              </a:spcBef>
              <a:buFont typeface="Arial"/>
              <a:buNone/>
            </a:pPr>
            <a:endParaRPr lang="en-US" dirty="0"/>
          </a:p>
          <a:p>
            <a:pPr marL="0" indent="0">
              <a:buFont typeface="Arial"/>
              <a:buNone/>
            </a:pPr>
            <a:endParaRPr lang="en-US" dirty="0"/>
          </a:p>
        </p:txBody>
      </p:sp>
      <p:sp>
        <p:nvSpPr>
          <p:cNvPr id="3" name="TextBox 2"/>
          <p:cNvSpPr txBox="1"/>
          <p:nvPr/>
        </p:nvSpPr>
        <p:spPr>
          <a:xfrm>
            <a:off x="2242525" y="3324567"/>
            <a:ext cx="7788664" cy="2739211"/>
          </a:xfrm>
          <a:prstGeom prst="rect">
            <a:avLst/>
          </a:prstGeom>
          <a:noFill/>
        </p:spPr>
        <p:txBody>
          <a:bodyPr wrap="square" rtlCol="0">
            <a:spAutoFit/>
          </a:bodyPr>
          <a:lstStyle/>
          <a:p>
            <a:pPr marL="457200" indent="-457200">
              <a:lnSpc>
                <a:spcPct val="150000"/>
              </a:lnSpc>
              <a:buFont typeface="+mj-lt"/>
              <a:buAutoNum type="arabicPeriod"/>
            </a:pPr>
            <a:r>
              <a:rPr lang="en-US" sz="2400" dirty="0"/>
              <a:t>Interactive display and manipulation of data</a:t>
            </a:r>
          </a:p>
          <a:p>
            <a:pPr marL="457200" indent="-457200">
              <a:lnSpc>
                <a:spcPct val="150000"/>
              </a:lnSpc>
              <a:buFont typeface="+mj-lt"/>
              <a:buAutoNum type="arabicPeriod"/>
            </a:pPr>
            <a:r>
              <a:rPr lang="en-US" sz="2400" dirty="0"/>
              <a:t>No installation required</a:t>
            </a:r>
          </a:p>
          <a:p>
            <a:pPr marL="457200" indent="-457200">
              <a:lnSpc>
                <a:spcPct val="150000"/>
              </a:lnSpc>
              <a:buFont typeface="+mj-lt"/>
              <a:buAutoNum type="arabicPeriod"/>
            </a:pPr>
            <a:r>
              <a:rPr lang="en-US" sz="2400" dirty="0"/>
              <a:t>Easy to develop and share with clients and project teams</a:t>
            </a:r>
          </a:p>
          <a:p>
            <a:pPr marL="457200" indent="-457200">
              <a:lnSpc>
                <a:spcPct val="150000"/>
              </a:lnSpc>
              <a:buFont typeface="+mj-lt"/>
              <a:buAutoNum type="arabicPeriod"/>
            </a:pPr>
            <a:r>
              <a:rPr lang="en-US" sz="2400" dirty="0"/>
              <a:t>Open source libraries</a:t>
            </a:r>
            <a:endParaRPr lang="en-US" sz="2000" dirty="0"/>
          </a:p>
          <a:p>
            <a:pPr marL="342900" indent="-342900">
              <a:buFont typeface="+mj-lt"/>
              <a:buAutoNum type="arabicPeriod"/>
            </a:pPr>
            <a:endParaRPr lang="en-US" sz="2800" dirty="0"/>
          </a:p>
        </p:txBody>
      </p:sp>
      <p:sp>
        <p:nvSpPr>
          <p:cNvPr id="9" name="TextBox 8"/>
          <p:cNvSpPr txBox="1"/>
          <p:nvPr/>
        </p:nvSpPr>
        <p:spPr>
          <a:xfrm>
            <a:off x="1495634" y="1333952"/>
            <a:ext cx="8919954" cy="1384995"/>
          </a:xfrm>
          <a:prstGeom prst="rect">
            <a:avLst/>
          </a:prstGeom>
          <a:noFill/>
        </p:spPr>
        <p:txBody>
          <a:bodyPr wrap="square" rtlCol="0">
            <a:spAutoFit/>
          </a:bodyPr>
          <a:lstStyle/>
          <a:p>
            <a:pPr algn="just"/>
            <a:r>
              <a:rPr lang="en-US" sz="2800" i="1" dirty="0">
                <a:latin typeface="+mj-lt"/>
              </a:rPr>
              <a:t>The impact of data scientists' work depends on how well others can understand their insights to take further actions.</a:t>
            </a:r>
          </a:p>
          <a:p>
            <a:pPr algn="just"/>
            <a:r>
              <a:rPr lang="en-US" sz="2800" i="1" dirty="0">
                <a:latin typeface="+mj-lt"/>
              </a:rPr>
              <a:t>(Jorge Castañón, 2016)</a:t>
            </a:r>
          </a:p>
        </p:txBody>
      </p:sp>
      <p:pic>
        <p:nvPicPr>
          <p:cNvPr id="10" name="Picture 9"/>
          <p:cNvPicPr>
            <a:picLocks noChangeAspect="1"/>
          </p:cNvPicPr>
          <p:nvPr/>
        </p:nvPicPr>
        <p:blipFill>
          <a:blip r:embed="rId4" cstate="print">
            <a:extLst>
              <a:ext uri="{BEBA8EAE-BF5A-486C-A8C5-ECC9F3942E4B}">
                <a14:imgProps xmlns:a14="http://schemas.microsoft.com/office/drawing/2010/main">
                  <a14:imgLayer r:embed="rId5">
                    <a14:imgEffect>
                      <a14:saturation sat="315000"/>
                    </a14:imgEffect>
                  </a14:imgLayer>
                </a14:imgProps>
              </a:ext>
              <a:ext uri="{28A0092B-C50C-407E-A947-70E740481C1C}">
                <a14:useLocalDpi xmlns:a14="http://schemas.microsoft.com/office/drawing/2010/main"/>
              </a:ext>
            </a:extLst>
          </a:blip>
          <a:stretch>
            <a:fillRect/>
          </a:stretch>
        </p:blipFill>
        <p:spPr>
          <a:xfrm>
            <a:off x="885919" y="1333952"/>
            <a:ext cx="473754" cy="346330"/>
          </a:xfrm>
          <a:prstGeom prst="rect">
            <a:avLst/>
          </a:prstGeom>
        </p:spPr>
      </p:pic>
      <p:pic>
        <p:nvPicPr>
          <p:cNvPr id="11" name="Picture 10"/>
          <p:cNvPicPr>
            <a:picLocks noChangeAspect="1"/>
          </p:cNvPicPr>
          <p:nvPr/>
        </p:nvPicPr>
        <p:blipFill>
          <a:blip r:embed="rId4" cstate="print">
            <a:extLst>
              <a:ext uri="{BEBA8EAE-BF5A-486C-A8C5-ECC9F3942E4B}">
                <a14:imgProps xmlns:a14="http://schemas.microsoft.com/office/drawing/2010/main">
                  <a14:imgLayer r:embed="rId5">
                    <a14:imgEffect>
                      <a14:saturation sat="315000"/>
                    </a14:imgEffect>
                  </a14:imgLayer>
                </a14:imgProps>
              </a:ext>
              <a:ext uri="{28A0092B-C50C-407E-A947-70E740481C1C}">
                <a14:useLocalDpi xmlns:a14="http://schemas.microsoft.com/office/drawing/2010/main"/>
              </a:ext>
            </a:extLst>
          </a:blip>
          <a:stretch>
            <a:fillRect/>
          </a:stretch>
        </p:blipFill>
        <p:spPr>
          <a:xfrm rot="10649059">
            <a:off x="10307299" y="2362386"/>
            <a:ext cx="473754" cy="346330"/>
          </a:xfrm>
          <a:prstGeom prst="rect">
            <a:avLst/>
          </a:prstGeom>
        </p:spPr>
      </p:pic>
      <p:pic>
        <p:nvPicPr>
          <p:cNvPr id="12" name="Picture 11">
            <a:extLst>
              <a:ext uri="{FF2B5EF4-FFF2-40B4-BE49-F238E27FC236}">
                <a16:creationId xmlns="" xmlns:a16="http://schemas.microsoft.com/office/drawing/2014/main" id="{15C2594A-CCCC-4870-8642-665DA87A08BB}"/>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10477175" y="5450850"/>
            <a:ext cx="1562425" cy="1562425"/>
          </a:xfrm>
          <a:prstGeom prst="rect">
            <a:avLst/>
          </a:prstGeom>
        </p:spPr>
      </p:pic>
    </p:spTree>
    <p:extLst>
      <p:ext uri="{BB962C8B-B14F-4D97-AF65-F5344CB8AC3E}">
        <p14:creationId xmlns:p14="http://schemas.microsoft.com/office/powerpoint/2010/main" val="27254401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90411FE-F426-8D49-82D8-99B69C723D30}" type="slidenum">
              <a:rPr lang="en-US" smtClean="0"/>
              <a:t>10</a:t>
            </a:fld>
            <a:endParaRPr lang="en-US" dirty="0"/>
          </a:p>
        </p:txBody>
      </p:sp>
      <p:sp>
        <p:nvSpPr>
          <p:cNvPr id="3" name="Content Placeholder 7"/>
          <p:cNvSpPr txBox="1">
            <a:spLocks/>
          </p:cNvSpPr>
          <p:nvPr/>
        </p:nvSpPr>
        <p:spPr>
          <a:xfrm>
            <a:off x="263525" y="267151"/>
            <a:ext cx="9531350" cy="7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0"/>
              </a:spcBef>
              <a:buNone/>
            </a:pPr>
            <a:r>
              <a:rPr lang="en-US" sz="3200" b="1" dirty="0">
                <a:latin typeface="+mj-lt"/>
                <a:ea typeface="Calibri"/>
                <a:cs typeface="Calibri"/>
                <a:sym typeface="Calibri"/>
              </a:rPr>
              <a:t>Past: Imperative Web Frameworks</a:t>
            </a:r>
          </a:p>
          <a:p>
            <a:pPr>
              <a:spcBef>
                <a:spcPts val="0"/>
              </a:spcBef>
              <a:buFont typeface="Arial"/>
              <a:buNone/>
            </a:pPr>
            <a:endParaRPr lang="en-US" dirty="0"/>
          </a:p>
          <a:p>
            <a:pPr marL="0" indent="0">
              <a:buFont typeface="Arial"/>
              <a:buNone/>
            </a:pP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376090" y="3323796"/>
            <a:ext cx="3968421" cy="2777895"/>
          </a:xfrm>
          <a:prstGeom prst="rect">
            <a:avLst/>
          </a:prstGeom>
        </p:spPr>
      </p:pic>
      <p:pic>
        <p:nvPicPr>
          <p:cNvPr id="5" name="Picture 4"/>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5684253" y="3852737"/>
            <a:ext cx="5979107" cy="2074989"/>
          </a:xfrm>
          <a:prstGeom prst="rect">
            <a:avLst/>
          </a:prstGeom>
        </p:spPr>
      </p:pic>
      <p:sp>
        <p:nvSpPr>
          <p:cNvPr id="6" name="TextBox 5"/>
          <p:cNvSpPr txBox="1"/>
          <p:nvPr/>
        </p:nvSpPr>
        <p:spPr>
          <a:xfrm>
            <a:off x="2533859" y="1202670"/>
            <a:ext cx="7053054" cy="1938992"/>
          </a:xfrm>
          <a:prstGeom prst="rect">
            <a:avLst/>
          </a:prstGeom>
          <a:noFill/>
        </p:spPr>
        <p:txBody>
          <a:bodyPr wrap="square" rtlCol="0">
            <a:spAutoFit/>
          </a:bodyPr>
          <a:lstStyle/>
          <a:p>
            <a:pPr algn="just"/>
            <a:r>
              <a:rPr lang="en-US" sz="2400" i="1" dirty="0">
                <a:latin typeface="+mj-lt"/>
              </a:rPr>
              <a:t>The controller is essential and explicit: you have to specify what to do when you receive user requests and what resources you are going to mobilize to carry out the necessary tasks outlined in the model. </a:t>
            </a:r>
          </a:p>
          <a:p>
            <a:pPr algn="just"/>
            <a:r>
              <a:rPr lang="en-US" sz="2400" i="1" dirty="0">
                <a:latin typeface="+mj-lt"/>
              </a:rPr>
              <a:t>                                     (Ribeiro 2016)</a:t>
            </a:r>
          </a:p>
        </p:txBody>
      </p:sp>
      <p:sp>
        <p:nvSpPr>
          <p:cNvPr id="7" name="TextBox 6"/>
          <p:cNvSpPr txBox="1"/>
          <p:nvPr/>
        </p:nvSpPr>
        <p:spPr>
          <a:xfrm>
            <a:off x="6060386" y="6014024"/>
            <a:ext cx="5532296" cy="707886"/>
          </a:xfrm>
          <a:prstGeom prst="rect">
            <a:avLst/>
          </a:prstGeom>
          <a:noFill/>
        </p:spPr>
        <p:txBody>
          <a:bodyPr wrap="square" rtlCol="0">
            <a:spAutoFit/>
          </a:bodyPr>
          <a:lstStyle/>
          <a:p>
            <a:pPr algn="ctr"/>
            <a:r>
              <a:rPr lang="en-US" sz="2000" dirty="0"/>
              <a:t>The Model-View-Controller was invented at Xerox Parc by Trygve Reenskaug in 1979.</a:t>
            </a:r>
          </a:p>
        </p:txBody>
      </p:sp>
      <p:pic>
        <p:nvPicPr>
          <p:cNvPr id="8" name="Picture 7"/>
          <p:cNvPicPr>
            <a:picLocks noChangeAspect="1"/>
          </p:cNvPicPr>
          <p:nvPr/>
        </p:nvPicPr>
        <p:blipFill>
          <a:blip r:embed="rId5" cstate="print">
            <a:extLst>
              <a:ext uri="{BEBA8EAE-BF5A-486C-A8C5-ECC9F3942E4B}">
                <a14:imgProps xmlns:a14="http://schemas.microsoft.com/office/drawing/2010/main">
                  <a14:imgLayer r:embed="rId6">
                    <a14:imgEffect>
                      <a14:saturation sat="315000"/>
                    </a14:imgEffect>
                  </a14:imgLayer>
                </a14:imgProps>
              </a:ext>
              <a:ext uri="{28A0092B-C50C-407E-A947-70E740481C1C}">
                <a14:useLocalDpi xmlns:a14="http://schemas.microsoft.com/office/drawing/2010/main"/>
              </a:ext>
            </a:extLst>
          </a:blip>
          <a:stretch>
            <a:fillRect/>
          </a:stretch>
        </p:blipFill>
        <p:spPr>
          <a:xfrm>
            <a:off x="1897972" y="1020536"/>
            <a:ext cx="516616" cy="377664"/>
          </a:xfrm>
          <a:prstGeom prst="rect">
            <a:avLst/>
          </a:prstGeom>
        </p:spPr>
      </p:pic>
      <p:pic>
        <p:nvPicPr>
          <p:cNvPr id="9" name="Picture 8"/>
          <p:cNvPicPr>
            <a:picLocks noChangeAspect="1"/>
          </p:cNvPicPr>
          <p:nvPr/>
        </p:nvPicPr>
        <p:blipFill>
          <a:blip r:embed="rId5" cstate="print">
            <a:extLst>
              <a:ext uri="{BEBA8EAE-BF5A-486C-A8C5-ECC9F3942E4B}">
                <a14:imgProps xmlns:a14="http://schemas.microsoft.com/office/drawing/2010/main">
                  <a14:imgLayer r:embed="rId6">
                    <a14:imgEffect>
                      <a14:saturation sat="315000"/>
                    </a14:imgEffect>
                  </a14:imgLayer>
                </a14:imgProps>
              </a:ext>
              <a:ext uri="{28A0092B-C50C-407E-A947-70E740481C1C}">
                <a14:useLocalDpi xmlns:a14="http://schemas.microsoft.com/office/drawing/2010/main"/>
              </a:ext>
            </a:extLst>
          </a:blip>
          <a:stretch>
            <a:fillRect/>
          </a:stretch>
        </p:blipFill>
        <p:spPr>
          <a:xfrm rot="10800000">
            <a:off x="9278259" y="2553415"/>
            <a:ext cx="516616" cy="377664"/>
          </a:xfrm>
          <a:prstGeom prst="rect">
            <a:avLst/>
          </a:prstGeom>
        </p:spPr>
      </p:pic>
    </p:spTree>
    <p:extLst>
      <p:ext uri="{BB962C8B-B14F-4D97-AF65-F5344CB8AC3E}">
        <p14:creationId xmlns:p14="http://schemas.microsoft.com/office/powerpoint/2010/main" val="15963870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90411FE-F426-8D49-82D8-99B69C723D30}" type="slidenum">
              <a:rPr lang="en-US" smtClean="0"/>
              <a:t>11</a:t>
            </a:fld>
            <a:endParaRPr lang="en-US" dirty="0"/>
          </a:p>
        </p:txBody>
      </p:sp>
      <p:sp>
        <p:nvSpPr>
          <p:cNvPr id="3" name="Content Placeholder 7"/>
          <p:cNvSpPr txBox="1">
            <a:spLocks/>
          </p:cNvSpPr>
          <p:nvPr/>
        </p:nvSpPr>
        <p:spPr>
          <a:xfrm>
            <a:off x="263525" y="267151"/>
            <a:ext cx="9531350" cy="7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0"/>
              </a:spcBef>
              <a:buNone/>
            </a:pPr>
            <a:r>
              <a:rPr lang="en-US" sz="3200" b="1" dirty="0">
                <a:latin typeface="+mj-lt"/>
                <a:ea typeface="Calibri"/>
                <a:cs typeface="Calibri"/>
                <a:sym typeface="Calibri"/>
              </a:rPr>
              <a:t>Present: Reactive Web Frameworks</a:t>
            </a:r>
          </a:p>
          <a:p>
            <a:pPr>
              <a:spcBef>
                <a:spcPts val="0"/>
              </a:spcBef>
              <a:buFont typeface="Arial"/>
              <a:buNone/>
            </a:pPr>
            <a:endParaRPr lang="en-US" dirty="0"/>
          </a:p>
          <a:p>
            <a:pPr marL="0" indent="0">
              <a:buFont typeface="Arial"/>
              <a:buNone/>
            </a:pPr>
            <a:endParaRPr lang="en-US" dirty="0"/>
          </a:p>
        </p:txBody>
      </p:sp>
      <p:sp>
        <p:nvSpPr>
          <p:cNvPr id="6" name="TextBox 5"/>
          <p:cNvSpPr txBox="1"/>
          <p:nvPr/>
        </p:nvSpPr>
        <p:spPr>
          <a:xfrm>
            <a:off x="2597749" y="5090476"/>
            <a:ext cx="6767368" cy="954107"/>
          </a:xfrm>
          <a:prstGeom prst="rect">
            <a:avLst/>
          </a:prstGeom>
          <a:noFill/>
        </p:spPr>
        <p:txBody>
          <a:bodyPr wrap="square" rtlCol="0">
            <a:spAutoFit/>
          </a:bodyPr>
          <a:lstStyle/>
          <a:p>
            <a:pPr algn="just"/>
            <a:r>
              <a:rPr lang="en-US" sz="2800" i="1" dirty="0">
                <a:latin typeface="+mj-lt"/>
              </a:rPr>
              <a:t>Reactive Systems are highly responsive, giving users effective interactive feedback.</a:t>
            </a:r>
          </a:p>
        </p:txBody>
      </p:sp>
      <p:pic>
        <p:nvPicPr>
          <p:cNvPr id="8" name="Picture 7"/>
          <p:cNvPicPr>
            <a:picLocks noChangeAspect="1"/>
          </p:cNvPicPr>
          <p:nvPr/>
        </p:nvPicPr>
        <p:blipFill>
          <a:blip r:embed="rId3" cstate="print">
            <a:extLst>
              <a:ext uri="{BEBA8EAE-BF5A-486C-A8C5-ECC9F3942E4B}">
                <a14:imgProps xmlns:a14="http://schemas.microsoft.com/office/drawing/2010/main">
                  <a14:imgLayer r:embed="rId4">
                    <a14:imgEffect>
                      <a14:saturation sat="315000"/>
                    </a14:imgEffect>
                  </a14:imgLayer>
                </a14:imgProps>
              </a:ext>
              <a:ext uri="{28A0092B-C50C-407E-A947-70E740481C1C}">
                <a14:useLocalDpi xmlns:a14="http://schemas.microsoft.com/office/drawing/2010/main"/>
              </a:ext>
            </a:extLst>
          </a:blip>
          <a:stretch>
            <a:fillRect/>
          </a:stretch>
        </p:blipFill>
        <p:spPr>
          <a:xfrm>
            <a:off x="2081133" y="4853464"/>
            <a:ext cx="516616" cy="377664"/>
          </a:xfrm>
          <a:prstGeom prst="rect">
            <a:avLst/>
          </a:prstGeom>
        </p:spPr>
      </p:pic>
      <p:pic>
        <p:nvPicPr>
          <p:cNvPr id="9" name="Picture 8"/>
          <p:cNvPicPr>
            <a:picLocks noChangeAspect="1"/>
          </p:cNvPicPr>
          <p:nvPr/>
        </p:nvPicPr>
        <p:blipFill>
          <a:blip r:embed="rId3" cstate="print">
            <a:extLst>
              <a:ext uri="{BEBA8EAE-BF5A-486C-A8C5-ECC9F3942E4B}">
                <a14:imgProps xmlns:a14="http://schemas.microsoft.com/office/drawing/2010/main">
                  <a14:imgLayer r:embed="rId4">
                    <a14:imgEffect>
                      <a14:saturation sat="315000"/>
                    </a14:imgEffect>
                  </a14:imgLayer>
                </a14:imgProps>
              </a:ext>
              <a:ext uri="{28A0092B-C50C-407E-A947-70E740481C1C}">
                <a14:useLocalDpi xmlns:a14="http://schemas.microsoft.com/office/drawing/2010/main"/>
              </a:ext>
            </a:extLst>
          </a:blip>
          <a:stretch>
            <a:fillRect/>
          </a:stretch>
        </p:blipFill>
        <p:spPr>
          <a:xfrm rot="10800000">
            <a:off x="9106809" y="5784417"/>
            <a:ext cx="516616" cy="377664"/>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081133" y="1455412"/>
            <a:ext cx="7571673" cy="3191806"/>
          </a:xfrm>
          <a:prstGeom prst="rect">
            <a:avLst/>
          </a:prstGeom>
        </p:spPr>
      </p:pic>
      <p:sp>
        <p:nvSpPr>
          <p:cNvPr id="11" name="TextBox 10"/>
          <p:cNvSpPr txBox="1"/>
          <p:nvPr/>
        </p:nvSpPr>
        <p:spPr>
          <a:xfrm>
            <a:off x="2718554" y="6279578"/>
            <a:ext cx="6646563" cy="800219"/>
          </a:xfrm>
          <a:prstGeom prst="rect">
            <a:avLst/>
          </a:prstGeom>
          <a:noFill/>
        </p:spPr>
        <p:txBody>
          <a:bodyPr wrap="none" rtlCol="0">
            <a:spAutoFit/>
          </a:bodyPr>
          <a:lstStyle/>
          <a:p>
            <a:r>
              <a:rPr lang="en-US" sz="1400" dirty="0"/>
              <a:t>Reactive Manifesto - </a:t>
            </a:r>
            <a:r>
              <a:rPr lang="en-US" sz="1400" dirty="0">
                <a:hlinkClick r:id="rId6"/>
              </a:rPr>
              <a:t>http://www.reactivemanifesto.org/</a:t>
            </a:r>
            <a:endParaRPr lang="en-US" sz="1400" dirty="0"/>
          </a:p>
          <a:p>
            <a:r>
              <a:rPr lang="en-US" sz="1400" dirty="0"/>
              <a:t>Image credit: http://littleactuary.github.io/blog/Web-application-framework-with-Shiny/</a:t>
            </a:r>
          </a:p>
          <a:p>
            <a:endParaRPr lang="en-US" dirty="0"/>
          </a:p>
        </p:txBody>
      </p:sp>
      <p:pic>
        <p:nvPicPr>
          <p:cNvPr id="12" name="Picture 11">
            <a:extLst>
              <a:ext uri="{FF2B5EF4-FFF2-40B4-BE49-F238E27FC236}">
                <a16:creationId xmlns="" xmlns:a16="http://schemas.microsoft.com/office/drawing/2014/main" id="{7B4A8F5D-940B-4294-B6F5-10BBCC1B405F}"/>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10477175" y="5450850"/>
            <a:ext cx="1562425" cy="1562425"/>
          </a:xfrm>
          <a:prstGeom prst="rect">
            <a:avLst/>
          </a:prstGeom>
        </p:spPr>
      </p:pic>
    </p:spTree>
    <p:extLst>
      <p:ext uri="{BB962C8B-B14F-4D97-AF65-F5344CB8AC3E}">
        <p14:creationId xmlns:p14="http://schemas.microsoft.com/office/powerpoint/2010/main" val="12625272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90411FE-F426-8D49-82D8-99B69C723D30}" type="slidenum">
              <a:rPr lang="en-US" smtClean="0"/>
              <a:t>12</a:t>
            </a:fld>
            <a:endParaRPr lang="en-US" dirty="0"/>
          </a:p>
        </p:txBody>
      </p:sp>
      <p:sp>
        <p:nvSpPr>
          <p:cNvPr id="3" name="Content Placeholder 7"/>
          <p:cNvSpPr txBox="1">
            <a:spLocks/>
          </p:cNvSpPr>
          <p:nvPr/>
        </p:nvSpPr>
        <p:spPr>
          <a:xfrm>
            <a:off x="263525" y="267151"/>
            <a:ext cx="9531350" cy="7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0"/>
              </a:spcBef>
              <a:buNone/>
            </a:pPr>
            <a:r>
              <a:rPr lang="en-US" sz="3200" b="1" dirty="0">
                <a:latin typeface="+mj-lt"/>
                <a:ea typeface="Calibri"/>
                <a:cs typeface="Calibri"/>
                <a:sym typeface="Calibri"/>
              </a:rPr>
              <a:t>General Architecture</a:t>
            </a:r>
          </a:p>
          <a:p>
            <a:pPr>
              <a:spcBef>
                <a:spcPts val="0"/>
              </a:spcBef>
              <a:buFont typeface="Arial"/>
              <a:buNone/>
            </a:pPr>
            <a:endParaRPr lang="en-US" dirty="0"/>
          </a:p>
          <a:p>
            <a:pPr marL="0" indent="0">
              <a:buFont typeface="Arial"/>
              <a:buNone/>
            </a:pPr>
            <a:endParaRPr lang="en-US" dirty="0"/>
          </a:p>
        </p:txBody>
      </p:sp>
      <p:pic>
        <p:nvPicPr>
          <p:cNvPr id="10" name="Picture 9"/>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243229" y="1526848"/>
            <a:ext cx="7551646" cy="4131002"/>
          </a:xfrm>
          <a:prstGeom prst="rect">
            <a:avLst/>
          </a:prstGeom>
        </p:spPr>
      </p:pic>
      <p:sp>
        <p:nvSpPr>
          <p:cNvPr id="4" name="TextBox 3"/>
          <p:cNvSpPr txBox="1"/>
          <p:nvPr/>
        </p:nvSpPr>
        <p:spPr>
          <a:xfrm>
            <a:off x="3056940" y="6538911"/>
            <a:ext cx="6737935" cy="307777"/>
          </a:xfrm>
          <a:prstGeom prst="rect">
            <a:avLst/>
          </a:prstGeom>
          <a:noFill/>
        </p:spPr>
        <p:txBody>
          <a:bodyPr wrap="none" rtlCol="0">
            <a:spAutoFit/>
          </a:bodyPr>
          <a:lstStyle/>
          <a:p>
            <a:r>
              <a:rPr lang="en-US" sz="1400" smtClean="0"/>
              <a:t>Image Credits: http</a:t>
            </a:r>
            <a:r>
              <a:rPr lang="en-US" sz="1400" dirty="0"/>
              <a:t>://littleactuary.github.io/blog/Web-application-framework-with-Shiny/</a:t>
            </a:r>
          </a:p>
        </p:txBody>
      </p:sp>
      <p:pic>
        <p:nvPicPr>
          <p:cNvPr id="7" name="Picture 6"/>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226327" y="3895371"/>
            <a:ext cx="730250" cy="1337326"/>
          </a:xfrm>
          <a:prstGeom prst="rect">
            <a:avLst/>
          </a:prstGeom>
        </p:spPr>
      </p:pic>
      <p:pic>
        <p:nvPicPr>
          <p:cNvPr id="12" name="Picture 11"/>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3769489" y="4364336"/>
            <a:ext cx="1174084" cy="868361"/>
          </a:xfrm>
          <a:prstGeom prst="rect">
            <a:avLst/>
          </a:prstGeom>
        </p:spPr>
      </p:pic>
      <p:pic>
        <p:nvPicPr>
          <p:cNvPr id="13" name="Picture 12"/>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6899486" y="4131351"/>
            <a:ext cx="2144501" cy="1256544"/>
          </a:xfrm>
          <a:prstGeom prst="rect">
            <a:avLst/>
          </a:prstGeom>
        </p:spPr>
      </p:pic>
      <p:pic>
        <p:nvPicPr>
          <p:cNvPr id="9" name="Picture 8">
            <a:extLst>
              <a:ext uri="{FF2B5EF4-FFF2-40B4-BE49-F238E27FC236}">
                <a16:creationId xmlns="" xmlns:a16="http://schemas.microsoft.com/office/drawing/2014/main" id="{9D85154B-E46B-476D-B459-3258EDF4AC40}"/>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10477175" y="5450850"/>
            <a:ext cx="1562425" cy="1562425"/>
          </a:xfrm>
          <a:prstGeom prst="rect">
            <a:avLst/>
          </a:prstGeom>
        </p:spPr>
      </p:pic>
    </p:spTree>
    <p:extLst>
      <p:ext uri="{BB962C8B-B14F-4D97-AF65-F5344CB8AC3E}">
        <p14:creationId xmlns:p14="http://schemas.microsoft.com/office/powerpoint/2010/main" val="16710662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3600" dirty="0"/>
              <a:t>Web Visualization Framework:</a:t>
            </a:r>
          </a:p>
          <a:p>
            <a:pPr marL="0" marR="0" lvl="0" indent="0" algn="ctr" defTabSz="914400" eaLnBrk="1" fontAlgn="auto" latinLnBrk="0" hangingPunct="1">
              <a:lnSpc>
                <a:spcPct val="100000"/>
              </a:lnSpc>
              <a:spcBef>
                <a:spcPts val="0"/>
              </a:spcBef>
              <a:spcAft>
                <a:spcPts val="0"/>
              </a:spcAft>
              <a:buClrTx/>
              <a:buSzTx/>
              <a:buFontTx/>
              <a:buNone/>
              <a:tabLst/>
              <a:defRPr/>
            </a:pPr>
            <a:r>
              <a:rPr lang="en-US" sz="3600" dirty="0"/>
              <a:t>Shiny</a:t>
            </a:r>
          </a:p>
        </p:txBody>
      </p:sp>
      <p:sp>
        <p:nvSpPr>
          <p:cNvPr id="2" name="Slide Number Placeholder 1"/>
          <p:cNvSpPr>
            <a:spLocks noGrp="1"/>
          </p:cNvSpPr>
          <p:nvPr>
            <p:ph type="sldNum" sz="quarter" idx="12"/>
          </p:nvPr>
        </p:nvSpPr>
        <p:spPr>
          <a:xfrm>
            <a:off x="9296400" y="6356349"/>
            <a:ext cx="2743200" cy="365125"/>
          </a:xfrm>
        </p:spPr>
        <p:txBody>
          <a:bodyPr/>
          <a:lstStyle/>
          <a:p>
            <a:fld id="{290411FE-F426-8D49-82D8-99B69C723D30}" type="slidenum">
              <a:rPr lang="en-US" smtClean="0"/>
              <a:t>13</a:t>
            </a:fld>
            <a:endParaRPr lang="en-US"/>
          </a:p>
        </p:txBody>
      </p:sp>
      <p:pic>
        <p:nvPicPr>
          <p:cNvPr id="4" name="Shape 219" descr="bottom-test-1.4.png"/>
          <p:cNvPicPr preferRelativeResize="0"/>
          <p:nvPr/>
        </p:nvPicPr>
        <p:blipFill>
          <a:blip r:embed="rId3" cstate="print">
            <a:alphaModFix amt="25000"/>
            <a:extLst>
              <a:ext uri="{28A0092B-C50C-407E-A947-70E740481C1C}">
                <a14:useLocalDpi xmlns:a14="http://schemas.microsoft.com/office/drawing/2010/main"/>
              </a:ext>
            </a:extLst>
          </a:blip>
          <a:stretch>
            <a:fillRect/>
          </a:stretch>
        </p:blipFill>
        <p:spPr>
          <a:xfrm>
            <a:off x="-7" y="5401200"/>
            <a:ext cx="9526392" cy="1467534"/>
          </a:xfrm>
          <a:prstGeom prst="rect">
            <a:avLst/>
          </a:prstGeom>
          <a:noFill/>
          <a:ln>
            <a:noFill/>
          </a:ln>
        </p:spPr>
      </p:pic>
      <p:pic>
        <p:nvPicPr>
          <p:cNvPr id="6" name="Picture 5">
            <a:extLst>
              <a:ext uri="{FF2B5EF4-FFF2-40B4-BE49-F238E27FC236}">
                <a16:creationId xmlns="" xmlns:a16="http://schemas.microsoft.com/office/drawing/2014/main" id="{7A26DB18-A815-4B65-97ED-56D7868A45A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376814" y="-69528"/>
            <a:ext cx="1562425" cy="1562425"/>
          </a:xfrm>
          <a:prstGeom prst="rect">
            <a:avLst/>
          </a:prstGeom>
        </p:spPr>
      </p:pic>
    </p:spTree>
    <p:extLst>
      <p:ext uri="{BB962C8B-B14F-4D97-AF65-F5344CB8AC3E}">
        <p14:creationId xmlns:p14="http://schemas.microsoft.com/office/powerpoint/2010/main" val="5667274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9296400" y="6356349"/>
            <a:ext cx="2743200" cy="365125"/>
          </a:xfrm>
        </p:spPr>
        <p:txBody>
          <a:bodyPr/>
          <a:lstStyle/>
          <a:p>
            <a:fld id="{290411FE-F426-8D49-82D8-99B69C723D30}" type="slidenum">
              <a:rPr lang="en-US" smtClean="0"/>
              <a:t>14</a:t>
            </a:fld>
            <a:endParaRPr lang="en-US"/>
          </a:p>
        </p:txBody>
      </p:sp>
      <p:pic>
        <p:nvPicPr>
          <p:cNvPr id="4" name="Picture 3"/>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8823" y="6285479"/>
            <a:ext cx="1058844" cy="435995"/>
          </a:xfrm>
          <a:prstGeom prst="rect">
            <a:avLst/>
          </a:prstGeom>
        </p:spPr>
      </p:pic>
      <p:sp>
        <p:nvSpPr>
          <p:cNvPr id="6" name="Content Placeholder 7"/>
          <p:cNvSpPr txBox="1">
            <a:spLocks/>
          </p:cNvSpPr>
          <p:nvPr/>
        </p:nvSpPr>
        <p:spPr>
          <a:xfrm>
            <a:off x="168823" y="424314"/>
            <a:ext cx="9531350" cy="7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0"/>
              </a:spcBef>
              <a:buFont typeface="Arial"/>
              <a:buNone/>
            </a:pPr>
            <a:r>
              <a:rPr lang="en-US" sz="3200" dirty="0">
                <a:ea typeface="Calibri"/>
                <a:cs typeface="Calibri"/>
                <a:sym typeface="Calibri"/>
              </a:rPr>
              <a:t>Shiny Application</a:t>
            </a:r>
          </a:p>
          <a:p>
            <a:pPr>
              <a:spcBef>
                <a:spcPts val="0"/>
              </a:spcBef>
              <a:buFont typeface="Arial"/>
              <a:buNone/>
            </a:pPr>
            <a:endParaRPr lang="en-US" dirty="0"/>
          </a:p>
          <a:p>
            <a:pPr marL="0" indent="0">
              <a:buFont typeface="Arial"/>
              <a:buNone/>
            </a:pPr>
            <a:endParaRPr lang="en-US" dirty="0"/>
          </a:p>
        </p:txBody>
      </p:sp>
      <p:pic>
        <p:nvPicPr>
          <p:cNvPr id="5" name="Picture 4"/>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48223" y="1369005"/>
            <a:ext cx="8143875" cy="4580930"/>
          </a:xfrm>
          <a:prstGeom prst="rect">
            <a:avLst/>
          </a:prstGeom>
        </p:spPr>
        <p:style>
          <a:lnRef idx="2">
            <a:schemeClr val="dk1"/>
          </a:lnRef>
          <a:fillRef idx="1">
            <a:schemeClr val="lt1"/>
          </a:fillRef>
          <a:effectRef idx="0">
            <a:schemeClr val="dk1"/>
          </a:effectRef>
          <a:fontRef idx="minor">
            <a:schemeClr val="dk1"/>
          </a:fontRef>
        </p:style>
      </p:pic>
      <p:sp>
        <p:nvSpPr>
          <p:cNvPr id="7" name="TextBox 6"/>
          <p:cNvSpPr txBox="1"/>
          <p:nvPr/>
        </p:nvSpPr>
        <p:spPr>
          <a:xfrm>
            <a:off x="8815388" y="1612756"/>
            <a:ext cx="3224212" cy="3477875"/>
          </a:xfrm>
          <a:prstGeom prst="rect">
            <a:avLst/>
          </a:prstGeom>
          <a:noFill/>
        </p:spPr>
        <p:txBody>
          <a:bodyPr wrap="square" rtlCol="0">
            <a:spAutoFit/>
          </a:bodyPr>
          <a:lstStyle/>
          <a:p>
            <a:pPr marL="457200" indent="-457200">
              <a:buFont typeface="+mj-lt"/>
              <a:buAutoNum type="arabicPeriod"/>
            </a:pPr>
            <a:r>
              <a:rPr lang="en-US" sz="2000" dirty="0"/>
              <a:t>Primary language: R</a:t>
            </a:r>
          </a:p>
          <a:p>
            <a:pPr marL="457200" indent="-457200">
              <a:buFont typeface="+mj-lt"/>
              <a:buAutoNum type="arabicPeriod"/>
            </a:pPr>
            <a:r>
              <a:rPr lang="en-US" sz="2000" dirty="0"/>
              <a:t>Shiny is an R package open-sourced by Rstudio in 2012</a:t>
            </a:r>
          </a:p>
          <a:p>
            <a:pPr marL="457200" indent="-457200">
              <a:buFont typeface="+mj-lt"/>
              <a:buAutoNum type="arabicPeriod"/>
            </a:pPr>
            <a:r>
              <a:rPr lang="en-US" sz="2000" dirty="0"/>
              <a:t>HTML, CSS, JavaScript, D3 - optional</a:t>
            </a:r>
          </a:p>
          <a:p>
            <a:pPr marL="457200" indent="-457200">
              <a:buFont typeface="+mj-lt"/>
              <a:buAutoNum type="arabicPeriod"/>
            </a:pPr>
            <a:r>
              <a:rPr lang="en-US" sz="2000" dirty="0"/>
              <a:t>Shiny dashboards are comparable to Business Intelligence (BI) tools, such as Tableau, Spotfire, Qlikview</a:t>
            </a:r>
          </a:p>
        </p:txBody>
      </p:sp>
      <p:pic>
        <p:nvPicPr>
          <p:cNvPr id="8" name="Picture 7">
            <a:extLst>
              <a:ext uri="{FF2B5EF4-FFF2-40B4-BE49-F238E27FC236}">
                <a16:creationId xmlns="" xmlns:a16="http://schemas.microsoft.com/office/drawing/2014/main" id="{8ACF37DC-C8B1-487F-917C-80B54B68CA0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0477175" y="5450850"/>
            <a:ext cx="1562425" cy="1562425"/>
          </a:xfrm>
          <a:prstGeom prst="rect">
            <a:avLst/>
          </a:prstGeom>
        </p:spPr>
      </p:pic>
    </p:spTree>
    <p:extLst>
      <p:ext uri="{BB962C8B-B14F-4D97-AF65-F5344CB8AC3E}">
        <p14:creationId xmlns:p14="http://schemas.microsoft.com/office/powerpoint/2010/main" val="3414225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9296400" y="6356349"/>
            <a:ext cx="2743200" cy="365125"/>
          </a:xfrm>
        </p:spPr>
        <p:txBody>
          <a:bodyPr/>
          <a:lstStyle/>
          <a:p>
            <a:fld id="{290411FE-F426-8D49-82D8-99B69C723D30}" type="slidenum">
              <a:rPr lang="en-US" smtClean="0"/>
              <a:t>15</a:t>
            </a:fld>
            <a:endParaRPr lang="en-US"/>
          </a:p>
        </p:txBody>
      </p:sp>
      <p:pic>
        <p:nvPicPr>
          <p:cNvPr id="4" name="Picture 3"/>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8823" y="6285479"/>
            <a:ext cx="1058844" cy="435995"/>
          </a:xfrm>
          <a:prstGeom prst="rect">
            <a:avLst/>
          </a:prstGeom>
        </p:spPr>
      </p:pic>
      <p:sp>
        <p:nvSpPr>
          <p:cNvPr id="6" name="Content Placeholder 7"/>
          <p:cNvSpPr txBox="1">
            <a:spLocks/>
          </p:cNvSpPr>
          <p:nvPr/>
        </p:nvSpPr>
        <p:spPr>
          <a:xfrm>
            <a:off x="168823" y="424314"/>
            <a:ext cx="9531350" cy="7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0"/>
              </a:spcBef>
              <a:buFont typeface="Arial"/>
              <a:buNone/>
            </a:pPr>
            <a:r>
              <a:rPr lang="en-US" sz="3200" dirty="0">
                <a:ea typeface="Calibri"/>
                <a:cs typeface="Calibri"/>
                <a:sym typeface="Calibri"/>
              </a:rPr>
              <a:t>Shiny Application: Get Inspired</a:t>
            </a:r>
          </a:p>
          <a:p>
            <a:pPr>
              <a:spcBef>
                <a:spcPts val="0"/>
              </a:spcBef>
              <a:buFont typeface="Arial"/>
              <a:buNone/>
            </a:pPr>
            <a:endParaRPr lang="en-US" dirty="0"/>
          </a:p>
          <a:p>
            <a:pPr marL="0" indent="0">
              <a:buFont typeface="Arial"/>
              <a:buNone/>
            </a:pPr>
            <a:endParaRPr lang="en-US" dirty="0"/>
          </a:p>
        </p:txBody>
      </p:sp>
      <p:grpSp>
        <p:nvGrpSpPr>
          <p:cNvPr id="8" name="Group 7"/>
          <p:cNvGrpSpPr/>
          <p:nvPr/>
        </p:nvGrpSpPr>
        <p:grpSpPr>
          <a:xfrm>
            <a:off x="828676" y="928688"/>
            <a:ext cx="10771716" cy="5427661"/>
            <a:chOff x="414338" y="2250828"/>
            <a:chExt cx="8177760" cy="3093157"/>
          </a:xfrm>
        </p:grpSpPr>
        <p:pic>
          <p:nvPicPr>
            <p:cNvPr id="5" name="Picture 4"/>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606663" y="2250828"/>
              <a:ext cx="7985435" cy="3093157"/>
            </a:xfrm>
            <a:prstGeom prst="rect">
              <a:avLst/>
            </a:prstGeom>
          </p:spPr>
        </p:pic>
        <p:sp>
          <p:nvSpPr>
            <p:cNvPr id="3" name="Rectangle 2"/>
            <p:cNvSpPr/>
            <p:nvPr/>
          </p:nvSpPr>
          <p:spPr>
            <a:xfrm>
              <a:off x="414338" y="2250828"/>
              <a:ext cx="1800225" cy="13924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p:cNvSpPr txBox="1"/>
          <p:nvPr/>
        </p:nvSpPr>
        <p:spPr>
          <a:xfrm>
            <a:off x="1227667" y="1938330"/>
            <a:ext cx="1538819" cy="400110"/>
          </a:xfrm>
          <a:prstGeom prst="rect">
            <a:avLst/>
          </a:prstGeom>
          <a:noFill/>
        </p:spPr>
        <p:txBody>
          <a:bodyPr wrap="none" rtlCol="0">
            <a:spAutoFit/>
          </a:bodyPr>
          <a:lstStyle/>
          <a:p>
            <a:r>
              <a:rPr lang="en-US" sz="2000" dirty="0"/>
              <a:t>Shiny Gallery</a:t>
            </a:r>
          </a:p>
        </p:txBody>
      </p:sp>
    </p:spTree>
    <p:extLst>
      <p:ext uri="{BB962C8B-B14F-4D97-AF65-F5344CB8AC3E}">
        <p14:creationId xmlns:p14="http://schemas.microsoft.com/office/powerpoint/2010/main" val="8541774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6700" y="2751684"/>
            <a:ext cx="10515600" cy="1521058"/>
          </a:xfrm>
        </p:spPr>
        <p:txBody>
          <a:bodyPr>
            <a:normAutofit/>
          </a:bodyPr>
          <a:lstStyle/>
          <a:p>
            <a:pPr marL="0" lvl="0" indent="0" algn="ctr">
              <a:spcBef>
                <a:spcPts val="0"/>
              </a:spcBef>
              <a:buSzPct val="25000"/>
              <a:buNone/>
            </a:pPr>
            <a:r>
              <a:rPr lang="en-US" sz="3600" dirty="0">
                <a:solidFill>
                  <a:srgbClr val="F2F2F2"/>
                </a:solidFill>
                <a:ea typeface="Calibri"/>
                <a:cs typeface="Calibri"/>
                <a:sym typeface="Calibri"/>
              </a:rPr>
              <a:t>CNS Shiny Framework:</a:t>
            </a:r>
          </a:p>
          <a:p>
            <a:pPr marL="0" lvl="0" indent="0" algn="ctr">
              <a:spcBef>
                <a:spcPts val="0"/>
              </a:spcBef>
              <a:buSzPct val="25000"/>
              <a:buNone/>
            </a:pPr>
            <a:r>
              <a:rPr lang="en-US" sz="3600" dirty="0">
                <a:solidFill>
                  <a:srgbClr val="F2F2F2"/>
                </a:solidFill>
                <a:ea typeface="Calibri"/>
                <a:cs typeface="Calibri"/>
                <a:sym typeface="Calibri"/>
              </a:rPr>
              <a:t>Examples</a:t>
            </a:r>
          </a:p>
        </p:txBody>
      </p:sp>
      <p:sp>
        <p:nvSpPr>
          <p:cNvPr id="2" name="Slide Number Placeholder 1"/>
          <p:cNvSpPr>
            <a:spLocks noGrp="1"/>
          </p:cNvSpPr>
          <p:nvPr>
            <p:ph type="sldNum" sz="quarter" idx="12"/>
          </p:nvPr>
        </p:nvSpPr>
        <p:spPr>
          <a:xfrm>
            <a:off x="9296400" y="6356349"/>
            <a:ext cx="2743200" cy="365125"/>
          </a:xfrm>
        </p:spPr>
        <p:txBody>
          <a:bodyPr/>
          <a:lstStyle/>
          <a:p>
            <a:fld id="{290411FE-F426-8D49-82D8-99B69C723D30}" type="slidenum">
              <a:rPr lang="en-US" smtClean="0"/>
              <a:t>16</a:t>
            </a:fld>
            <a:endParaRPr lang="en-US"/>
          </a:p>
        </p:txBody>
      </p:sp>
      <p:pic>
        <p:nvPicPr>
          <p:cNvPr id="4" name="Shape 219" descr="bottom-test-1.4.png"/>
          <p:cNvPicPr preferRelativeResize="0"/>
          <p:nvPr/>
        </p:nvPicPr>
        <p:blipFill>
          <a:blip r:embed="rId3" cstate="print">
            <a:alphaModFix amt="25000"/>
            <a:extLst>
              <a:ext uri="{28A0092B-C50C-407E-A947-70E740481C1C}">
                <a14:useLocalDpi xmlns:a14="http://schemas.microsoft.com/office/drawing/2010/main"/>
              </a:ext>
            </a:extLst>
          </a:blip>
          <a:stretch>
            <a:fillRect/>
          </a:stretch>
        </p:blipFill>
        <p:spPr>
          <a:xfrm>
            <a:off x="-7" y="5401200"/>
            <a:ext cx="9526392" cy="1467534"/>
          </a:xfrm>
          <a:prstGeom prst="rect">
            <a:avLst/>
          </a:prstGeom>
          <a:noFill/>
          <a:ln>
            <a:noFill/>
          </a:ln>
        </p:spPr>
      </p:pic>
      <p:pic>
        <p:nvPicPr>
          <p:cNvPr id="5" name="Picture 4">
            <a:extLst>
              <a:ext uri="{FF2B5EF4-FFF2-40B4-BE49-F238E27FC236}">
                <a16:creationId xmlns="" xmlns:a16="http://schemas.microsoft.com/office/drawing/2014/main" id="{0DB7B59A-95D6-4C94-92AD-119E69862F9C}"/>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376814" y="-69528"/>
            <a:ext cx="1562425" cy="1562425"/>
          </a:xfrm>
          <a:prstGeom prst="rect">
            <a:avLst/>
          </a:prstGeom>
        </p:spPr>
      </p:pic>
    </p:spTree>
    <p:extLst>
      <p:ext uri="{BB962C8B-B14F-4D97-AF65-F5344CB8AC3E}">
        <p14:creationId xmlns:p14="http://schemas.microsoft.com/office/powerpoint/2010/main" val="11183222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7"/>
          <p:cNvSpPr txBox="1">
            <a:spLocks/>
          </p:cNvSpPr>
          <p:nvPr/>
        </p:nvSpPr>
        <p:spPr>
          <a:xfrm>
            <a:off x="263525" y="267151"/>
            <a:ext cx="9531350" cy="7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0">
              <a:spcBef>
                <a:spcPts val="0"/>
              </a:spcBef>
              <a:buNone/>
            </a:pPr>
            <a:r>
              <a:rPr lang="en-US" sz="3200" dirty="0">
                <a:solidFill>
                  <a:schemeClr val="dk1"/>
                </a:solidFill>
                <a:ea typeface="Calibri"/>
                <a:cs typeface="Calibri"/>
                <a:sym typeface="Calibri"/>
              </a:rPr>
              <a:t>Visualization: Sankey</a:t>
            </a:r>
          </a:p>
          <a:p>
            <a:pPr>
              <a:spcBef>
                <a:spcPts val="0"/>
              </a:spcBef>
              <a:buFont typeface="Arial"/>
              <a:buNone/>
            </a:pPr>
            <a:endParaRPr lang="en-US" dirty="0"/>
          </a:p>
          <a:p>
            <a:pPr marL="0" indent="0">
              <a:buFont typeface="Arial"/>
              <a:buNone/>
            </a:pPr>
            <a:endParaRPr lang="en-US" dirty="0"/>
          </a:p>
        </p:txBody>
      </p:sp>
      <p:sp>
        <p:nvSpPr>
          <p:cNvPr id="3" name="Slide Number Placeholder 1"/>
          <p:cNvSpPr>
            <a:spLocks noGrp="1"/>
          </p:cNvSpPr>
          <p:nvPr>
            <p:ph type="sldNum" sz="quarter" idx="12"/>
          </p:nvPr>
        </p:nvSpPr>
        <p:spPr>
          <a:xfrm>
            <a:off x="9296400" y="6356349"/>
            <a:ext cx="2743200" cy="365125"/>
          </a:xfrm>
        </p:spPr>
        <p:txBody>
          <a:bodyPr/>
          <a:lstStyle/>
          <a:p>
            <a:r>
              <a:rPr lang="en-US" dirty="0"/>
              <a:t>20</a:t>
            </a:r>
          </a:p>
        </p:txBody>
      </p:sp>
      <p:pic>
        <p:nvPicPr>
          <p:cNvPr id="7" name="Shape 349"/>
          <p:cNvPicPr preferRelativeResize="0"/>
          <p:nvPr/>
        </p:nvPicPr>
        <p:blipFill>
          <a:blip r:embed="rId3">
            <a:extLst>
              <a:ext uri="{28A0092B-C50C-407E-A947-70E740481C1C}">
                <a14:useLocalDpi xmlns:a14="http://schemas.microsoft.com/office/drawing/2010/main"/>
              </a:ext>
            </a:extLst>
          </a:blip>
          <a:stretch>
            <a:fillRect/>
          </a:stretch>
        </p:blipFill>
        <p:spPr>
          <a:xfrm>
            <a:off x="867104" y="953600"/>
            <a:ext cx="10765402" cy="5309364"/>
          </a:xfrm>
          <a:prstGeom prst="rect">
            <a:avLst/>
          </a:prstGeom>
          <a:noFill/>
          <a:ln>
            <a:noFill/>
          </a:ln>
        </p:spPr>
      </p:pic>
      <p:sp>
        <p:nvSpPr>
          <p:cNvPr id="8" name="TextBox 7"/>
          <p:cNvSpPr txBox="1"/>
          <p:nvPr/>
        </p:nvSpPr>
        <p:spPr>
          <a:xfrm>
            <a:off x="1453044" y="6356349"/>
            <a:ext cx="10069103" cy="400110"/>
          </a:xfrm>
          <a:prstGeom prst="rect">
            <a:avLst/>
          </a:prstGeom>
          <a:noFill/>
        </p:spPr>
        <p:txBody>
          <a:bodyPr wrap="none" rtlCol="0">
            <a:spAutoFit/>
          </a:bodyPr>
          <a:lstStyle/>
          <a:p>
            <a:r>
              <a:rPr lang="en-US" sz="2000" i="1" dirty="0"/>
              <a:t>Figure </a:t>
            </a:r>
            <a:r>
              <a:rPr lang="en-US" sz="2000" i="1" dirty="0" smtClean="0"/>
              <a:t>3. IU </a:t>
            </a:r>
            <a:r>
              <a:rPr lang="en-US" sz="2000" i="1" dirty="0" smtClean="0">
                <a:solidFill>
                  <a:schemeClr val="dk1"/>
                </a:solidFill>
                <a:ea typeface="Calibri"/>
                <a:cs typeface="Calibri"/>
                <a:sym typeface="Calibri"/>
              </a:rPr>
              <a:t>Information </a:t>
            </a:r>
            <a:r>
              <a:rPr lang="en-US" sz="2000" i="1" dirty="0">
                <a:solidFill>
                  <a:schemeClr val="dk1"/>
                </a:solidFill>
                <a:ea typeface="Calibri"/>
                <a:cs typeface="Calibri"/>
                <a:sym typeface="Calibri"/>
              </a:rPr>
              <a:t>Visualization Massive Open Online Course (IVMOOC) from 2013 – 2015</a:t>
            </a:r>
            <a:endParaRPr lang="en-US" sz="2000" i="1" dirty="0"/>
          </a:p>
        </p:txBody>
      </p:sp>
    </p:spTree>
    <p:extLst>
      <p:ext uri="{BB962C8B-B14F-4D97-AF65-F5344CB8AC3E}">
        <p14:creationId xmlns:p14="http://schemas.microsoft.com/office/powerpoint/2010/main" val="9344483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7"/>
          <p:cNvSpPr txBox="1">
            <a:spLocks/>
          </p:cNvSpPr>
          <p:nvPr/>
        </p:nvSpPr>
        <p:spPr>
          <a:xfrm>
            <a:off x="263525" y="267151"/>
            <a:ext cx="9531350" cy="7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0">
              <a:spcBef>
                <a:spcPts val="0"/>
              </a:spcBef>
              <a:buNone/>
            </a:pPr>
            <a:r>
              <a:rPr lang="en-US" sz="3200" dirty="0">
                <a:solidFill>
                  <a:schemeClr val="dk1"/>
                </a:solidFill>
                <a:ea typeface="Calibri"/>
                <a:cs typeface="Calibri"/>
                <a:sym typeface="Calibri"/>
              </a:rPr>
              <a:t>Visualization: Streamgraph</a:t>
            </a:r>
          </a:p>
          <a:p>
            <a:pPr>
              <a:spcBef>
                <a:spcPts val="0"/>
              </a:spcBef>
              <a:buFont typeface="Arial"/>
              <a:buNone/>
            </a:pPr>
            <a:endParaRPr lang="en-US" dirty="0"/>
          </a:p>
          <a:p>
            <a:pPr marL="0" indent="0">
              <a:buFont typeface="Arial"/>
              <a:buNone/>
            </a:pPr>
            <a:endParaRPr lang="en-US" dirty="0"/>
          </a:p>
        </p:txBody>
      </p:sp>
      <p:sp>
        <p:nvSpPr>
          <p:cNvPr id="3" name="Slide Number Placeholder 1"/>
          <p:cNvSpPr>
            <a:spLocks noGrp="1"/>
          </p:cNvSpPr>
          <p:nvPr>
            <p:ph type="sldNum" sz="quarter" idx="12"/>
          </p:nvPr>
        </p:nvSpPr>
        <p:spPr>
          <a:xfrm>
            <a:off x="9296400" y="6356349"/>
            <a:ext cx="2743200" cy="365125"/>
          </a:xfrm>
        </p:spPr>
        <p:txBody>
          <a:bodyPr/>
          <a:lstStyle/>
          <a:p>
            <a:r>
              <a:rPr lang="en-US" dirty="0"/>
              <a:t>21</a:t>
            </a:r>
          </a:p>
        </p:txBody>
      </p:sp>
      <p:pic>
        <p:nvPicPr>
          <p:cNvPr id="7" name="Shape 349"/>
          <p:cNvPicPr preferRelativeResize="0"/>
          <p:nvPr/>
        </p:nvPicPr>
        <p:blipFill>
          <a:blip r:embed="rId3">
            <a:extLst>
              <a:ext uri="{28A0092B-C50C-407E-A947-70E740481C1C}">
                <a14:useLocalDpi xmlns:a14="http://schemas.microsoft.com/office/drawing/2010/main"/>
              </a:ext>
            </a:extLst>
          </a:blip>
          <a:stretch>
            <a:fillRect/>
          </a:stretch>
        </p:blipFill>
        <p:spPr>
          <a:xfrm>
            <a:off x="1200150" y="1020536"/>
            <a:ext cx="10215564" cy="5335813"/>
          </a:xfrm>
          <a:prstGeom prst="rect">
            <a:avLst/>
          </a:prstGeom>
          <a:noFill/>
          <a:ln>
            <a:noFill/>
          </a:ln>
        </p:spPr>
      </p:pic>
      <p:sp>
        <p:nvSpPr>
          <p:cNvPr id="5" name="TextBox 4"/>
          <p:cNvSpPr txBox="1"/>
          <p:nvPr/>
        </p:nvSpPr>
        <p:spPr>
          <a:xfrm>
            <a:off x="4024550" y="6410583"/>
            <a:ext cx="4566763" cy="369332"/>
          </a:xfrm>
          <a:prstGeom prst="rect">
            <a:avLst/>
          </a:prstGeom>
          <a:noFill/>
        </p:spPr>
        <p:txBody>
          <a:bodyPr wrap="none" rtlCol="0">
            <a:spAutoFit/>
          </a:bodyPr>
          <a:lstStyle/>
          <a:p>
            <a:r>
              <a:rPr lang="en-US" i="1" dirty="0"/>
              <a:t>Figure 4</a:t>
            </a:r>
            <a:r>
              <a:rPr lang="en-US" i="1" dirty="0" smtClean="0"/>
              <a:t>. Interactive Streamgraph Visualization</a:t>
            </a:r>
            <a:endParaRPr lang="en-US" i="1" dirty="0"/>
          </a:p>
        </p:txBody>
      </p:sp>
    </p:spTree>
    <p:extLst>
      <p:ext uri="{BB962C8B-B14F-4D97-AF65-F5344CB8AC3E}">
        <p14:creationId xmlns:p14="http://schemas.microsoft.com/office/powerpoint/2010/main" val="2996432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7"/>
          <p:cNvSpPr txBox="1">
            <a:spLocks/>
          </p:cNvSpPr>
          <p:nvPr/>
        </p:nvSpPr>
        <p:spPr>
          <a:xfrm>
            <a:off x="263525" y="267151"/>
            <a:ext cx="9531350" cy="7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0">
              <a:spcBef>
                <a:spcPts val="0"/>
              </a:spcBef>
              <a:buNone/>
            </a:pPr>
            <a:r>
              <a:rPr lang="en-US" sz="3200" dirty="0">
                <a:solidFill>
                  <a:schemeClr val="dk1"/>
                </a:solidFill>
                <a:ea typeface="Calibri"/>
                <a:cs typeface="Calibri"/>
                <a:sym typeface="Calibri"/>
              </a:rPr>
              <a:t>Interactive Text Mining Suite</a:t>
            </a:r>
          </a:p>
          <a:p>
            <a:pPr>
              <a:spcBef>
                <a:spcPts val="0"/>
              </a:spcBef>
              <a:buFont typeface="Arial"/>
              <a:buNone/>
            </a:pPr>
            <a:endParaRPr lang="en-US" dirty="0"/>
          </a:p>
          <a:p>
            <a:pPr marL="0" indent="0">
              <a:buFont typeface="Arial"/>
              <a:buNone/>
            </a:pPr>
            <a:endParaRPr lang="en-US" dirty="0"/>
          </a:p>
        </p:txBody>
      </p:sp>
      <p:sp>
        <p:nvSpPr>
          <p:cNvPr id="3" name="Slide Number Placeholder 1"/>
          <p:cNvSpPr>
            <a:spLocks noGrp="1"/>
          </p:cNvSpPr>
          <p:nvPr>
            <p:ph type="sldNum" sz="quarter" idx="12"/>
          </p:nvPr>
        </p:nvSpPr>
        <p:spPr>
          <a:xfrm>
            <a:off x="9296400" y="6356349"/>
            <a:ext cx="2743200" cy="365125"/>
          </a:xfrm>
        </p:spPr>
        <p:txBody>
          <a:bodyPr/>
          <a:lstStyle/>
          <a:p>
            <a:r>
              <a:rPr lang="en-US" dirty="0"/>
              <a:t>22</a:t>
            </a:r>
          </a:p>
        </p:txBody>
      </p:sp>
      <p:pic>
        <p:nvPicPr>
          <p:cNvPr id="7" name="Shape 349"/>
          <p:cNvPicPr preferRelativeResize="0"/>
          <p:nvPr/>
        </p:nvPicPr>
        <p:blipFill>
          <a:blip r:embed="rId3">
            <a:extLst>
              <a:ext uri="{28A0092B-C50C-407E-A947-70E740481C1C}">
                <a14:useLocalDpi xmlns:a14="http://schemas.microsoft.com/office/drawing/2010/main"/>
              </a:ext>
            </a:extLst>
          </a:blip>
          <a:stretch>
            <a:fillRect/>
          </a:stretch>
        </p:blipFill>
        <p:spPr>
          <a:xfrm>
            <a:off x="771525" y="1271588"/>
            <a:ext cx="10872788" cy="4686300"/>
          </a:xfrm>
          <a:prstGeom prst="rect">
            <a:avLst/>
          </a:prstGeom>
          <a:noFill/>
          <a:ln>
            <a:noFill/>
          </a:ln>
        </p:spPr>
      </p:pic>
      <p:sp>
        <p:nvSpPr>
          <p:cNvPr id="2" name="TextBox 1"/>
          <p:cNvSpPr txBox="1"/>
          <p:nvPr/>
        </p:nvSpPr>
        <p:spPr>
          <a:xfrm>
            <a:off x="4543425" y="6538911"/>
            <a:ext cx="3252237" cy="338554"/>
          </a:xfrm>
          <a:prstGeom prst="rect">
            <a:avLst/>
          </a:prstGeom>
          <a:noFill/>
        </p:spPr>
        <p:txBody>
          <a:bodyPr wrap="none" rtlCol="0">
            <a:spAutoFit/>
          </a:bodyPr>
          <a:lstStyle/>
          <a:p>
            <a:r>
              <a:rPr lang="en-US" sz="1600"/>
              <a:t>www.interactivetextminingsuite.com</a:t>
            </a:r>
            <a:endParaRPr lang="en-US" sz="1600" dirty="0"/>
          </a:p>
        </p:txBody>
      </p:sp>
      <p:pic>
        <p:nvPicPr>
          <p:cNvPr id="4" name="Picture 3"/>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141413" y="1671637"/>
            <a:ext cx="720902" cy="371476"/>
          </a:xfrm>
          <a:prstGeom prst="rect">
            <a:avLst/>
          </a:prstGeom>
        </p:spPr>
      </p:pic>
      <p:sp>
        <p:nvSpPr>
          <p:cNvPr id="8" name="TextBox 7"/>
          <p:cNvSpPr txBox="1"/>
          <p:nvPr/>
        </p:nvSpPr>
        <p:spPr>
          <a:xfrm>
            <a:off x="3085140" y="6156294"/>
            <a:ext cx="6168805" cy="400110"/>
          </a:xfrm>
          <a:prstGeom prst="rect">
            <a:avLst/>
          </a:prstGeom>
          <a:noFill/>
        </p:spPr>
        <p:txBody>
          <a:bodyPr wrap="none" rtlCol="0">
            <a:spAutoFit/>
          </a:bodyPr>
          <a:lstStyle/>
          <a:p>
            <a:r>
              <a:rPr lang="en-US" sz="2000" i="1"/>
              <a:t>Figure </a:t>
            </a:r>
            <a:r>
              <a:rPr lang="en-US" sz="2000" i="1" dirty="0" smtClean="0"/>
              <a:t>5</a:t>
            </a:r>
            <a:r>
              <a:rPr lang="en-US" sz="2000" i="1" smtClean="0"/>
              <a:t>. </a:t>
            </a:r>
            <a:r>
              <a:rPr lang="en-US" sz="2000" i="1" dirty="0" smtClean="0"/>
              <a:t>Open Source Interactive Text Mining Suite - ITMS</a:t>
            </a:r>
            <a:endParaRPr lang="en-US" sz="2000" i="1" dirty="0"/>
          </a:p>
        </p:txBody>
      </p:sp>
    </p:spTree>
    <p:extLst>
      <p:ext uri="{BB962C8B-B14F-4D97-AF65-F5344CB8AC3E}">
        <p14:creationId xmlns:p14="http://schemas.microsoft.com/office/powerpoint/2010/main" val="6985531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6700" y="2751684"/>
            <a:ext cx="10515600" cy="1521058"/>
          </a:xfrm>
        </p:spPr>
        <p:txBody>
          <a:bodyPr>
            <a:normAutofit/>
          </a:bodyPr>
          <a:lstStyle/>
          <a:p>
            <a:pPr marL="0" lvl="0" indent="0" algn="ctr">
              <a:spcBef>
                <a:spcPts val="0"/>
              </a:spcBef>
              <a:buSzPct val="25000"/>
              <a:buNone/>
            </a:pPr>
            <a:r>
              <a:rPr lang="en-US" sz="3600" dirty="0">
                <a:solidFill>
                  <a:srgbClr val="F2F2F2"/>
                </a:solidFill>
                <a:ea typeface="Calibri"/>
                <a:cs typeface="Calibri"/>
                <a:sym typeface="Calibri"/>
              </a:rPr>
              <a:t>Web Visualization Framework:</a:t>
            </a:r>
          </a:p>
          <a:p>
            <a:pPr marL="0" lvl="0" indent="0" algn="ctr">
              <a:spcBef>
                <a:spcPts val="0"/>
              </a:spcBef>
              <a:buSzPct val="25000"/>
              <a:buNone/>
            </a:pPr>
            <a:r>
              <a:rPr lang="en-US" sz="3600" dirty="0">
                <a:solidFill>
                  <a:srgbClr val="F2F2F2"/>
                </a:solidFill>
                <a:ea typeface="Calibri"/>
                <a:cs typeface="Calibri"/>
                <a:sym typeface="Calibri"/>
              </a:rPr>
              <a:t>WVF</a:t>
            </a:r>
          </a:p>
        </p:txBody>
      </p:sp>
      <p:sp>
        <p:nvSpPr>
          <p:cNvPr id="2" name="Slide Number Placeholder 1"/>
          <p:cNvSpPr>
            <a:spLocks noGrp="1"/>
          </p:cNvSpPr>
          <p:nvPr>
            <p:ph type="sldNum" sz="quarter" idx="12"/>
          </p:nvPr>
        </p:nvSpPr>
        <p:spPr>
          <a:xfrm>
            <a:off x="9296400" y="6356349"/>
            <a:ext cx="2743200" cy="365125"/>
          </a:xfrm>
        </p:spPr>
        <p:txBody>
          <a:bodyPr/>
          <a:lstStyle/>
          <a:p>
            <a:fld id="{290411FE-F426-8D49-82D8-99B69C723D30}" type="slidenum">
              <a:rPr lang="en-US" smtClean="0"/>
              <a:t>20</a:t>
            </a:fld>
            <a:endParaRPr lang="en-US"/>
          </a:p>
        </p:txBody>
      </p:sp>
      <p:pic>
        <p:nvPicPr>
          <p:cNvPr id="4" name="Shape 219" descr="bottom-test-1.4.png"/>
          <p:cNvPicPr preferRelativeResize="0"/>
          <p:nvPr/>
        </p:nvPicPr>
        <p:blipFill>
          <a:blip r:embed="rId3" cstate="print">
            <a:alphaModFix amt="25000"/>
            <a:extLst>
              <a:ext uri="{28A0092B-C50C-407E-A947-70E740481C1C}">
                <a14:useLocalDpi xmlns:a14="http://schemas.microsoft.com/office/drawing/2010/main"/>
              </a:ext>
            </a:extLst>
          </a:blip>
          <a:stretch>
            <a:fillRect/>
          </a:stretch>
        </p:blipFill>
        <p:spPr>
          <a:xfrm>
            <a:off x="-7" y="5401200"/>
            <a:ext cx="9526392" cy="1467534"/>
          </a:xfrm>
          <a:prstGeom prst="rect">
            <a:avLst/>
          </a:prstGeom>
          <a:noFill/>
          <a:ln>
            <a:noFill/>
          </a:ln>
        </p:spPr>
      </p:pic>
      <p:pic>
        <p:nvPicPr>
          <p:cNvPr id="5" name="Picture 4">
            <a:extLst>
              <a:ext uri="{FF2B5EF4-FFF2-40B4-BE49-F238E27FC236}">
                <a16:creationId xmlns="" xmlns:a16="http://schemas.microsoft.com/office/drawing/2014/main" id="{2DAAD995-3E80-4E73-8721-7BBDF187E28F}"/>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376814" y="-69528"/>
            <a:ext cx="1562425" cy="1562425"/>
          </a:xfrm>
          <a:prstGeom prst="rect">
            <a:avLst/>
          </a:prstGeom>
        </p:spPr>
      </p:pic>
    </p:spTree>
    <p:extLst>
      <p:ext uri="{BB962C8B-B14F-4D97-AF65-F5344CB8AC3E}">
        <p14:creationId xmlns:p14="http://schemas.microsoft.com/office/powerpoint/2010/main" val="20702032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8085" y="728127"/>
            <a:ext cx="9328799" cy="5265550"/>
          </a:xfrm>
          <a:prstGeom prst="rect">
            <a:avLst/>
          </a:prstGeom>
        </p:spPr>
      </p:pic>
      <p:sp>
        <p:nvSpPr>
          <p:cNvPr id="2" name="Slide Number Placeholder 1"/>
          <p:cNvSpPr>
            <a:spLocks noGrp="1"/>
          </p:cNvSpPr>
          <p:nvPr>
            <p:ph type="sldNum" sz="quarter" idx="12"/>
          </p:nvPr>
        </p:nvSpPr>
        <p:spPr>
          <a:xfrm>
            <a:off x="9296400" y="6356349"/>
            <a:ext cx="2743200" cy="365125"/>
          </a:xfrm>
        </p:spPr>
        <p:txBody>
          <a:bodyPr/>
          <a:lstStyle/>
          <a:p>
            <a:fld id="{290411FE-F426-8D49-82D8-99B69C723D30}" type="slidenum">
              <a:rPr lang="en-US" smtClean="0"/>
              <a:t>21</a:t>
            </a:fld>
            <a:endParaRPr lang="en-US"/>
          </a:p>
        </p:txBody>
      </p:sp>
      <p:pic>
        <p:nvPicPr>
          <p:cNvPr id="4" name="Picture 3"/>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68823" y="6285479"/>
            <a:ext cx="1058844" cy="435995"/>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68823" y="6285478"/>
            <a:ext cx="1058844" cy="435995"/>
          </a:xfrm>
          <a:prstGeom prst="rect">
            <a:avLst/>
          </a:prstGeom>
        </p:spPr>
      </p:pic>
      <p:sp>
        <p:nvSpPr>
          <p:cNvPr id="5" name="Content Placeholder 7"/>
          <p:cNvSpPr txBox="1">
            <a:spLocks/>
          </p:cNvSpPr>
          <p:nvPr/>
        </p:nvSpPr>
        <p:spPr>
          <a:xfrm>
            <a:off x="263525" y="267151"/>
            <a:ext cx="9531350" cy="7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0"/>
              </a:spcBef>
              <a:buFont typeface="Arial"/>
              <a:buNone/>
            </a:pPr>
            <a:r>
              <a:rPr lang="en-US" sz="3200" dirty="0">
                <a:ea typeface="Calibri"/>
                <a:cs typeface="Calibri"/>
                <a:sym typeface="Calibri"/>
              </a:rPr>
              <a:t>WVF System Architecture</a:t>
            </a:r>
          </a:p>
          <a:p>
            <a:pPr>
              <a:spcBef>
                <a:spcPts val="0"/>
              </a:spcBef>
              <a:buFont typeface="Arial"/>
              <a:buNone/>
            </a:pPr>
            <a:endParaRPr lang="en-US" dirty="0"/>
          </a:p>
          <a:p>
            <a:pPr marL="0" indent="0">
              <a:buFont typeface="Arial"/>
              <a:buNone/>
            </a:pPr>
            <a:endParaRPr lang="en-US" dirty="0"/>
          </a:p>
        </p:txBody>
      </p:sp>
      <p:sp>
        <p:nvSpPr>
          <p:cNvPr id="8" name="TextBox 7"/>
          <p:cNvSpPr txBox="1"/>
          <p:nvPr/>
        </p:nvSpPr>
        <p:spPr>
          <a:xfrm>
            <a:off x="8815388" y="1767259"/>
            <a:ext cx="3224212" cy="3170099"/>
          </a:xfrm>
          <a:prstGeom prst="rect">
            <a:avLst/>
          </a:prstGeom>
          <a:noFill/>
        </p:spPr>
        <p:txBody>
          <a:bodyPr wrap="square" rtlCol="0">
            <a:spAutoFit/>
          </a:bodyPr>
          <a:lstStyle/>
          <a:p>
            <a:pPr marL="457200" indent="-457200">
              <a:buFont typeface="+mj-lt"/>
              <a:buAutoNum type="arabicPeriod"/>
            </a:pPr>
            <a:r>
              <a:rPr lang="en-US" sz="2000" dirty="0"/>
              <a:t>Developed by CNS team</a:t>
            </a:r>
          </a:p>
          <a:p>
            <a:pPr marL="457200" indent="-457200">
              <a:buFont typeface="+mj-lt"/>
              <a:buAutoNum type="arabicPeriod"/>
            </a:pPr>
            <a:r>
              <a:rPr lang="en-US" sz="2000" dirty="0"/>
              <a:t>Primary language: JavaScript</a:t>
            </a:r>
          </a:p>
          <a:p>
            <a:pPr marL="457200" indent="-457200">
              <a:buFont typeface="+mj-lt"/>
              <a:buAutoNum type="arabicPeriod"/>
            </a:pPr>
            <a:r>
              <a:rPr lang="en-US" sz="2000" dirty="0"/>
              <a:t>Build system: Grunt, NodeJS</a:t>
            </a:r>
          </a:p>
          <a:p>
            <a:pPr marL="457200" indent="-457200">
              <a:buFont typeface="+mj-lt"/>
              <a:buAutoNum type="arabicPeriod"/>
            </a:pPr>
            <a:r>
              <a:rPr lang="en-US" sz="2000" dirty="0"/>
              <a:t>Libraries: Grunt, AngularJS, D3, jQuery, HTML, CSS</a:t>
            </a:r>
          </a:p>
          <a:p>
            <a:pPr marL="457200" indent="-457200">
              <a:buFont typeface="+mj-lt"/>
              <a:buAutoNum type="arabicPeriod"/>
            </a:pPr>
            <a:r>
              <a:rPr lang="en-US" sz="2000" dirty="0"/>
              <a:t>Configuration-based customization</a:t>
            </a:r>
          </a:p>
        </p:txBody>
      </p:sp>
      <p:sp>
        <p:nvSpPr>
          <p:cNvPr id="3" name="TextBox 2"/>
          <p:cNvSpPr txBox="1"/>
          <p:nvPr/>
        </p:nvSpPr>
        <p:spPr>
          <a:xfrm>
            <a:off x="1565928" y="5953160"/>
            <a:ext cx="9215471" cy="923330"/>
          </a:xfrm>
          <a:prstGeom prst="rect">
            <a:avLst/>
          </a:prstGeom>
          <a:noFill/>
        </p:spPr>
        <p:txBody>
          <a:bodyPr wrap="none" rtlCol="0">
            <a:spAutoFit/>
          </a:bodyPr>
          <a:lstStyle/>
          <a:p>
            <a:r>
              <a:rPr lang="en-US" b="1" dirty="0"/>
              <a:t>Framework Workspace </a:t>
            </a:r>
            <a:r>
              <a:rPr lang="en-US" dirty="0"/>
              <a:t>- Default code and libraries</a:t>
            </a:r>
          </a:p>
          <a:p>
            <a:r>
              <a:rPr lang="en-US" b="1" dirty="0"/>
              <a:t>Plugins Workspace </a:t>
            </a:r>
            <a:r>
              <a:rPr lang="en-US" dirty="0" smtClean="0"/>
              <a:t>- </a:t>
            </a:r>
            <a:r>
              <a:rPr lang="en-US" dirty="0"/>
              <a:t>D3 visualization code</a:t>
            </a:r>
          </a:p>
          <a:p>
            <a:r>
              <a:rPr lang="en-US" b="1" dirty="0"/>
              <a:t>Project Workspace </a:t>
            </a:r>
            <a:r>
              <a:rPr lang="en-US" dirty="0" smtClean="0"/>
              <a:t>- </a:t>
            </a:r>
            <a:r>
              <a:rPr lang="en-US" dirty="0"/>
              <a:t>Project specific code (data, customization, styling, and instanced scripts)</a:t>
            </a:r>
          </a:p>
        </p:txBody>
      </p:sp>
      <p:pic>
        <p:nvPicPr>
          <p:cNvPr id="9" name="Picture 8">
            <a:extLst>
              <a:ext uri="{FF2B5EF4-FFF2-40B4-BE49-F238E27FC236}">
                <a16:creationId xmlns="" xmlns:a16="http://schemas.microsoft.com/office/drawing/2014/main" id="{4D720E0F-682E-4BB9-ABF8-9FA8EA47BA91}"/>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0477175" y="5450850"/>
            <a:ext cx="1562425" cy="1562425"/>
          </a:xfrm>
          <a:prstGeom prst="rect">
            <a:avLst/>
          </a:prstGeom>
        </p:spPr>
      </p:pic>
    </p:spTree>
    <p:extLst>
      <p:ext uri="{BB962C8B-B14F-4D97-AF65-F5344CB8AC3E}">
        <p14:creationId xmlns:p14="http://schemas.microsoft.com/office/powerpoint/2010/main" val="3850452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6700" y="2751684"/>
            <a:ext cx="10515600" cy="1521058"/>
          </a:xfrm>
        </p:spPr>
        <p:txBody>
          <a:bodyPr>
            <a:normAutofit/>
          </a:bodyPr>
          <a:lstStyle/>
          <a:p>
            <a:pPr marL="0" lvl="0" indent="0" algn="ctr">
              <a:spcBef>
                <a:spcPts val="0"/>
              </a:spcBef>
              <a:buSzPct val="25000"/>
              <a:buNone/>
            </a:pPr>
            <a:r>
              <a:rPr lang="en-US" sz="3600" dirty="0">
                <a:solidFill>
                  <a:srgbClr val="F2F2F2"/>
                </a:solidFill>
                <a:ea typeface="Calibri"/>
                <a:cs typeface="Calibri"/>
                <a:sym typeface="Calibri"/>
              </a:rPr>
              <a:t>CNS WVF Framework:</a:t>
            </a:r>
          </a:p>
          <a:p>
            <a:pPr marL="0" lvl="0" indent="0" algn="ctr">
              <a:spcBef>
                <a:spcPts val="0"/>
              </a:spcBef>
              <a:buSzPct val="25000"/>
              <a:buNone/>
            </a:pPr>
            <a:r>
              <a:rPr lang="en-US" sz="3600" dirty="0">
                <a:solidFill>
                  <a:srgbClr val="F2F2F2"/>
                </a:solidFill>
                <a:ea typeface="Calibri"/>
                <a:cs typeface="Calibri"/>
                <a:sym typeface="Calibri"/>
              </a:rPr>
              <a:t>Examples</a:t>
            </a:r>
          </a:p>
        </p:txBody>
      </p:sp>
      <p:sp>
        <p:nvSpPr>
          <p:cNvPr id="2" name="Slide Number Placeholder 1"/>
          <p:cNvSpPr>
            <a:spLocks noGrp="1"/>
          </p:cNvSpPr>
          <p:nvPr>
            <p:ph type="sldNum" sz="quarter" idx="12"/>
          </p:nvPr>
        </p:nvSpPr>
        <p:spPr>
          <a:xfrm>
            <a:off x="9296400" y="6356349"/>
            <a:ext cx="2743200" cy="365125"/>
          </a:xfrm>
        </p:spPr>
        <p:txBody>
          <a:bodyPr/>
          <a:lstStyle/>
          <a:p>
            <a:fld id="{290411FE-F426-8D49-82D8-99B69C723D30}" type="slidenum">
              <a:rPr lang="en-US" smtClean="0"/>
              <a:t>22</a:t>
            </a:fld>
            <a:endParaRPr lang="en-US"/>
          </a:p>
        </p:txBody>
      </p:sp>
      <p:pic>
        <p:nvPicPr>
          <p:cNvPr id="4" name="Shape 219" descr="bottom-test-1.4.png"/>
          <p:cNvPicPr preferRelativeResize="0"/>
          <p:nvPr/>
        </p:nvPicPr>
        <p:blipFill>
          <a:blip r:embed="rId3" cstate="print">
            <a:alphaModFix amt="25000"/>
            <a:extLst>
              <a:ext uri="{28A0092B-C50C-407E-A947-70E740481C1C}">
                <a14:useLocalDpi xmlns:a14="http://schemas.microsoft.com/office/drawing/2010/main"/>
              </a:ext>
            </a:extLst>
          </a:blip>
          <a:stretch>
            <a:fillRect/>
          </a:stretch>
        </p:blipFill>
        <p:spPr>
          <a:xfrm>
            <a:off x="-7" y="5401200"/>
            <a:ext cx="9526392" cy="1467534"/>
          </a:xfrm>
          <a:prstGeom prst="rect">
            <a:avLst/>
          </a:prstGeom>
          <a:noFill/>
          <a:ln>
            <a:noFill/>
          </a:ln>
        </p:spPr>
      </p:pic>
      <p:pic>
        <p:nvPicPr>
          <p:cNvPr id="5" name="Picture 4">
            <a:extLst>
              <a:ext uri="{FF2B5EF4-FFF2-40B4-BE49-F238E27FC236}">
                <a16:creationId xmlns="" xmlns:a16="http://schemas.microsoft.com/office/drawing/2014/main" id="{BE0D90CE-392A-494F-A77F-8A75AEC7640F}"/>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376814" y="-69528"/>
            <a:ext cx="1562425" cy="1562425"/>
          </a:xfrm>
          <a:prstGeom prst="rect">
            <a:avLst/>
          </a:prstGeom>
        </p:spPr>
      </p:pic>
    </p:spTree>
    <p:extLst>
      <p:ext uri="{BB962C8B-B14F-4D97-AF65-F5344CB8AC3E}">
        <p14:creationId xmlns:p14="http://schemas.microsoft.com/office/powerpoint/2010/main" val="5958571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9296400" y="6356349"/>
            <a:ext cx="2743200" cy="365125"/>
          </a:xfrm>
        </p:spPr>
        <p:txBody>
          <a:bodyPr/>
          <a:lstStyle/>
          <a:p>
            <a:fld id="{290411FE-F426-8D49-82D8-99B69C723D30}" type="slidenum">
              <a:rPr lang="en-US" smtClean="0"/>
              <a:t>23</a:t>
            </a:fld>
            <a:endParaRPr lang="en-US"/>
          </a:p>
        </p:txBody>
      </p:sp>
      <p:pic>
        <p:nvPicPr>
          <p:cNvPr id="4" name="Picture 3"/>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8823" y="6285479"/>
            <a:ext cx="1058844" cy="435995"/>
          </a:xfrm>
          <a:prstGeom prst="rect">
            <a:avLst/>
          </a:prstGeom>
        </p:spPr>
      </p:pic>
      <p:sp>
        <p:nvSpPr>
          <p:cNvPr id="5" name="Content Placeholder 7"/>
          <p:cNvSpPr txBox="1">
            <a:spLocks/>
          </p:cNvSpPr>
          <p:nvPr/>
        </p:nvSpPr>
        <p:spPr>
          <a:xfrm>
            <a:off x="263525" y="267151"/>
            <a:ext cx="9531350" cy="7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0">
              <a:spcBef>
                <a:spcPts val="0"/>
              </a:spcBef>
              <a:buNone/>
            </a:pPr>
            <a:r>
              <a:rPr lang="en-US" sz="3200" dirty="0">
                <a:solidFill>
                  <a:schemeClr val="dk1"/>
                </a:solidFill>
                <a:ea typeface="Calibri"/>
                <a:cs typeface="Calibri"/>
                <a:sym typeface="Calibri"/>
              </a:rPr>
              <a:t>Visualization: Twitter Network</a:t>
            </a:r>
            <a:endParaRPr lang="en-US" sz="3200" dirty="0">
              <a:ea typeface="Calibri"/>
              <a:cs typeface="Calibri"/>
              <a:sym typeface="Calibri"/>
            </a:endParaRPr>
          </a:p>
          <a:p>
            <a:pPr>
              <a:spcBef>
                <a:spcPts val="0"/>
              </a:spcBef>
              <a:buFont typeface="Arial"/>
              <a:buNone/>
            </a:pPr>
            <a:endParaRPr lang="en-US" dirty="0"/>
          </a:p>
          <a:p>
            <a:pPr marL="0" indent="0">
              <a:buFont typeface="Arial"/>
              <a:buNone/>
            </a:pPr>
            <a:endParaRPr lang="en-US" dirty="0"/>
          </a:p>
        </p:txBody>
      </p:sp>
      <p:sp>
        <p:nvSpPr>
          <p:cNvPr id="3" name="TextBox 2"/>
          <p:cNvSpPr txBox="1"/>
          <p:nvPr/>
        </p:nvSpPr>
        <p:spPr>
          <a:xfrm>
            <a:off x="340309" y="802241"/>
            <a:ext cx="1210075" cy="646331"/>
          </a:xfrm>
          <a:prstGeom prst="rect">
            <a:avLst/>
          </a:prstGeom>
          <a:noFill/>
        </p:spPr>
        <p:txBody>
          <a:bodyPr wrap="none" rtlCol="0">
            <a:spAutoFit/>
          </a:bodyPr>
          <a:lstStyle/>
          <a:p>
            <a:pPr lvl="0"/>
            <a:r>
              <a:rPr lang="en-US" dirty="0">
                <a:ea typeface="Calibri"/>
                <a:cs typeface="Calibri"/>
                <a:sym typeface="Calibri"/>
              </a:rPr>
              <a:t>Project: IAI</a:t>
            </a:r>
          </a:p>
          <a:p>
            <a:endParaRPr lang="en-US" dirty="0"/>
          </a:p>
        </p:txBody>
      </p:sp>
      <p:pic>
        <p:nvPicPr>
          <p:cNvPr id="9" name="Shape 392" descr="Screen Shot 2017-04-18 at 10.50.01 AM.png"/>
          <p:cNvPicPr preferRelativeResize="0"/>
          <p:nvPr/>
        </p:nvPicPr>
        <p:blipFill rotWithShape="1">
          <a:blip r:embed="rId4" cstate="print">
            <a:alphaModFix/>
            <a:extLst>
              <a:ext uri="{28A0092B-C50C-407E-A947-70E740481C1C}">
                <a14:useLocalDpi xmlns:a14="http://schemas.microsoft.com/office/drawing/2010/main"/>
              </a:ext>
            </a:extLst>
          </a:blip>
          <a:srcRect b="4117"/>
          <a:stretch/>
        </p:blipFill>
        <p:spPr>
          <a:xfrm>
            <a:off x="1072055" y="1171574"/>
            <a:ext cx="9869214" cy="5284953"/>
          </a:xfrm>
          <a:prstGeom prst="rect">
            <a:avLst/>
          </a:prstGeom>
          <a:noFill/>
          <a:ln>
            <a:noFill/>
          </a:ln>
        </p:spPr>
      </p:pic>
      <p:sp>
        <p:nvSpPr>
          <p:cNvPr id="10" name="TextBox 9"/>
          <p:cNvSpPr txBox="1"/>
          <p:nvPr/>
        </p:nvSpPr>
        <p:spPr>
          <a:xfrm>
            <a:off x="2130899" y="6456528"/>
            <a:ext cx="7332648" cy="400110"/>
          </a:xfrm>
          <a:prstGeom prst="rect">
            <a:avLst/>
          </a:prstGeom>
          <a:noFill/>
        </p:spPr>
        <p:txBody>
          <a:bodyPr wrap="none" rtlCol="0">
            <a:spAutoFit/>
          </a:bodyPr>
          <a:lstStyle/>
          <a:p>
            <a:r>
              <a:rPr lang="en-US" sz="2000" i="1" dirty="0"/>
              <a:t>Figure 6</a:t>
            </a:r>
            <a:r>
              <a:rPr lang="en-US" sz="2000" i="1" dirty="0" smtClean="0"/>
              <a:t>. Social </a:t>
            </a:r>
            <a:r>
              <a:rPr lang="en-US" sz="2000" i="1" smtClean="0"/>
              <a:t>Network from </a:t>
            </a:r>
            <a:r>
              <a:rPr lang="en-US" sz="2000" i="1" dirty="0" smtClean="0"/>
              <a:t>CTSA Hub and NIH Activities on Twitter</a:t>
            </a:r>
            <a:endParaRPr lang="en-US" sz="2000" i="1" dirty="0"/>
          </a:p>
        </p:txBody>
      </p:sp>
      <p:pic>
        <p:nvPicPr>
          <p:cNvPr id="7" name="Picture 6"/>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8823" y="6285478"/>
            <a:ext cx="1058844" cy="435995"/>
          </a:xfrm>
          <a:prstGeom prst="rect">
            <a:avLst/>
          </a:prstGeom>
        </p:spPr>
      </p:pic>
    </p:spTree>
    <p:extLst>
      <p:ext uri="{BB962C8B-B14F-4D97-AF65-F5344CB8AC3E}">
        <p14:creationId xmlns:p14="http://schemas.microsoft.com/office/powerpoint/2010/main" val="2385667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9296400" y="6356349"/>
            <a:ext cx="2743200" cy="365125"/>
          </a:xfrm>
        </p:spPr>
        <p:txBody>
          <a:bodyPr/>
          <a:lstStyle/>
          <a:p>
            <a:fld id="{290411FE-F426-8D49-82D8-99B69C723D30}" type="slidenum">
              <a:rPr lang="en-US" smtClean="0"/>
              <a:t>24</a:t>
            </a:fld>
            <a:endParaRPr lang="en-US"/>
          </a:p>
        </p:txBody>
      </p:sp>
      <p:pic>
        <p:nvPicPr>
          <p:cNvPr id="4" name="Picture 3"/>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8823" y="6285479"/>
            <a:ext cx="1058844" cy="435995"/>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8823" y="6285478"/>
            <a:ext cx="1058844" cy="435995"/>
          </a:xfrm>
          <a:prstGeom prst="rect">
            <a:avLst/>
          </a:prstGeom>
        </p:spPr>
      </p:pic>
      <p:sp>
        <p:nvSpPr>
          <p:cNvPr id="5" name="Content Placeholder 7"/>
          <p:cNvSpPr txBox="1">
            <a:spLocks/>
          </p:cNvSpPr>
          <p:nvPr/>
        </p:nvSpPr>
        <p:spPr>
          <a:xfrm>
            <a:off x="263525" y="267151"/>
            <a:ext cx="9531350" cy="7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0">
              <a:spcBef>
                <a:spcPts val="0"/>
              </a:spcBef>
              <a:buClr>
                <a:schemeClr val="dk1"/>
              </a:buClr>
              <a:buSzPct val="45833"/>
              <a:buNone/>
            </a:pPr>
            <a:r>
              <a:rPr lang="en-US" sz="3200" dirty="0">
                <a:ea typeface="Calibri"/>
                <a:cs typeface="Calibri"/>
                <a:sym typeface="Calibri"/>
              </a:rPr>
              <a:t>Visualization: </a:t>
            </a:r>
            <a:r>
              <a:rPr lang="en-US" sz="3200" dirty="0">
                <a:solidFill>
                  <a:schemeClr val="dk1"/>
                </a:solidFill>
                <a:ea typeface="Calibri"/>
                <a:cs typeface="Calibri"/>
                <a:sym typeface="Calibri"/>
              </a:rPr>
              <a:t>UCSD Map of Science</a:t>
            </a:r>
          </a:p>
          <a:p>
            <a:pPr>
              <a:spcBef>
                <a:spcPts val="0"/>
              </a:spcBef>
              <a:buFont typeface="Arial"/>
              <a:buNone/>
            </a:pPr>
            <a:endParaRPr lang="en-US" dirty="0"/>
          </a:p>
          <a:p>
            <a:pPr marL="0" indent="0">
              <a:buFont typeface="Arial"/>
              <a:buNone/>
            </a:pPr>
            <a:endParaRPr lang="en-US" dirty="0"/>
          </a:p>
        </p:txBody>
      </p:sp>
      <p:pic>
        <p:nvPicPr>
          <p:cNvPr id="6" name="Shape 288" descr="Screen Shot 2017-04-20 at 3.08.32 PM.png"/>
          <p:cNvPicPr preferRelativeResize="0"/>
          <p:nvPr/>
        </p:nvPicPr>
        <p:blipFill>
          <a:blip r:embed="rId4" cstate="print">
            <a:alphaModFix/>
            <a:extLst>
              <a:ext uri="{28A0092B-C50C-407E-A947-70E740481C1C}">
                <a14:useLocalDpi xmlns:a14="http://schemas.microsoft.com/office/drawing/2010/main"/>
              </a:ext>
            </a:extLst>
          </a:blip>
          <a:stretch>
            <a:fillRect/>
          </a:stretch>
        </p:blipFill>
        <p:spPr>
          <a:xfrm>
            <a:off x="1401088" y="1166650"/>
            <a:ext cx="9697836" cy="5189699"/>
          </a:xfrm>
          <a:prstGeom prst="rect">
            <a:avLst/>
          </a:prstGeom>
          <a:noFill/>
          <a:ln>
            <a:noFill/>
          </a:ln>
        </p:spPr>
      </p:pic>
      <p:sp>
        <p:nvSpPr>
          <p:cNvPr id="3" name="TextBox 2"/>
          <p:cNvSpPr txBox="1"/>
          <p:nvPr/>
        </p:nvSpPr>
        <p:spPr>
          <a:xfrm>
            <a:off x="263525" y="794041"/>
            <a:ext cx="6610241" cy="646331"/>
          </a:xfrm>
          <a:prstGeom prst="rect">
            <a:avLst/>
          </a:prstGeom>
          <a:noFill/>
        </p:spPr>
        <p:txBody>
          <a:bodyPr wrap="square" rtlCol="0">
            <a:spAutoFit/>
          </a:bodyPr>
          <a:lstStyle/>
          <a:p>
            <a:pPr lvl="0">
              <a:spcBef>
                <a:spcPts val="0"/>
              </a:spcBef>
              <a:buClr>
                <a:schemeClr val="dk1"/>
              </a:buClr>
              <a:buSzPct val="61111"/>
              <a:buFont typeface="Arial"/>
              <a:buNone/>
            </a:pPr>
            <a:r>
              <a:rPr lang="en-US" dirty="0">
                <a:solidFill>
                  <a:schemeClr val="dk1"/>
                </a:solidFill>
                <a:ea typeface="Calibri"/>
                <a:cs typeface="Calibri"/>
                <a:sym typeface="Calibri"/>
              </a:rPr>
              <a:t>Project: </a:t>
            </a:r>
            <a:r>
              <a:rPr lang="en-US" dirty="0" smtClean="0">
                <a:solidFill>
                  <a:schemeClr val="dk1"/>
                </a:solidFill>
                <a:ea typeface="Calibri"/>
                <a:cs typeface="Calibri"/>
                <a:sym typeface="Calibri"/>
              </a:rPr>
              <a:t>ECON </a:t>
            </a:r>
            <a:r>
              <a:rPr lang="en-US" b="1" dirty="0" smtClean="0">
                <a:solidFill>
                  <a:srgbClr val="6D9D31"/>
                </a:solidFill>
                <a:ea typeface="Calibri"/>
                <a:cs typeface="Calibri"/>
                <a:sym typeface="Calibri"/>
                <a:hlinkClick r:id="rId5"/>
              </a:rPr>
              <a:t>demo.cns.iu.edu/client/econ-ucsdmap</a:t>
            </a:r>
            <a:endParaRPr lang="en-US" b="1" dirty="0">
              <a:solidFill>
                <a:srgbClr val="6D9D31"/>
              </a:solidFill>
              <a:ea typeface="Calibri"/>
              <a:cs typeface="Calibri"/>
              <a:sym typeface="Calibri"/>
              <a:hlinkClick r:id="rId5"/>
            </a:endParaRPr>
          </a:p>
          <a:p>
            <a:endParaRPr lang="en-US" dirty="0"/>
          </a:p>
        </p:txBody>
      </p:sp>
      <p:sp>
        <p:nvSpPr>
          <p:cNvPr id="9" name="TextBox 8"/>
          <p:cNvSpPr txBox="1"/>
          <p:nvPr/>
        </p:nvSpPr>
        <p:spPr>
          <a:xfrm>
            <a:off x="2133462" y="6430016"/>
            <a:ext cx="8233088" cy="400110"/>
          </a:xfrm>
          <a:prstGeom prst="rect">
            <a:avLst/>
          </a:prstGeom>
          <a:noFill/>
        </p:spPr>
        <p:txBody>
          <a:bodyPr wrap="none" rtlCol="0">
            <a:spAutoFit/>
          </a:bodyPr>
          <a:lstStyle/>
          <a:p>
            <a:r>
              <a:rPr lang="en-US" sz="2000" i="1" dirty="0"/>
              <a:t>Figure 7</a:t>
            </a:r>
            <a:r>
              <a:rPr lang="en-US" sz="2000" i="1" dirty="0" smtClean="0"/>
              <a:t>. Interactive Map for High-Impact and Transformative Science Metrics</a:t>
            </a:r>
            <a:endParaRPr lang="en-US" sz="2000" i="1" dirty="0"/>
          </a:p>
        </p:txBody>
      </p:sp>
    </p:spTree>
    <p:extLst>
      <p:ext uri="{BB962C8B-B14F-4D97-AF65-F5344CB8AC3E}">
        <p14:creationId xmlns:p14="http://schemas.microsoft.com/office/powerpoint/2010/main" val="2395663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7"/>
          <p:cNvSpPr txBox="1">
            <a:spLocks/>
          </p:cNvSpPr>
          <p:nvPr/>
        </p:nvSpPr>
        <p:spPr>
          <a:xfrm>
            <a:off x="263525" y="267151"/>
            <a:ext cx="9531350" cy="7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0">
              <a:spcBef>
                <a:spcPts val="0"/>
              </a:spcBef>
              <a:buNone/>
            </a:pPr>
            <a:r>
              <a:rPr lang="en-US" sz="3200" dirty="0">
                <a:solidFill>
                  <a:schemeClr val="dk1"/>
                </a:solidFill>
                <a:ea typeface="Calibri"/>
                <a:cs typeface="Calibri"/>
                <a:sym typeface="Calibri"/>
              </a:rPr>
              <a:t>Visualization: Heatmap</a:t>
            </a:r>
          </a:p>
          <a:p>
            <a:pPr>
              <a:spcBef>
                <a:spcPts val="0"/>
              </a:spcBef>
              <a:buFont typeface="Arial"/>
              <a:buNone/>
            </a:pPr>
            <a:endParaRPr lang="en-US" dirty="0"/>
          </a:p>
          <a:p>
            <a:pPr marL="0" indent="0">
              <a:buFont typeface="Arial"/>
              <a:buNone/>
            </a:pPr>
            <a:endParaRPr lang="en-US" dirty="0"/>
          </a:p>
        </p:txBody>
      </p:sp>
      <p:sp>
        <p:nvSpPr>
          <p:cNvPr id="10" name="Slide Number Placeholder 1"/>
          <p:cNvSpPr>
            <a:spLocks noGrp="1"/>
          </p:cNvSpPr>
          <p:nvPr>
            <p:ph type="sldNum" sz="quarter" idx="12"/>
          </p:nvPr>
        </p:nvSpPr>
        <p:spPr>
          <a:xfrm>
            <a:off x="9296400" y="6356349"/>
            <a:ext cx="2743200" cy="365125"/>
          </a:xfrm>
        </p:spPr>
        <p:txBody>
          <a:bodyPr/>
          <a:lstStyle/>
          <a:p>
            <a:r>
              <a:rPr lang="en-US" dirty="0"/>
              <a:t>28</a:t>
            </a:r>
          </a:p>
        </p:txBody>
      </p:sp>
      <p:sp>
        <p:nvSpPr>
          <p:cNvPr id="12" name="TextBox 11"/>
          <p:cNvSpPr txBox="1"/>
          <p:nvPr/>
        </p:nvSpPr>
        <p:spPr>
          <a:xfrm>
            <a:off x="263524" y="799533"/>
            <a:ext cx="7981841" cy="646331"/>
          </a:xfrm>
          <a:prstGeom prst="rect">
            <a:avLst/>
          </a:prstGeom>
          <a:noFill/>
        </p:spPr>
        <p:txBody>
          <a:bodyPr wrap="square" rtlCol="0">
            <a:spAutoFit/>
          </a:bodyPr>
          <a:lstStyle/>
          <a:p>
            <a:pPr lvl="0">
              <a:spcBef>
                <a:spcPts val="0"/>
              </a:spcBef>
              <a:buClr>
                <a:schemeClr val="dk1"/>
              </a:buClr>
              <a:buSzPct val="61111"/>
              <a:buFont typeface="Arial"/>
              <a:buNone/>
            </a:pPr>
            <a:r>
              <a:rPr lang="en-US" dirty="0">
                <a:solidFill>
                  <a:schemeClr val="dk1"/>
                </a:solidFill>
                <a:ea typeface="Calibri"/>
                <a:cs typeface="Calibri"/>
                <a:sym typeface="Calibri"/>
              </a:rPr>
              <a:t>Project: </a:t>
            </a:r>
            <a:r>
              <a:rPr lang="en-US" dirty="0" smtClean="0">
                <a:solidFill>
                  <a:schemeClr val="dk1"/>
                </a:solidFill>
                <a:ea typeface="Calibri"/>
                <a:cs typeface="Calibri"/>
                <a:sym typeface="Calibri"/>
              </a:rPr>
              <a:t>HSD </a:t>
            </a:r>
            <a:r>
              <a:rPr lang="en-US" b="1" dirty="0" smtClean="0">
                <a:solidFill>
                  <a:srgbClr val="6D9D31"/>
                </a:solidFill>
                <a:ea typeface="Calibri"/>
                <a:cs typeface="Calibri"/>
                <a:sym typeface="Calibri"/>
                <a:hlinkClick r:id="rId3"/>
              </a:rPr>
              <a:t>demo.cns.iu.edu/client/hsd/static/heatmap_group.html</a:t>
            </a:r>
            <a:endParaRPr lang="en-US" b="1" dirty="0">
              <a:solidFill>
                <a:srgbClr val="6D9D31"/>
              </a:solidFill>
              <a:ea typeface="Calibri"/>
              <a:cs typeface="Calibri"/>
              <a:sym typeface="Calibri"/>
              <a:hlinkClick r:id="rId3"/>
            </a:endParaRPr>
          </a:p>
          <a:p>
            <a:endParaRPr lang="en-US" dirty="0"/>
          </a:p>
        </p:txBody>
      </p:sp>
      <p:pic>
        <p:nvPicPr>
          <p:cNvPr id="13" name="Shape 311" descr="Screen Shot 2017-04-20 at 2.24.57 PM.png"/>
          <p:cNvPicPr preferRelativeResize="0"/>
          <p:nvPr/>
        </p:nvPicPr>
        <p:blipFill rotWithShape="1">
          <a:blip r:embed="rId4" cstate="print">
            <a:alphaModFix/>
            <a:extLst>
              <a:ext uri="{28A0092B-C50C-407E-A947-70E740481C1C}">
                <a14:useLocalDpi xmlns:a14="http://schemas.microsoft.com/office/drawing/2010/main"/>
              </a:ext>
            </a:extLst>
          </a:blip>
          <a:srcRect b="14072"/>
          <a:stretch/>
        </p:blipFill>
        <p:spPr>
          <a:xfrm>
            <a:off x="1593463" y="1122698"/>
            <a:ext cx="6392295" cy="5307318"/>
          </a:xfrm>
          <a:prstGeom prst="rect">
            <a:avLst/>
          </a:prstGeom>
          <a:noFill/>
          <a:ln>
            <a:noFill/>
          </a:ln>
        </p:spPr>
      </p:pic>
      <p:sp>
        <p:nvSpPr>
          <p:cNvPr id="14" name="Shape 310"/>
          <p:cNvSpPr txBox="1"/>
          <p:nvPr/>
        </p:nvSpPr>
        <p:spPr>
          <a:xfrm>
            <a:off x="8529144" y="1122698"/>
            <a:ext cx="3510455" cy="4211936"/>
          </a:xfrm>
          <a:prstGeom prst="rect">
            <a:avLst/>
          </a:prstGeom>
          <a:noFill/>
          <a:ln>
            <a:noFill/>
          </a:ln>
        </p:spPr>
        <p:txBody>
          <a:bodyPr lIns="91425" tIns="91425" rIns="91425" bIns="91425" anchor="t" anchorCtr="0">
            <a:noAutofit/>
          </a:bodyPr>
          <a:lstStyle/>
          <a:p>
            <a:pPr lvl="0" rtl="0">
              <a:spcBef>
                <a:spcPts val="360"/>
              </a:spcBef>
              <a:buClr>
                <a:schemeClr val="dk1"/>
              </a:buClr>
              <a:buSzPct val="100000"/>
              <a:buFont typeface="Arial"/>
              <a:buNone/>
            </a:pPr>
            <a:r>
              <a:rPr lang="en-US" sz="2000" dirty="0">
                <a:solidFill>
                  <a:schemeClr val="dk1"/>
                </a:solidFill>
                <a:latin typeface="Calibri"/>
                <a:ea typeface="Calibri"/>
                <a:cs typeface="Calibri"/>
                <a:sym typeface="Calibri"/>
              </a:rPr>
              <a:t>This visualization shows how white blood cell (WBC) laboratory tests correlate with three-year survival rates. The HSD dimension of the data (rows) is the time of the day of the test; and three-year survival rate (numbers and colors in the boxes) is an outcome variable. </a:t>
            </a:r>
            <a:endParaRPr lang="en-US" sz="2000" dirty="0" smtClean="0">
              <a:solidFill>
                <a:schemeClr val="dk1"/>
              </a:solidFill>
              <a:latin typeface="Calibri"/>
              <a:ea typeface="Calibri"/>
              <a:cs typeface="Calibri"/>
              <a:sym typeface="Calibri"/>
            </a:endParaRPr>
          </a:p>
          <a:p>
            <a:pPr lvl="0" rtl="0">
              <a:spcBef>
                <a:spcPts val="360"/>
              </a:spcBef>
              <a:buClr>
                <a:schemeClr val="dk1"/>
              </a:buClr>
              <a:buSzPct val="100000"/>
              <a:buFont typeface="Arial"/>
              <a:buNone/>
            </a:pPr>
            <a:endParaRPr lang="en-US" sz="2000" b="1" dirty="0">
              <a:solidFill>
                <a:schemeClr val="dk1"/>
              </a:solidFill>
              <a:latin typeface="Calibri"/>
              <a:ea typeface="Calibri"/>
              <a:cs typeface="Calibri"/>
              <a:sym typeface="Calibri"/>
            </a:endParaRPr>
          </a:p>
          <a:p>
            <a:pPr lvl="0" rtl="0">
              <a:spcBef>
                <a:spcPts val="360"/>
              </a:spcBef>
              <a:buClr>
                <a:schemeClr val="dk1"/>
              </a:buClr>
              <a:buSzPct val="100000"/>
              <a:buFont typeface="Arial"/>
              <a:buNone/>
            </a:pPr>
            <a:r>
              <a:rPr lang="en-US" sz="2000" b="1" dirty="0" smtClean="0">
                <a:solidFill>
                  <a:schemeClr val="dk1"/>
                </a:solidFill>
                <a:latin typeface="Calibri"/>
                <a:ea typeface="Calibri"/>
                <a:cs typeface="Calibri"/>
                <a:sym typeface="Calibri"/>
              </a:rPr>
              <a:t>Aggregation </a:t>
            </a:r>
            <a:r>
              <a:rPr lang="en-US" sz="2000" b="1" dirty="0">
                <a:solidFill>
                  <a:schemeClr val="dk1"/>
                </a:solidFill>
                <a:latin typeface="Calibri"/>
                <a:ea typeface="Calibri"/>
                <a:cs typeface="Calibri"/>
                <a:sym typeface="Calibri"/>
              </a:rPr>
              <a:t>level for the HSD time of day are shown—three 8 hour blocks</a:t>
            </a:r>
            <a:r>
              <a:rPr lang="en-US" sz="2000" dirty="0">
                <a:solidFill>
                  <a:schemeClr val="dk1"/>
                </a:solidFill>
                <a:latin typeface="Calibri"/>
                <a:ea typeface="Calibri"/>
                <a:cs typeface="Calibri"/>
                <a:sym typeface="Calibri"/>
              </a:rPr>
              <a:t>. The lowest survival rates are for patients with a low WBC value in the morning (specifically at 6am). </a:t>
            </a:r>
          </a:p>
          <a:p>
            <a:pPr lvl="0" algn="just">
              <a:spcBef>
                <a:spcPts val="0"/>
              </a:spcBef>
              <a:buNone/>
            </a:pPr>
            <a:endParaRPr sz="2800" dirty="0">
              <a:latin typeface="Calibri"/>
              <a:ea typeface="Calibri"/>
              <a:cs typeface="Calibri"/>
              <a:sym typeface="Calibri"/>
            </a:endParaRPr>
          </a:p>
        </p:txBody>
      </p:sp>
      <p:sp>
        <p:nvSpPr>
          <p:cNvPr id="7" name="TextBox 6"/>
          <p:cNvSpPr txBox="1"/>
          <p:nvPr/>
        </p:nvSpPr>
        <p:spPr>
          <a:xfrm>
            <a:off x="2453154" y="6439809"/>
            <a:ext cx="7278659" cy="400110"/>
          </a:xfrm>
          <a:prstGeom prst="rect">
            <a:avLst/>
          </a:prstGeom>
          <a:noFill/>
        </p:spPr>
        <p:txBody>
          <a:bodyPr wrap="none" rtlCol="0">
            <a:spAutoFit/>
          </a:bodyPr>
          <a:lstStyle/>
          <a:p>
            <a:r>
              <a:rPr lang="en-US" sz="2000" i="1" dirty="0"/>
              <a:t>Figure </a:t>
            </a:r>
            <a:r>
              <a:rPr lang="en-US" sz="2000" i="1" dirty="0" smtClean="0"/>
              <a:t>8. Patient Survival by White Blood Cell Count and Time of Day </a:t>
            </a:r>
            <a:endParaRPr lang="en-US" sz="2000" i="1" dirty="0"/>
          </a:p>
        </p:txBody>
      </p:sp>
    </p:spTree>
    <p:extLst>
      <p:ext uri="{BB962C8B-B14F-4D97-AF65-F5344CB8AC3E}">
        <p14:creationId xmlns:p14="http://schemas.microsoft.com/office/powerpoint/2010/main" val="19802250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7"/>
          <p:cNvSpPr txBox="1">
            <a:spLocks/>
          </p:cNvSpPr>
          <p:nvPr/>
        </p:nvSpPr>
        <p:spPr>
          <a:xfrm>
            <a:off x="263525" y="267151"/>
            <a:ext cx="9531350" cy="7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0">
              <a:spcBef>
                <a:spcPts val="0"/>
              </a:spcBef>
              <a:buNone/>
            </a:pPr>
            <a:r>
              <a:rPr lang="en-US" sz="3200" dirty="0">
                <a:solidFill>
                  <a:schemeClr val="dk1"/>
                </a:solidFill>
                <a:ea typeface="Calibri"/>
                <a:cs typeface="Calibri"/>
                <a:sym typeface="Calibri"/>
              </a:rPr>
              <a:t>Visualization: Sankey</a:t>
            </a:r>
          </a:p>
          <a:p>
            <a:pPr>
              <a:spcBef>
                <a:spcPts val="0"/>
              </a:spcBef>
              <a:buFont typeface="Arial"/>
              <a:buNone/>
            </a:pPr>
            <a:endParaRPr lang="en-US" dirty="0"/>
          </a:p>
          <a:p>
            <a:pPr marL="0" indent="0">
              <a:buFont typeface="Arial"/>
              <a:buNone/>
            </a:pPr>
            <a:endParaRPr lang="en-US" dirty="0"/>
          </a:p>
        </p:txBody>
      </p:sp>
      <p:sp>
        <p:nvSpPr>
          <p:cNvPr id="3" name="Slide Number Placeholder 1"/>
          <p:cNvSpPr>
            <a:spLocks noGrp="1"/>
          </p:cNvSpPr>
          <p:nvPr>
            <p:ph type="sldNum" sz="quarter" idx="12"/>
          </p:nvPr>
        </p:nvSpPr>
        <p:spPr>
          <a:xfrm>
            <a:off x="9296400" y="6356349"/>
            <a:ext cx="2743200" cy="365125"/>
          </a:xfrm>
        </p:spPr>
        <p:txBody>
          <a:bodyPr/>
          <a:lstStyle/>
          <a:p>
            <a:r>
              <a:rPr lang="en-US" dirty="0"/>
              <a:t>29</a:t>
            </a:r>
          </a:p>
        </p:txBody>
      </p:sp>
      <p:pic>
        <p:nvPicPr>
          <p:cNvPr id="4" name="Shape 349" descr="Screen Shot 2017-04-18 at 10.40.11 AM.png"/>
          <p:cNvPicPr preferRelativeResize="0"/>
          <p:nvPr/>
        </p:nvPicPr>
        <p:blipFill>
          <a:blip r:embed="rId3">
            <a:alphaModFix/>
          </a:blip>
          <a:stretch>
            <a:fillRect/>
          </a:stretch>
        </p:blipFill>
        <p:spPr>
          <a:xfrm>
            <a:off x="657648" y="1362925"/>
            <a:ext cx="10829501" cy="4993424"/>
          </a:xfrm>
          <a:prstGeom prst="rect">
            <a:avLst/>
          </a:prstGeom>
          <a:noFill/>
          <a:ln>
            <a:noFill/>
          </a:ln>
        </p:spPr>
      </p:pic>
      <p:sp>
        <p:nvSpPr>
          <p:cNvPr id="2" name="TextBox 1"/>
          <p:cNvSpPr txBox="1"/>
          <p:nvPr/>
        </p:nvSpPr>
        <p:spPr>
          <a:xfrm>
            <a:off x="263525" y="741434"/>
            <a:ext cx="4608020" cy="646331"/>
          </a:xfrm>
          <a:prstGeom prst="rect">
            <a:avLst/>
          </a:prstGeom>
          <a:noFill/>
        </p:spPr>
        <p:txBody>
          <a:bodyPr wrap="square" rtlCol="0">
            <a:spAutoFit/>
          </a:bodyPr>
          <a:lstStyle/>
          <a:p>
            <a:pPr lvl="0">
              <a:spcBef>
                <a:spcPts val="0"/>
              </a:spcBef>
              <a:buNone/>
            </a:pPr>
            <a:r>
              <a:rPr lang="en-US" dirty="0">
                <a:solidFill>
                  <a:schemeClr val="dk1"/>
                </a:solidFill>
                <a:ea typeface="Calibri"/>
                <a:cs typeface="Calibri"/>
                <a:sym typeface="Calibri"/>
              </a:rPr>
              <a:t>Project: </a:t>
            </a:r>
            <a:r>
              <a:rPr lang="en-US" dirty="0" smtClean="0">
                <a:solidFill>
                  <a:schemeClr val="dk1"/>
                </a:solidFill>
                <a:ea typeface="Calibri"/>
                <a:cs typeface="Calibri"/>
                <a:sym typeface="Calibri"/>
              </a:rPr>
              <a:t>STEM </a:t>
            </a:r>
            <a:r>
              <a:rPr lang="en-US" b="1" dirty="0" smtClean="0">
                <a:solidFill>
                  <a:srgbClr val="6D9D31"/>
                </a:solidFill>
                <a:ea typeface="Calibri"/>
                <a:cs typeface="Calibri"/>
                <a:sym typeface="Calibri"/>
                <a:hlinkClick r:id="rId4"/>
              </a:rPr>
              <a:t>demo.cns.iu.edu/webvis/stem</a:t>
            </a:r>
            <a:endParaRPr lang="en-US" b="1" dirty="0">
              <a:solidFill>
                <a:srgbClr val="6D9D31"/>
              </a:solidFill>
              <a:ea typeface="Calibri"/>
              <a:cs typeface="Calibri"/>
              <a:sym typeface="Calibri"/>
              <a:hlinkClick r:id="rId4"/>
            </a:endParaRPr>
          </a:p>
          <a:p>
            <a:endParaRPr lang="en-US" dirty="0"/>
          </a:p>
        </p:txBody>
      </p:sp>
      <p:pic>
        <p:nvPicPr>
          <p:cNvPr id="7" name="Shape 349" descr="Screen Shot 2017-04-18 at 10.40.11 AM.png"/>
          <p:cNvPicPr preferRelativeResize="0"/>
          <p:nvPr/>
        </p:nvPicPr>
        <p:blipFill rotWithShape="1">
          <a:blip r:embed="rId3" cstate="print">
            <a:alphaModFix/>
            <a:extLst>
              <a:ext uri="{28A0092B-C50C-407E-A947-70E740481C1C}">
                <a14:useLocalDpi xmlns:a14="http://schemas.microsoft.com/office/drawing/2010/main"/>
              </a:ext>
            </a:extLst>
          </a:blip>
          <a:srcRect b="12552"/>
          <a:stretch/>
        </p:blipFill>
        <p:spPr>
          <a:xfrm>
            <a:off x="276326" y="1122077"/>
            <a:ext cx="11592144" cy="4891883"/>
          </a:xfrm>
          <a:prstGeom prst="rect">
            <a:avLst/>
          </a:prstGeom>
          <a:noFill/>
          <a:ln>
            <a:noFill/>
          </a:ln>
        </p:spPr>
      </p:pic>
      <p:sp>
        <p:nvSpPr>
          <p:cNvPr id="9" name="TextBox 8"/>
          <p:cNvSpPr txBox="1"/>
          <p:nvPr/>
        </p:nvSpPr>
        <p:spPr>
          <a:xfrm>
            <a:off x="3872051" y="6457890"/>
            <a:ext cx="4171078" cy="400110"/>
          </a:xfrm>
          <a:prstGeom prst="rect">
            <a:avLst/>
          </a:prstGeom>
          <a:noFill/>
        </p:spPr>
        <p:txBody>
          <a:bodyPr wrap="none" rtlCol="0">
            <a:spAutoFit/>
          </a:bodyPr>
          <a:lstStyle/>
          <a:p>
            <a:r>
              <a:rPr lang="en-US" sz="2000" i="1" dirty="0"/>
              <a:t>Figure 9</a:t>
            </a:r>
            <a:r>
              <a:rPr lang="en-US" sz="2000" i="1" dirty="0" smtClean="0"/>
              <a:t>. STEM Pathways Visualization</a:t>
            </a:r>
            <a:endParaRPr lang="en-US" sz="2000" i="1" dirty="0"/>
          </a:p>
        </p:txBody>
      </p:sp>
    </p:spTree>
    <p:extLst>
      <p:ext uri="{BB962C8B-B14F-4D97-AF65-F5344CB8AC3E}">
        <p14:creationId xmlns:p14="http://schemas.microsoft.com/office/powerpoint/2010/main" val="155319512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9296400" y="6356349"/>
            <a:ext cx="2743200" cy="365125"/>
          </a:xfrm>
        </p:spPr>
        <p:txBody>
          <a:bodyPr/>
          <a:lstStyle/>
          <a:p>
            <a:fld id="{290411FE-F426-8D49-82D8-99B69C723D30}" type="slidenum">
              <a:rPr lang="en-US" smtClean="0"/>
              <a:t>27</a:t>
            </a:fld>
            <a:endParaRPr lang="en-US"/>
          </a:p>
        </p:txBody>
      </p:sp>
      <p:pic>
        <p:nvPicPr>
          <p:cNvPr id="4" name="Picture 3"/>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8823" y="6285479"/>
            <a:ext cx="1058844" cy="435995"/>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8823" y="6285478"/>
            <a:ext cx="1058844" cy="435995"/>
          </a:xfrm>
          <a:prstGeom prst="rect">
            <a:avLst/>
          </a:prstGeom>
        </p:spPr>
      </p:pic>
      <p:sp>
        <p:nvSpPr>
          <p:cNvPr id="5" name="Content Placeholder 7"/>
          <p:cNvSpPr txBox="1">
            <a:spLocks/>
          </p:cNvSpPr>
          <p:nvPr/>
        </p:nvSpPr>
        <p:spPr>
          <a:xfrm>
            <a:off x="263525" y="267151"/>
            <a:ext cx="9531350" cy="753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0">
              <a:spcBef>
                <a:spcPts val="0"/>
              </a:spcBef>
              <a:buNone/>
            </a:pPr>
            <a:r>
              <a:rPr lang="en-US" sz="3200" dirty="0">
                <a:solidFill>
                  <a:schemeClr val="dk1"/>
                </a:solidFill>
                <a:ea typeface="Calibri"/>
                <a:cs typeface="Calibri"/>
                <a:sym typeface="Calibri"/>
              </a:rPr>
              <a:t>Visualization</a:t>
            </a:r>
            <a:r>
              <a:rPr lang="en-US" sz="3200">
                <a:solidFill>
                  <a:schemeClr val="dk1"/>
                </a:solidFill>
                <a:ea typeface="Calibri"/>
                <a:cs typeface="Calibri"/>
                <a:sym typeface="Calibri"/>
              </a:rPr>
              <a:t>: Outlook</a:t>
            </a:r>
            <a:endParaRPr lang="en-US" sz="3200" dirty="0">
              <a:solidFill>
                <a:schemeClr val="dk1"/>
              </a:solidFill>
              <a:ea typeface="Calibri"/>
              <a:cs typeface="Calibri"/>
              <a:sym typeface="Calibri"/>
            </a:endParaRPr>
          </a:p>
          <a:p>
            <a:pPr>
              <a:spcBef>
                <a:spcPts val="0"/>
              </a:spcBef>
              <a:buFont typeface="Arial"/>
              <a:buNone/>
            </a:pPr>
            <a:endParaRPr lang="en-US" dirty="0"/>
          </a:p>
          <a:p>
            <a:pPr marL="0" indent="0">
              <a:buFont typeface="Arial"/>
              <a:buNone/>
            </a:pPr>
            <a:endParaRPr lang="en-US" dirty="0"/>
          </a:p>
        </p:txBody>
      </p:sp>
      <p:sp>
        <p:nvSpPr>
          <p:cNvPr id="9" name="TextBox 8"/>
          <p:cNvSpPr txBox="1"/>
          <p:nvPr/>
        </p:nvSpPr>
        <p:spPr>
          <a:xfrm>
            <a:off x="6527670" y="1020536"/>
            <a:ext cx="5306977" cy="1938992"/>
          </a:xfrm>
          <a:prstGeom prst="rect">
            <a:avLst/>
          </a:prstGeom>
          <a:noFill/>
        </p:spPr>
        <p:txBody>
          <a:bodyPr wrap="square" rtlCol="0">
            <a:spAutoFit/>
          </a:bodyPr>
          <a:lstStyle/>
          <a:p>
            <a:pPr marL="342900" indent="-342900">
              <a:buFont typeface="+mj-lt"/>
              <a:buAutoNum type="arabicPeriod"/>
            </a:pPr>
            <a:r>
              <a:rPr lang="en-US" sz="2400" dirty="0"/>
              <a:t>More robust workflow</a:t>
            </a:r>
          </a:p>
          <a:p>
            <a:pPr marL="342900" indent="-342900">
              <a:buFont typeface="+mj-lt"/>
              <a:buAutoNum type="arabicPeriod"/>
            </a:pPr>
            <a:r>
              <a:rPr lang="en-US" sz="2400" dirty="0"/>
              <a:t>Public-facing code and documentation</a:t>
            </a:r>
          </a:p>
          <a:p>
            <a:pPr marL="342900" indent="-342900">
              <a:buFont typeface="+mj-lt"/>
              <a:buAutoNum type="arabicPeriod"/>
            </a:pPr>
            <a:r>
              <a:rPr lang="en-US" sz="2400" dirty="0"/>
              <a:t>More visualization library support</a:t>
            </a:r>
          </a:p>
          <a:p>
            <a:pPr marL="342900" indent="-342900">
              <a:buFont typeface="+mj-lt"/>
              <a:buAutoNum type="arabicPeriod"/>
            </a:pPr>
            <a:r>
              <a:rPr lang="en-US" sz="2400" dirty="0"/>
              <a:t>Better cross-visualization integration</a:t>
            </a:r>
          </a:p>
          <a:p>
            <a:pPr marL="342900" indent="-342900">
              <a:buFont typeface="+mj-lt"/>
              <a:buAutoNum type="arabicPeriod"/>
            </a:pPr>
            <a:r>
              <a:rPr lang="en-US" sz="2400" dirty="0"/>
              <a:t>More visualization plugins</a:t>
            </a:r>
          </a:p>
        </p:txBody>
      </p:sp>
      <p:pic>
        <p:nvPicPr>
          <p:cNvPr id="10" name="Picture 4"/>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30274" y="1020536"/>
            <a:ext cx="5449824" cy="25266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0"/>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30274" y="3538552"/>
            <a:ext cx="5428673" cy="2817797"/>
          </a:xfrm>
          <a:prstGeom prst="rect">
            <a:avLst/>
          </a:prstGeom>
        </p:spPr>
      </p:pic>
      <p:sp>
        <p:nvSpPr>
          <p:cNvPr id="12" name="Rectangle 3"/>
          <p:cNvSpPr txBox="1">
            <a:spLocks noChangeArrowheads="1"/>
          </p:cNvSpPr>
          <p:nvPr/>
        </p:nvSpPr>
        <p:spPr bwMode="auto">
          <a:xfrm>
            <a:off x="6732623" y="3547219"/>
            <a:ext cx="4364055" cy="284042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lnSpc>
                <a:spcPct val="80000"/>
              </a:lnSpc>
              <a:buFont typeface="Wingdings" pitchFamily="2" charset="2"/>
              <a:buNone/>
            </a:pPr>
            <a:r>
              <a:rPr lang="en-US" sz="1800" dirty="0">
                <a:latin typeface="Calibri" pitchFamily="34" charset="0"/>
              </a:rPr>
              <a:t>All papers, maps, tools, talks, press are linked from </a:t>
            </a:r>
            <a:r>
              <a:rPr lang="en-US" sz="1800" dirty="0">
                <a:latin typeface="Calibri" pitchFamily="34" charset="0"/>
                <a:hlinkClick r:id="rId6"/>
              </a:rPr>
              <a:t>http://cns.iu.edu</a:t>
            </a:r>
            <a:endParaRPr lang="en-US" sz="1800" dirty="0">
              <a:latin typeface="Calibri" pitchFamily="34" charset="0"/>
            </a:endParaRPr>
          </a:p>
          <a:p>
            <a:pPr algn="ctr">
              <a:lnSpc>
                <a:spcPct val="80000"/>
              </a:lnSpc>
              <a:buFont typeface="Arial"/>
              <a:buNone/>
            </a:pPr>
            <a:endParaRPr lang="en-US" sz="1800" dirty="0">
              <a:latin typeface="Calibri" pitchFamily="34" charset="0"/>
            </a:endParaRPr>
          </a:p>
          <a:p>
            <a:pPr algn="ctr">
              <a:lnSpc>
                <a:spcPct val="80000"/>
              </a:lnSpc>
              <a:buFont typeface="Arial"/>
              <a:buNone/>
            </a:pPr>
            <a:r>
              <a:rPr lang="en-US" sz="1800" dirty="0">
                <a:latin typeface="Calibri" pitchFamily="34" charset="0"/>
              </a:rPr>
              <a:t>These slides are at </a:t>
            </a:r>
            <a:r>
              <a:rPr lang="en-US" sz="1800" dirty="0">
                <a:latin typeface="Calibri" pitchFamily="34" charset="0"/>
                <a:hlinkClick r:id="rId7"/>
              </a:rPr>
              <a:t>http://cns.iu.edu/presentations.html</a:t>
            </a:r>
            <a:endParaRPr lang="en-US" sz="1800" dirty="0">
              <a:latin typeface="Calibri" pitchFamily="34" charset="0"/>
            </a:endParaRPr>
          </a:p>
          <a:p>
            <a:pPr algn="ctr">
              <a:lnSpc>
                <a:spcPct val="80000"/>
              </a:lnSpc>
              <a:buFont typeface="Arial"/>
              <a:buNone/>
            </a:pPr>
            <a:endParaRPr lang="en-US" sz="900" dirty="0">
              <a:latin typeface="Calibri" pitchFamily="34" charset="0"/>
            </a:endParaRPr>
          </a:p>
          <a:p>
            <a:pPr algn="ctr">
              <a:lnSpc>
                <a:spcPct val="80000"/>
              </a:lnSpc>
              <a:buFont typeface="Wingdings" pitchFamily="2" charset="2"/>
              <a:buNone/>
            </a:pPr>
            <a:r>
              <a:rPr lang="en-US" sz="1800" dirty="0">
                <a:latin typeface="Calibri" pitchFamily="34" charset="0"/>
              </a:rPr>
              <a:t>CNS Facebook: </a:t>
            </a:r>
            <a:r>
              <a:rPr lang="en-US" sz="1800" dirty="0">
                <a:latin typeface="Calibri" pitchFamily="34" charset="0"/>
                <a:hlinkClick r:id="rId8"/>
              </a:rPr>
              <a:t>http://www.facebook.com/cnscenter</a:t>
            </a:r>
            <a:r>
              <a:rPr lang="en-US" sz="1800" dirty="0">
                <a:latin typeface="Calibri" pitchFamily="34" charset="0"/>
              </a:rPr>
              <a:t> </a:t>
            </a:r>
          </a:p>
          <a:p>
            <a:pPr algn="ctr">
              <a:lnSpc>
                <a:spcPct val="80000"/>
              </a:lnSpc>
              <a:buFont typeface="Wingdings" pitchFamily="2" charset="2"/>
              <a:buNone/>
            </a:pPr>
            <a:endParaRPr lang="en-US" sz="1800" dirty="0">
              <a:latin typeface="Calibri" pitchFamily="34" charset="0"/>
            </a:endParaRPr>
          </a:p>
          <a:p>
            <a:pPr algn="ctr">
              <a:lnSpc>
                <a:spcPct val="80000"/>
              </a:lnSpc>
              <a:buFont typeface="Wingdings" pitchFamily="2" charset="2"/>
              <a:buNone/>
            </a:pPr>
            <a:r>
              <a:rPr lang="en-US" sz="1800" dirty="0">
                <a:latin typeface="Calibri" pitchFamily="34" charset="0"/>
              </a:rPr>
              <a:t>Visualizations:</a:t>
            </a:r>
          </a:p>
          <a:p>
            <a:pPr algn="ctr">
              <a:lnSpc>
                <a:spcPct val="80000"/>
              </a:lnSpc>
              <a:buFont typeface="Arial"/>
              <a:buNone/>
            </a:pPr>
            <a:r>
              <a:rPr lang="en-US" sz="1800" dirty="0">
                <a:latin typeface="Calibri" pitchFamily="34" charset="0"/>
                <a:hlinkClick r:id="rId9"/>
              </a:rPr>
              <a:t>http://cns.iu.edu/visualizations.html</a:t>
            </a:r>
            <a:endParaRPr lang="en-US" sz="1800" dirty="0">
              <a:latin typeface="Calibri" pitchFamily="34" charset="0"/>
            </a:endParaRPr>
          </a:p>
          <a:p>
            <a:pPr algn="ctr">
              <a:lnSpc>
                <a:spcPct val="80000"/>
              </a:lnSpc>
              <a:buFont typeface="Wingdings" pitchFamily="2" charset="2"/>
              <a:buNone/>
            </a:pPr>
            <a:endParaRPr lang="en-US" sz="1800" dirty="0">
              <a:latin typeface="Calibri" pitchFamily="34" charset="0"/>
            </a:endParaRPr>
          </a:p>
          <a:p>
            <a:pPr algn="ctr">
              <a:lnSpc>
                <a:spcPct val="80000"/>
              </a:lnSpc>
              <a:buFont typeface="Wingdings" pitchFamily="2" charset="2"/>
              <a:buNone/>
            </a:pPr>
            <a:r>
              <a:rPr lang="en-US" sz="1800" dirty="0">
                <a:latin typeface="Calibri" pitchFamily="34" charset="0"/>
              </a:rPr>
              <a:t>Tools: </a:t>
            </a:r>
          </a:p>
          <a:p>
            <a:pPr algn="ctr">
              <a:lnSpc>
                <a:spcPct val="80000"/>
              </a:lnSpc>
              <a:buFont typeface="Arial"/>
              <a:buNone/>
            </a:pPr>
            <a:r>
              <a:rPr lang="en-US" sz="1800" dirty="0">
                <a:latin typeface="Calibri" pitchFamily="34" charset="0"/>
                <a:hlinkClick r:id="rId10"/>
              </a:rPr>
              <a:t>http://cns.iu.edu/data_tools.html</a:t>
            </a:r>
            <a:endParaRPr lang="en-US" sz="1800" i="1" dirty="0">
              <a:latin typeface="Calibri" pitchFamily="34" charset="0"/>
            </a:endParaRPr>
          </a:p>
        </p:txBody>
      </p:sp>
    </p:spTree>
    <p:extLst>
      <p:ext uri="{BB962C8B-B14F-4D97-AF65-F5344CB8AC3E}">
        <p14:creationId xmlns:p14="http://schemas.microsoft.com/office/powerpoint/2010/main" val="63566650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66956" y="1474978"/>
            <a:ext cx="3873782" cy="545041"/>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smtClean="0"/>
              <a:t>2018 IVMOOC</a:t>
            </a:r>
            <a:endParaRPr lang="en-US" dirty="0"/>
          </a:p>
        </p:txBody>
      </p:sp>
      <p:sp>
        <p:nvSpPr>
          <p:cNvPr id="3" name="Slide Number Placeholder 2"/>
          <p:cNvSpPr>
            <a:spLocks noGrp="1"/>
          </p:cNvSpPr>
          <p:nvPr>
            <p:ph type="sldNum" sz="quarter" idx="12"/>
          </p:nvPr>
        </p:nvSpPr>
        <p:spPr/>
        <p:txBody>
          <a:bodyPr/>
          <a:lstStyle/>
          <a:p>
            <a:fld id="{290411FE-F426-8D49-82D8-99B69C723D30}" type="slidenum">
              <a:rPr lang="en-US" smtClean="0"/>
              <a:t>28</a:t>
            </a:fld>
            <a:endParaRPr lang="en-US" dirty="0"/>
          </a:p>
        </p:txBody>
      </p:sp>
      <p:sp>
        <p:nvSpPr>
          <p:cNvPr id="4" name="Rectangle 3"/>
          <p:cNvSpPr/>
          <p:nvPr/>
        </p:nvSpPr>
        <p:spPr>
          <a:xfrm>
            <a:off x="666956" y="2020019"/>
            <a:ext cx="5102248" cy="2308324"/>
          </a:xfrm>
          <a:prstGeom prst="rect">
            <a:avLst/>
          </a:prstGeom>
        </p:spPr>
        <p:txBody>
          <a:bodyPr wrap="square">
            <a:spAutoFit/>
          </a:bodyPr>
          <a:lstStyle/>
          <a:p>
            <a:r>
              <a:rPr lang="en-US" dirty="0"/>
              <a:t>This course provides an overview about the state of the art in information visualization. It teaches the process of producing effective visualizations that take the needs of users into account</a:t>
            </a:r>
            <a:r>
              <a:rPr lang="en-US" dirty="0" smtClean="0"/>
              <a:t>.</a:t>
            </a:r>
          </a:p>
          <a:p>
            <a:endParaRPr lang="en-US" dirty="0" smtClean="0"/>
          </a:p>
          <a:p>
            <a:r>
              <a:rPr lang="en-US" dirty="0">
                <a:latin typeface="Calibri" panose="020F0502020204030204" pitchFamily="34" charset="0"/>
                <a:cs typeface="Arial" pitchFamily="34" charset="0"/>
              </a:rPr>
              <a:t>Register for free: </a:t>
            </a:r>
            <a:r>
              <a:rPr lang="en-US" b="1" dirty="0">
                <a:solidFill>
                  <a:srgbClr val="8CC63E"/>
                </a:solidFill>
                <a:latin typeface="Calibri" panose="020F0502020204030204" pitchFamily="34" charset="0"/>
                <a:cs typeface="Arial" pitchFamily="34" charset="0"/>
              </a:rPr>
              <a:t>ivmooc.cns.iu.edu</a:t>
            </a:r>
            <a:r>
              <a:rPr lang="en-US" dirty="0">
                <a:latin typeface="Calibri" panose="020F0502020204030204" pitchFamily="34" charset="0"/>
                <a:cs typeface="Arial" pitchFamily="34" charset="0"/>
              </a:rPr>
              <a:t>. </a:t>
            </a:r>
            <a:endParaRPr lang="en-US" dirty="0" smtClean="0">
              <a:latin typeface="Calibri" panose="020F0502020204030204" pitchFamily="34" charset="0"/>
              <a:cs typeface="Arial" pitchFamily="34" charset="0"/>
            </a:endParaRPr>
          </a:p>
          <a:p>
            <a:r>
              <a:rPr lang="en-US" dirty="0" smtClean="0">
                <a:latin typeface="Calibri" panose="020F0502020204030204" pitchFamily="34" charset="0"/>
                <a:cs typeface="Arial" pitchFamily="34" charset="0"/>
              </a:rPr>
              <a:t>Class </a:t>
            </a:r>
            <a:r>
              <a:rPr lang="en-US" dirty="0">
                <a:latin typeface="Calibri" panose="020F0502020204030204" pitchFamily="34" charset="0"/>
                <a:cs typeface="Arial" pitchFamily="34" charset="0"/>
              </a:rPr>
              <a:t>started Jan 9, 2018.</a:t>
            </a:r>
          </a:p>
          <a:p>
            <a:endParaRPr lang="en-US" dirty="0"/>
          </a:p>
        </p:txBody>
      </p:sp>
      <p:pic>
        <p:nvPicPr>
          <p:cNvPr id="7" name="Picture 6"/>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0736" y="4164141"/>
            <a:ext cx="4294545" cy="2421660"/>
          </a:xfrm>
          <a:prstGeom prst="rect">
            <a:avLst/>
          </a:prstGeom>
        </p:spPr>
      </p:pic>
      <p:pic>
        <p:nvPicPr>
          <p:cNvPr id="12" name="Picture 1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78330" y="0"/>
            <a:ext cx="3924835" cy="6858000"/>
          </a:xfrm>
          <a:prstGeom prst="rect">
            <a:avLst/>
          </a:prstGeom>
        </p:spPr>
      </p:pic>
    </p:spTree>
    <p:extLst>
      <p:ext uri="{BB962C8B-B14F-4D97-AF65-F5344CB8AC3E}">
        <p14:creationId xmlns:p14="http://schemas.microsoft.com/office/powerpoint/2010/main" val="3593193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Slide Number Placeholder 1"/>
          <p:cNvSpPr>
            <a:spLocks noGrp="1"/>
          </p:cNvSpPr>
          <p:nvPr>
            <p:ph type="sldNum" sz="quarter" idx="12"/>
          </p:nvPr>
        </p:nvSpPr>
        <p:spPr>
          <a:xfrm>
            <a:off x="8610600" y="6356350"/>
            <a:ext cx="2743200" cy="365125"/>
          </a:xfrm>
        </p:spPr>
        <p:txBody>
          <a:bodyPr>
            <a:normAutofit/>
          </a:bodyPr>
          <a:lstStyle/>
          <a:p>
            <a:pPr>
              <a:spcAft>
                <a:spcPts val="600"/>
              </a:spcAft>
            </a:pPr>
            <a:fld id="{290411FE-F426-8D49-82D8-99B69C723D30}" type="slidenum">
              <a:rPr lang="en-US">
                <a:solidFill>
                  <a:srgbClr val="FFFFFF"/>
                </a:solidFill>
              </a:rPr>
              <a:pPr>
                <a:spcAft>
                  <a:spcPts val="600"/>
                </a:spcAft>
              </a:pPr>
              <a:t>29</a:t>
            </a:fld>
            <a:endParaRPr lang="en-US">
              <a:solidFill>
                <a:srgbClr val="FFFFFF"/>
              </a:solidFill>
            </a:endParaRPr>
          </a:p>
        </p:txBody>
      </p:sp>
    </p:spTree>
    <p:extLst>
      <p:ext uri="{BB962C8B-B14F-4D97-AF65-F5344CB8AC3E}">
        <p14:creationId xmlns:p14="http://schemas.microsoft.com/office/powerpoint/2010/main" val="12496669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3602" name="Rectangle 2"/>
          <p:cNvSpPr>
            <a:spLocks noChangeArrowheads="1"/>
          </p:cNvSpPr>
          <p:nvPr/>
        </p:nvSpPr>
        <p:spPr bwMode="auto">
          <a:xfrm>
            <a:off x="490538" y="214313"/>
            <a:ext cx="6216889" cy="64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333CC"/>
                </a:solidFill>
                <a:miter lim="800000"/>
                <a:headEnd/>
                <a:tailEnd/>
              </a14:hiddenLine>
            </a:ext>
          </a:extLst>
        </p:spPr>
        <p:txBody>
          <a:bodyPr/>
          <a:lstStyle/>
          <a:p>
            <a:pPr>
              <a:spcBef>
                <a:spcPct val="20000"/>
              </a:spcBef>
              <a:buClr>
                <a:srgbClr val="4D4D4D"/>
              </a:buClr>
              <a:tabLst>
                <a:tab pos="4740275" algn="l"/>
              </a:tabLst>
            </a:pPr>
            <a:r>
              <a:rPr lang="en-US" sz="3600" dirty="0">
                <a:solidFill>
                  <a:srgbClr val="292929"/>
                </a:solidFill>
                <a:latin typeface="Calibri" panose="020F0502020204030204" pitchFamily="34" charset="0"/>
                <a:cs typeface="Arial"/>
              </a:rPr>
              <a:t>References</a:t>
            </a:r>
          </a:p>
          <a:p>
            <a:pPr>
              <a:spcBef>
                <a:spcPct val="20000"/>
              </a:spcBef>
              <a:buClr>
                <a:srgbClr val="4D4D4D"/>
              </a:buClr>
              <a:tabLst>
                <a:tab pos="4740275" algn="l"/>
              </a:tabLst>
            </a:pPr>
            <a:endParaRPr lang="en-US" sz="900" b="1" dirty="0">
              <a:solidFill>
                <a:srgbClr val="292929"/>
              </a:solidFill>
              <a:latin typeface="Calibri" panose="020F0502020204030204" pitchFamily="34" charset="0"/>
              <a:cs typeface="Arial"/>
            </a:endParaRPr>
          </a:p>
          <a:p>
            <a:pPr>
              <a:spcBef>
                <a:spcPct val="20000"/>
              </a:spcBef>
              <a:buClr>
                <a:srgbClr val="4D4D4D"/>
              </a:buClr>
              <a:tabLst>
                <a:tab pos="4740275" algn="l"/>
              </a:tabLst>
            </a:pPr>
            <a:r>
              <a:rPr lang="en-US" sz="1600" dirty="0" err="1">
                <a:solidFill>
                  <a:srgbClr val="292929"/>
                </a:solidFill>
                <a:latin typeface="Calibri" panose="020F0502020204030204" pitchFamily="34" charset="0"/>
                <a:cs typeface="Arial"/>
              </a:rPr>
              <a:t>Börner</a:t>
            </a:r>
            <a:r>
              <a:rPr lang="en-US" sz="1600" dirty="0">
                <a:solidFill>
                  <a:srgbClr val="292929"/>
                </a:solidFill>
                <a:latin typeface="Calibri" panose="020F0502020204030204" pitchFamily="34" charset="0"/>
                <a:cs typeface="Arial"/>
              </a:rPr>
              <a:t>, Katy, Chen, </a:t>
            </a:r>
            <a:r>
              <a:rPr lang="en-US" sz="1600" dirty="0" err="1">
                <a:solidFill>
                  <a:srgbClr val="292929"/>
                </a:solidFill>
                <a:latin typeface="Calibri" panose="020F0502020204030204" pitchFamily="34" charset="0"/>
                <a:cs typeface="Arial"/>
              </a:rPr>
              <a:t>Chaomei</a:t>
            </a:r>
            <a:r>
              <a:rPr lang="en-US" sz="1600" dirty="0">
                <a:solidFill>
                  <a:srgbClr val="292929"/>
                </a:solidFill>
                <a:latin typeface="Calibri" panose="020F0502020204030204" pitchFamily="34" charset="0"/>
                <a:cs typeface="Arial"/>
              </a:rPr>
              <a:t>, and </a:t>
            </a:r>
            <a:r>
              <a:rPr lang="en-US" sz="1600" dirty="0" err="1">
                <a:solidFill>
                  <a:srgbClr val="292929"/>
                </a:solidFill>
                <a:latin typeface="Calibri" panose="020F0502020204030204" pitchFamily="34" charset="0"/>
                <a:cs typeface="Arial"/>
              </a:rPr>
              <a:t>Boyack</a:t>
            </a:r>
            <a:r>
              <a:rPr lang="en-US" sz="1600" dirty="0">
                <a:solidFill>
                  <a:srgbClr val="292929"/>
                </a:solidFill>
                <a:latin typeface="Calibri" panose="020F0502020204030204" pitchFamily="34" charset="0"/>
                <a:cs typeface="Arial"/>
              </a:rPr>
              <a:t>, Kevin. (2003). </a:t>
            </a:r>
            <a:r>
              <a:rPr lang="en-US" sz="1600" b="1" dirty="0">
                <a:solidFill>
                  <a:srgbClr val="292929"/>
                </a:solidFill>
                <a:latin typeface="Calibri" panose="020F0502020204030204" pitchFamily="34" charset="0"/>
                <a:cs typeface="Arial"/>
              </a:rPr>
              <a:t>Visualizing Knowledge Domains.</a:t>
            </a:r>
            <a:r>
              <a:rPr lang="en-US" sz="1600" dirty="0">
                <a:solidFill>
                  <a:srgbClr val="292929"/>
                </a:solidFill>
                <a:latin typeface="Calibri" panose="020F0502020204030204" pitchFamily="34" charset="0"/>
                <a:cs typeface="Arial"/>
              </a:rPr>
              <a:t> In </a:t>
            </a:r>
            <a:r>
              <a:rPr lang="en-US" sz="1600" dirty="0" err="1">
                <a:solidFill>
                  <a:srgbClr val="292929"/>
                </a:solidFill>
                <a:latin typeface="Calibri" panose="020F0502020204030204" pitchFamily="34" charset="0"/>
                <a:cs typeface="Arial"/>
              </a:rPr>
              <a:t>Blaise</a:t>
            </a:r>
            <a:r>
              <a:rPr lang="en-US" sz="1600" dirty="0">
                <a:solidFill>
                  <a:srgbClr val="292929"/>
                </a:solidFill>
                <a:latin typeface="Calibri" panose="020F0502020204030204" pitchFamily="34" charset="0"/>
                <a:cs typeface="Arial"/>
              </a:rPr>
              <a:t> Cronin (Ed.), </a:t>
            </a:r>
            <a:r>
              <a:rPr lang="en-US" sz="1600" i="1" dirty="0">
                <a:solidFill>
                  <a:srgbClr val="292929"/>
                </a:solidFill>
                <a:latin typeface="Calibri" panose="020F0502020204030204" pitchFamily="34" charset="0"/>
                <a:cs typeface="Arial"/>
              </a:rPr>
              <a:t>ARIST</a:t>
            </a:r>
            <a:r>
              <a:rPr lang="en-US" sz="1600" dirty="0">
                <a:solidFill>
                  <a:srgbClr val="292929"/>
                </a:solidFill>
                <a:latin typeface="Calibri" panose="020F0502020204030204" pitchFamily="34" charset="0"/>
                <a:cs typeface="Arial"/>
              </a:rPr>
              <a:t>, Medford, NJ: Information Today, Volume 37, Chapter 5, pp. 179-255. </a:t>
            </a:r>
            <a:r>
              <a:rPr lang="en-US" sz="1600" dirty="0">
                <a:solidFill>
                  <a:srgbClr val="292929"/>
                </a:solidFill>
                <a:latin typeface="Calibri" panose="020F0502020204030204" pitchFamily="34" charset="0"/>
                <a:cs typeface="Arial"/>
                <a:hlinkClick r:id="rId3"/>
              </a:rPr>
              <a:t>http://ivl.slis.indiana.edu/km/pub/2003-borner-arist.pdf</a:t>
            </a:r>
            <a:endParaRPr lang="en-US" sz="1600" dirty="0">
              <a:solidFill>
                <a:srgbClr val="292929"/>
              </a:solidFill>
              <a:latin typeface="Calibri" panose="020F0502020204030204" pitchFamily="34" charset="0"/>
              <a:cs typeface="Arial"/>
            </a:endParaRPr>
          </a:p>
          <a:p>
            <a:pPr>
              <a:spcBef>
                <a:spcPct val="20000"/>
              </a:spcBef>
              <a:buClr>
                <a:srgbClr val="4D4D4D"/>
              </a:buClr>
              <a:tabLst>
                <a:tab pos="4740275" algn="l"/>
              </a:tabLst>
            </a:pPr>
            <a:r>
              <a:rPr lang="en-US" sz="900" dirty="0">
                <a:solidFill>
                  <a:srgbClr val="292929"/>
                </a:solidFill>
                <a:latin typeface="Calibri" panose="020F0502020204030204" pitchFamily="34" charset="0"/>
                <a:cs typeface="Arial"/>
              </a:rPr>
              <a:t>	</a:t>
            </a:r>
          </a:p>
          <a:p>
            <a:pPr>
              <a:spcBef>
                <a:spcPct val="20000"/>
              </a:spcBef>
              <a:buClr>
                <a:srgbClr val="4D4D4D"/>
              </a:buClr>
              <a:tabLst>
                <a:tab pos="4740275" algn="l"/>
              </a:tabLst>
            </a:pPr>
            <a:r>
              <a:rPr lang="en-US" sz="1600" dirty="0" err="1">
                <a:solidFill>
                  <a:srgbClr val="292929"/>
                </a:solidFill>
                <a:latin typeface="Calibri" panose="020F0502020204030204" pitchFamily="34" charset="0"/>
                <a:cs typeface="Arial"/>
              </a:rPr>
              <a:t>Shiffrin</a:t>
            </a:r>
            <a:r>
              <a:rPr lang="en-US" sz="1600" dirty="0">
                <a:solidFill>
                  <a:srgbClr val="292929"/>
                </a:solidFill>
                <a:latin typeface="Calibri" panose="020F0502020204030204" pitchFamily="34" charset="0"/>
                <a:cs typeface="Arial"/>
              </a:rPr>
              <a:t>, Richard M. and </a:t>
            </a:r>
            <a:r>
              <a:rPr lang="en-US" sz="1600" dirty="0" err="1">
                <a:solidFill>
                  <a:srgbClr val="292929"/>
                </a:solidFill>
                <a:latin typeface="Calibri" panose="020F0502020204030204" pitchFamily="34" charset="0"/>
                <a:cs typeface="Arial"/>
              </a:rPr>
              <a:t>Börner</a:t>
            </a:r>
            <a:r>
              <a:rPr lang="en-US" sz="1600" dirty="0">
                <a:solidFill>
                  <a:srgbClr val="292929"/>
                </a:solidFill>
                <a:latin typeface="Calibri" panose="020F0502020204030204" pitchFamily="34" charset="0"/>
                <a:cs typeface="Arial"/>
              </a:rPr>
              <a:t>, Katy (Eds.)  (2004). </a:t>
            </a:r>
            <a:r>
              <a:rPr lang="en-US" sz="1600" b="1" dirty="0">
                <a:solidFill>
                  <a:srgbClr val="292929"/>
                </a:solidFill>
                <a:latin typeface="Calibri" panose="020F0502020204030204" pitchFamily="34" charset="0"/>
                <a:cs typeface="Arial"/>
              </a:rPr>
              <a:t>Mapping Knowledge Domains</a:t>
            </a:r>
            <a:r>
              <a:rPr lang="en-US" sz="1600" dirty="0">
                <a:solidFill>
                  <a:srgbClr val="292929"/>
                </a:solidFill>
                <a:latin typeface="Calibri" panose="020F0502020204030204" pitchFamily="34" charset="0"/>
                <a:cs typeface="Arial"/>
              </a:rPr>
              <a:t>. </a:t>
            </a:r>
            <a:r>
              <a:rPr lang="en-US" sz="1600" i="1" dirty="0">
                <a:solidFill>
                  <a:srgbClr val="292929"/>
                </a:solidFill>
                <a:latin typeface="Calibri" panose="020F0502020204030204" pitchFamily="34" charset="0"/>
                <a:cs typeface="Arial"/>
              </a:rPr>
              <a:t>Proceedings of the National Academy of Sciences of the United States of America</a:t>
            </a:r>
            <a:r>
              <a:rPr lang="en-US" sz="1600" dirty="0">
                <a:solidFill>
                  <a:srgbClr val="292929"/>
                </a:solidFill>
                <a:latin typeface="Calibri" panose="020F0502020204030204" pitchFamily="34" charset="0"/>
                <a:cs typeface="Arial"/>
              </a:rPr>
              <a:t>, 101(Suppl_1). </a:t>
            </a:r>
            <a:r>
              <a:rPr lang="en-US" sz="1600" dirty="0">
                <a:solidFill>
                  <a:srgbClr val="292929"/>
                </a:solidFill>
                <a:latin typeface="Calibri" panose="020F0502020204030204" pitchFamily="34" charset="0"/>
                <a:cs typeface="Arial"/>
                <a:hlinkClick r:id="rId4"/>
              </a:rPr>
              <a:t>http://www.pnas.org/content/vol101/suppl_1</a:t>
            </a:r>
            <a:r>
              <a:rPr lang="en-US" sz="1600" dirty="0">
                <a:solidFill>
                  <a:srgbClr val="292929"/>
                </a:solidFill>
                <a:latin typeface="Calibri" panose="020F0502020204030204" pitchFamily="34" charset="0"/>
                <a:cs typeface="Arial"/>
              </a:rPr>
              <a:t>  </a:t>
            </a:r>
          </a:p>
          <a:p>
            <a:pPr>
              <a:tabLst>
                <a:tab pos="4740275" algn="l"/>
              </a:tabLst>
            </a:pPr>
            <a:endParaRPr lang="en-US" sz="900" dirty="0">
              <a:solidFill>
                <a:srgbClr val="292929"/>
              </a:solidFill>
              <a:latin typeface="Calibri" panose="020F0502020204030204" pitchFamily="34" charset="0"/>
              <a:cs typeface="Arial"/>
            </a:endParaRPr>
          </a:p>
          <a:p>
            <a:pPr>
              <a:tabLst>
                <a:tab pos="4740275" algn="l"/>
              </a:tabLst>
            </a:pPr>
            <a:r>
              <a:rPr lang="en-US" sz="1600" dirty="0" err="1">
                <a:solidFill>
                  <a:srgbClr val="292929"/>
                </a:solidFill>
                <a:latin typeface="Calibri" panose="020F0502020204030204" pitchFamily="34" charset="0"/>
                <a:cs typeface="Arial"/>
              </a:rPr>
              <a:t>Börner</a:t>
            </a:r>
            <a:r>
              <a:rPr lang="en-US" sz="1600" dirty="0">
                <a:solidFill>
                  <a:srgbClr val="292929"/>
                </a:solidFill>
                <a:latin typeface="Calibri" panose="020F0502020204030204" pitchFamily="34" charset="0"/>
                <a:cs typeface="Arial"/>
              </a:rPr>
              <a:t>, Katy (2010) </a:t>
            </a:r>
            <a:r>
              <a:rPr lang="en-US" sz="1600" b="1" dirty="0">
                <a:solidFill>
                  <a:srgbClr val="292929"/>
                </a:solidFill>
                <a:latin typeface="Calibri" panose="020F0502020204030204" pitchFamily="34" charset="0"/>
                <a:cs typeface="Arial"/>
              </a:rPr>
              <a:t>Atlas of Science: Visualizing What We Know</a:t>
            </a:r>
            <a:r>
              <a:rPr lang="en-US" sz="1600" dirty="0">
                <a:solidFill>
                  <a:srgbClr val="292929"/>
                </a:solidFill>
                <a:latin typeface="Calibri" panose="020F0502020204030204" pitchFamily="34" charset="0"/>
                <a:cs typeface="Arial"/>
              </a:rPr>
              <a:t>. The </a:t>
            </a:r>
            <a:r>
              <a:rPr lang="en-US" sz="1600" dirty="0">
                <a:solidFill>
                  <a:srgbClr val="000000"/>
                </a:solidFill>
                <a:latin typeface="Calibri" panose="020F0502020204030204" pitchFamily="34" charset="0"/>
                <a:cs typeface="Arial"/>
              </a:rPr>
              <a:t>MIT Press. </a:t>
            </a:r>
            <a:r>
              <a:rPr lang="en-US" sz="1600" dirty="0">
                <a:solidFill>
                  <a:srgbClr val="000000"/>
                </a:solidFill>
                <a:latin typeface="Calibri" panose="020F0502020204030204" pitchFamily="34" charset="0"/>
                <a:cs typeface="Arial"/>
                <a:hlinkClick r:id="rId5"/>
              </a:rPr>
              <a:t>http://scimaps.org/atlas</a:t>
            </a:r>
            <a:r>
              <a:rPr lang="en-US" sz="1600" dirty="0">
                <a:solidFill>
                  <a:srgbClr val="000000"/>
                </a:solidFill>
                <a:latin typeface="Calibri" panose="020F0502020204030204" pitchFamily="34" charset="0"/>
                <a:cs typeface="Arial"/>
              </a:rPr>
              <a:t> </a:t>
            </a:r>
          </a:p>
          <a:p>
            <a:pPr>
              <a:tabLst>
                <a:tab pos="4740275" algn="l"/>
              </a:tabLst>
            </a:pPr>
            <a:endParaRPr lang="en-US" sz="900" dirty="0">
              <a:solidFill>
                <a:srgbClr val="000000"/>
              </a:solidFill>
              <a:latin typeface="Calibri" panose="020F0502020204030204" pitchFamily="34" charset="0"/>
              <a:cs typeface="Arial"/>
            </a:endParaRPr>
          </a:p>
          <a:p>
            <a:pPr>
              <a:tabLst>
                <a:tab pos="4740275" algn="l"/>
              </a:tabLst>
            </a:pPr>
            <a:r>
              <a:rPr lang="en-US" sz="1600" dirty="0">
                <a:solidFill>
                  <a:srgbClr val="000000"/>
                </a:solidFill>
                <a:latin typeface="Calibri" panose="020F0502020204030204" pitchFamily="34" charset="0"/>
                <a:cs typeface="Arial"/>
              </a:rPr>
              <a:t>Scharnhorst, Andrea, </a:t>
            </a:r>
            <a:r>
              <a:rPr lang="en-US" sz="1600" dirty="0" err="1">
                <a:solidFill>
                  <a:srgbClr val="000000"/>
                </a:solidFill>
                <a:latin typeface="Calibri" panose="020F0502020204030204" pitchFamily="34" charset="0"/>
                <a:cs typeface="Arial"/>
              </a:rPr>
              <a:t>Börner</a:t>
            </a:r>
            <a:r>
              <a:rPr lang="en-US" sz="1600" dirty="0">
                <a:solidFill>
                  <a:srgbClr val="000000"/>
                </a:solidFill>
                <a:latin typeface="Calibri" panose="020F0502020204030204" pitchFamily="34" charset="0"/>
                <a:cs typeface="Arial"/>
              </a:rPr>
              <a:t>, Katy, van den </a:t>
            </a:r>
            <a:r>
              <a:rPr lang="en-US" sz="1600" dirty="0" err="1">
                <a:solidFill>
                  <a:srgbClr val="000000"/>
                </a:solidFill>
                <a:latin typeface="Calibri" panose="020F0502020204030204" pitchFamily="34" charset="0"/>
                <a:cs typeface="Arial"/>
              </a:rPr>
              <a:t>Besselaar</a:t>
            </a:r>
            <a:r>
              <a:rPr lang="en-US" sz="1600" dirty="0">
                <a:solidFill>
                  <a:srgbClr val="000000"/>
                </a:solidFill>
                <a:latin typeface="Calibri" panose="020F0502020204030204" pitchFamily="34" charset="0"/>
                <a:cs typeface="Arial"/>
              </a:rPr>
              <a:t>, Peter (2012) </a:t>
            </a:r>
            <a:r>
              <a:rPr lang="en-US" sz="1600" b="1" dirty="0">
                <a:solidFill>
                  <a:srgbClr val="000000"/>
                </a:solidFill>
                <a:latin typeface="Calibri" panose="020F0502020204030204" pitchFamily="34" charset="0"/>
                <a:cs typeface="Arial"/>
              </a:rPr>
              <a:t>Models of Science Dynamics</a:t>
            </a:r>
            <a:r>
              <a:rPr lang="en-US" sz="1600" dirty="0">
                <a:solidFill>
                  <a:srgbClr val="000000"/>
                </a:solidFill>
                <a:latin typeface="Calibri" panose="020F0502020204030204" pitchFamily="34" charset="0"/>
                <a:cs typeface="Arial"/>
              </a:rPr>
              <a:t>. Springer </a:t>
            </a:r>
            <a:r>
              <a:rPr lang="en-US" sz="1600" dirty="0" err="1">
                <a:solidFill>
                  <a:srgbClr val="000000"/>
                </a:solidFill>
                <a:latin typeface="Calibri" panose="020F0502020204030204" pitchFamily="34" charset="0"/>
                <a:cs typeface="Arial"/>
              </a:rPr>
              <a:t>Verlag</a:t>
            </a:r>
            <a:r>
              <a:rPr lang="en-US" sz="1600" i="1" dirty="0">
                <a:solidFill>
                  <a:srgbClr val="000000"/>
                </a:solidFill>
                <a:latin typeface="Calibri" panose="020F0502020204030204" pitchFamily="34" charset="0"/>
                <a:cs typeface="Arial"/>
              </a:rPr>
              <a:t>.</a:t>
            </a:r>
          </a:p>
          <a:p>
            <a:pPr>
              <a:tabLst>
                <a:tab pos="4740275" algn="l"/>
              </a:tabLst>
            </a:pPr>
            <a:endParaRPr lang="en-US" sz="900" i="1" dirty="0">
              <a:solidFill>
                <a:srgbClr val="000000"/>
              </a:solidFill>
              <a:latin typeface="Calibri" panose="020F0502020204030204" pitchFamily="34" charset="0"/>
              <a:cs typeface="Arial"/>
            </a:endParaRPr>
          </a:p>
          <a:p>
            <a:pPr>
              <a:tabLst>
                <a:tab pos="4740275" algn="l"/>
              </a:tabLst>
            </a:pPr>
            <a:r>
              <a:rPr lang="en-US" sz="1600" dirty="0">
                <a:solidFill>
                  <a:srgbClr val="000000"/>
                </a:solidFill>
                <a:latin typeface="Calibri" panose="020F0502020204030204" pitchFamily="34" charset="0"/>
                <a:cs typeface="Arial"/>
              </a:rPr>
              <a:t>Katy </a:t>
            </a:r>
            <a:r>
              <a:rPr lang="en-US" sz="1600" dirty="0" err="1">
                <a:solidFill>
                  <a:srgbClr val="000000"/>
                </a:solidFill>
                <a:latin typeface="Calibri" panose="020F0502020204030204" pitchFamily="34" charset="0"/>
                <a:cs typeface="Arial"/>
              </a:rPr>
              <a:t>Börner</a:t>
            </a:r>
            <a:r>
              <a:rPr lang="en-US" sz="1600" dirty="0">
                <a:solidFill>
                  <a:srgbClr val="000000"/>
                </a:solidFill>
                <a:latin typeface="Calibri" panose="020F0502020204030204" pitchFamily="34" charset="0"/>
                <a:cs typeface="Arial"/>
              </a:rPr>
              <a:t>, Michael Conlon, Jon Corson-</a:t>
            </a:r>
            <a:r>
              <a:rPr lang="en-US" sz="1600" dirty="0" err="1">
                <a:solidFill>
                  <a:srgbClr val="000000"/>
                </a:solidFill>
                <a:latin typeface="Calibri" panose="020F0502020204030204" pitchFamily="34" charset="0"/>
                <a:cs typeface="Arial"/>
              </a:rPr>
              <a:t>Rikert</a:t>
            </a:r>
            <a:r>
              <a:rPr lang="en-US" sz="1600" dirty="0">
                <a:solidFill>
                  <a:srgbClr val="000000"/>
                </a:solidFill>
                <a:latin typeface="Calibri" panose="020F0502020204030204" pitchFamily="34" charset="0"/>
                <a:cs typeface="Arial"/>
              </a:rPr>
              <a:t>, Cornell, Ying Ding (2012)  </a:t>
            </a:r>
            <a:r>
              <a:rPr lang="en-US" sz="1600" b="1" dirty="0">
                <a:solidFill>
                  <a:srgbClr val="000000"/>
                </a:solidFill>
                <a:latin typeface="Calibri" panose="020F0502020204030204" pitchFamily="34" charset="0"/>
                <a:cs typeface="Arial"/>
              </a:rPr>
              <a:t>VIVO: A Semantic Approach to Scholarly Networking and Discovery</a:t>
            </a:r>
            <a:r>
              <a:rPr lang="en-US" sz="1600" dirty="0">
                <a:solidFill>
                  <a:srgbClr val="000000"/>
                </a:solidFill>
                <a:latin typeface="Calibri" panose="020F0502020204030204" pitchFamily="34" charset="0"/>
                <a:cs typeface="Arial"/>
              </a:rPr>
              <a:t>. Morgan &amp; Claypool.</a:t>
            </a:r>
          </a:p>
          <a:p>
            <a:pPr>
              <a:tabLst>
                <a:tab pos="4740275" algn="l"/>
              </a:tabLst>
            </a:pPr>
            <a:endParaRPr lang="en-US" sz="900" dirty="0">
              <a:solidFill>
                <a:srgbClr val="000000"/>
              </a:solidFill>
              <a:latin typeface="Calibri" panose="020F0502020204030204" pitchFamily="34" charset="0"/>
              <a:cs typeface="Arial"/>
            </a:endParaRPr>
          </a:p>
          <a:p>
            <a:pPr>
              <a:tabLst>
                <a:tab pos="4740275" algn="l"/>
              </a:tabLst>
            </a:pPr>
            <a:r>
              <a:rPr lang="en-US" sz="1600" dirty="0">
                <a:solidFill>
                  <a:srgbClr val="000000"/>
                </a:solidFill>
                <a:latin typeface="Calibri" panose="020F0502020204030204" pitchFamily="34" charset="0"/>
                <a:cs typeface="Arial"/>
              </a:rPr>
              <a:t>Katy </a:t>
            </a:r>
            <a:r>
              <a:rPr lang="en-US" sz="1600" dirty="0" err="1">
                <a:solidFill>
                  <a:srgbClr val="000000"/>
                </a:solidFill>
                <a:latin typeface="Calibri" panose="020F0502020204030204" pitchFamily="34" charset="0"/>
                <a:cs typeface="Arial"/>
              </a:rPr>
              <a:t>Börner</a:t>
            </a:r>
            <a:r>
              <a:rPr lang="en-US" sz="1600" dirty="0">
                <a:solidFill>
                  <a:srgbClr val="000000"/>
                </a:solidFill>
                <a:latin typeface="Calibri" panose="020F0502020204030204" pitchFamily="34" charset="0"/>
                <a:cs typeface="Arial"/>
              </a:rPr>
              <a:t> and David E </a:t>
            </a:r>
            <a:r>
              <a:rPr lang="en-US" sz="1600" dirty="0" err="1">
                <a:solidFill>
                  <a:srgbClr val="000000"/>
                </a:solidFill>
                <a:latin typeface="Calibri" panose="020F0502020204030204" pitchFamily="34" charset="0"/>
                <a:cs typeface="Arial"/>
              </a:rPr>
              <a:t>Polley</a:t>
            </a:r>
            <a:r>
              <a:rPr lang="en-US" sz="1600" dirty="0">
                <a:solidFill>
                  <a:srgbClr val="000000"/>
                </a:solidFill>
                <a:latin typeface="Calibri" panose="020F0502020204030204" pitchFamily="34" charset="0"/>
                <a:cs typeface="Arial"/>
              </a:rPr>
              <a:t> (2014) </a:t>
            </a:r>
            <a:r>
              <a:rPr lang="en-US" sz="1600" b="1" dirty="0">
                <a:solidFill>
                  <a:srgbClr val="000000"/>
                </a:solidFill>
                <a:latin typeface="Calibri" panose="020F0502020204030204" pitchFamily="34" charset="0"/>
                <a:cs typeface="Arial"/>
              </a:rPr>
              <a:t>Visual Insights: A Practical Guide to Making Sense of Data</a:t>
            </a:r>
            <a:r>
              <a:rPr lang="en-US" sz="1600" dirty="0">
                <a:solidFill>
                  <a:srgbClr val="000000"/>
                </a:solidFill>
                <a:latin typeface="Calibri" panose="020F0502020204030204" pitchFamily="34" charset="0"/>
                <a:cs typeface="Arial"/>
              </a:rPr>
              <a:t>. The MIT Press. </a:t>
            </a:r>
          </a:p>
          <a:p>
            <a:pPr>
              <a:tabLst>
                <a:tab pos="4740275" algn="l"/>
              </a:tabLst>
            </a:pPr>
            <a:endParaRPr lang="en-US" sz="1600" dirty="0">
              <a:solidFill>
                <a:srgbClr val="000000"/>
              </a:solidFill>
              <a:latin typeface="Calibri" panose="020F0502020204030204" pitchFamily="34" charset="0"/>
              <a:cs typeface="Arial"/>
            </a:endParaRPr>
          </a:p>
          <a:p>
            <a:pPr>
              <a:tabLst>
                <a:tab pos="4740275" algn="l"/>
              </a:tabLst>
            </a:pPr>
            <a:r>
              <a:rPr lang="en-US" sz="1600" dirty="0" err="1">
                <a:solidFill>
                  <a:srgbClr val="292929"/>
                </a:solidFill>
                <a:latin typeface="Calibri" panose="020F0502020204030204" pitchFamily="34" charset="0"/>
                <a:cs typeface="Arial"/>
              </a:rPr>
              <a:t>Börner</a:t>
            </a:r>
            <a:r>
              <a:rPr lang="en-US" sz="1600" dirty="0">
                <a:solidFill>
                  <a:srgbClr val="292929"/>
                </a:solidFill>
                <a:latin typeface="Calibri" panose="020F0502020204030204" pitchFamily="34" charset="0"/>
                <a:cs typeface="Arial"/>
              </a:rPr>
              <a:t>, Katy (2015) </a:t>
            </a:r>
            <a:r>
              <a:rPr lang="en-US" sz="1600" b="1" dirty="0">
                <a:solidFill>
                  <a:srgbClr val="292929"/>
                </a:solidFill>
                <a:latin typeface="Calibri" panose="020F0502020204030204" pitchFamily="34" charset="0"/>
                <a:cs typeface="Arial"/>
              </a:rPr>
              <a:t>Atlas of Knowledge: Anyone Can Map</a:t>
            </a:r>
            <a:r>
              <a:rPr lang="en-US" sz="1600" dirty="0">
                <a:solidFill>
                  <a:srgbClr val="292929"/>
                </a:solidFill>
                <a:latin typeface="Calibri" panose="020F0502020204030204" pitchFamily="34" charset="0"/>
                <a:cs typeface="Arial"/>
              </a:rPr>
              <a:t>. The </a:t>
            </a:r>
            <a:r>
              <a:rPr lang="en-US" sz="1600" dirty="0">
                <a:solidFill>
                  <a:srgbClr val="000000"/>
                </a:solidFill>
                <a:latin typeface="Calibri" panose="020F0502020204030204" pitchFamily="34" charset="0"/>
                <a:cs typeface="Arial"/>
              </a:rPr>
              <a:t>MIT Press. </a:t>
            </a:r>
            <a:r>
              <a:rPr lang="en-US" sz="1600" dirty="0">
                <a:solidFill>
                  <a:srgbClr val="000000"/>
                </a:solidFill>
                <a:latin typeface="Calibri" panose="020F0502020204030204" pitchFamily="34" charset="0"/>
                <a:cs typeface="Arial"/>
                <a:hlinkClick r:id="rId6"/>
              </a:rPr>
              <a:t>http://scimaps.org/atlas2</a:t>
            </a:r>
            <a:r>
              <a:rPr lang="en-US" sz="1600" dirty="0">
                <a:solidFill>
                  <a:srgbClr val="000000"/>
                </a:solidFill>
                <a:latin typeface="Calibri" panose="020F0502020204030204" pitchFamily="34" charset="0"/>
                <a:cs typeface="Arial"/>
              </a:rPr>
              <a:t> </a:t>
            </a:r>
          </a:p>
          <a:p>
            <a:pPr>
              <a:tabLst>
                <a:tab pos="4740275" algn="l"/>
              </a:tabLst>
            </a:pPr>
            <a:endParaRPr lang="en-US" sz="1600" dirty="0">
              <a:solidFill>
                <a:srgbClr val="000000"/>
              </a:solidFill>
              <a:latin typeface="Calibri" panose="020F0502020204030204" pitchFamily="34" charset="0"/>
              <a:cs typeface="Arial"/>
            </a:endParaRPr>
          </a:p>
          <a:p>
            <a:pPr>
              <a:tabLst>
                <a:tab pos="4740275" algn="l"/>
              </a:tabLst>
            </a:pPr>
            <a:endParaRPr lang="en-US" sz="1600" i="1" dirty="0">
              <a:solidFill>
                <a:srgbClr val="000000"/>
              </a:solidFill>
              <a:latin typeface="Calibri" panose="020F0502020204030204" pitchFamily="34" charset="0"/>
              <a:cs typeface="Arial"/>
            </a:endParaRPr>
          </a:p>
        </p:txBody>
      </p:sp>
      <p:sp>
        <p:nvSpPr>
          <p:cNvPr id="2073606" name="Text Box 6"/>
          <p:cNvSpPr txBox="1">
            <a:spLocks noChangeArrowheads="1"/>
          </p:cNvSpPr>
          <p:nvPr/>
        </p:nvSpPr>
        <p:spPr bwMode="auto">
          <a:xfrm>
            <a:off x="11694902" y="6414700"/>
            <a:ext cx="348172" cy="276999"/>
          </a:xfrm>
          <a:prstGeom prst="rect">
            <a:avLst/>
          </a:prstGeom>
          <a:solidFill>
            <a:srgbClr val="FFFFFF">
              <a:alpha val="64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fld id="{FB247A72-DDAA-4E7C-8683-A564ABF59040}" type="slidenum">
              <a:rPr lang="en-US" sz="1200">
                <a:solidFill>
                  <a:srgbClr val="333333"/>
                </a:solidFill>
                <a:latin typeface="Garamond"/>
                <a:ea typeface="Arial Unicode MS" pitchFamily="34" charset="-128"/>
                <a:cs typeface="Arial Unicode MS" pitchFamily="34" charset="-128"/>
              </a:rPr>
              <a:pPr algn="ctr"/>
              <a:t>30</a:t>
            </a:fld>
            <a:endParaRPr lang="en-US" sz="1200" dirty="0">
              <a:solidFill>
                <a:srgbClr val="333333"/>
              </a:solidFill>
              <a:latin typeface="Garamond"/>
              <a:ea typeface="Arial Unicode MS" pitchFamily="34" charset="-128"/>
              <a:cs typeface="Arial Unicode MS" pitchFamily="34" charset="-128"/>
            </a:endParaRPr>
          </a:p>
        </p:txBody>
      </p:sp>
      <p:pic>
        <p:nvPicPr>
          <p:cNvPr id="2073609" name="Picture 9"/>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9055612" y="214313"/>
            <a:ext cx="2514600" cy="21272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0" name="Picture 4"/>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7242685" y="1532845"/>
            <a:ext cx="1758254" cy="2662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9">
            <a:extLst>
              <a:ext uri="{28A0092B-C50C-407E-A947-70E740481C1C}">
                <a14:useLocalDpi xmlns:a14="http://schemas.microsoft.com/office/drawing/2010/main"/>
              </a:ext>
            </a:extLst>
          </a:blip>
          <a:srcRect/>
          <a:stretch>
            <a:fillRect/>
          </a:stretch>
        </p:blipFill>
        <p:spPr bwMode="auto">
          <a:xfrm>
            <a:off x="9160309" y="2381361"/>
            <a:ext cx="2110010" cy="25547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0226" name="Picture 2" descr="http://scimaps.org/images/store/atlas_of_knowledge_cover.jpg"/>
          <p:cNvPicPr>
            <a:picLocks noChangeAspect="1"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6866797" y="4287450"/>
            <a:ext cx="2510029" cy="212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12823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3602" name="Rectangle 2"/>
          <p:cNvSpPr>
            <a:spLocks noChangeArrowheads="1"/>
          </p:cNvSpPr>
          <p:nvPr/>
        </p:nvSpPr>
        <p:spPr bwMode="auto">
          <a:xfrm>
            <a:off x="490538" y="420233"/>
            <a:ext cx="11461095" cy="439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333CC"/>
                </a:solidFill>
                <a:miter lim="800000"/>
                <a:headEnd/>
                <a:tailEnd/>
              </a14:hiddenLine>
            </a:ext>
          </a:extLst>
        </p:spPr>
        <p:txBody>
          <a:bodyPr/>
          <a:lstStyle/>
          <a:p>
            <a:pPr>
              <a:spcBef>
                <a:spcPct val="20000"/>
              </a:spcBef>
              <a:buClr>
                <a:srgbClr val="4D4D4D"/>
              </a:buClr>
              <a:tabLst>
                <a:tab pos="4740275" algn="l"/>
              </a:tabLst>
            </a:pPr>
            <a:r>
              <a:rPr lang="en-US" sz="3600" dirty="0">
                <a:solidFill>
                  <a:srgbClr val="292929"/>
                </a:solidFill>
                <a:latin typeface="Calibri" panose="020F0502020204030204" pitchFamily="34" charset="0"/>
                <a:cs typeface="Arial"/>
              </a:rPr>
              <a:t>References</a:t>
            </a:r>
            <a:endParaRPr lang="en-US" sz="4400" dirty="0">
              <a:solidFill>
                <a:srgbClr val="292929"/>
              </a:solidFill>
              <a:latin typeface="Calibri" panose="020F0502020204030204" pitchFamily="34" charset="0"/>
              <a:cs typeface="Arial"/>
            </a:endParaRPr>
          </a:p>
          <a:p>
            <a:pPr>
              <a:spcBef>
                <a:spcPct val="20000"/>
              </a:spcBef>
              <a:buClr>
                <a:srgbClr val="4D4D4D"/>
              </a:buClr>
              <a:tabLst>
                <a:tab pos="4740275" algn="l"/>
              </a:tabLst>
            </a:pPr>
            <a:endParaRPr lang="en-US" sz="1050" b="1" dirty="0">
              <a:solidFill>
                <a:srgbClr val="292929"/>
              </a:solidFill>
              <a:latin typeface="Calibri" panose="020F0502020204030204" pitchFamily="34" charset="0"/>
              <a:cs typeface="Arial"/>
            </a:endParaRPr>
          </a:p>
          <a:p>
            <a:pPr>
              <a:spcBef>
                <a:spcPct val="20000"/>
              </a:spcBef>
              <a:buClr>
                <a:srgbClr val="4D4D4D"/>
              </a:buClr>
              <a:tabLst>
                <a:tab pos="4740275" algn="l"/>
              </a:tabLst>
            </a:pPr>
            <a:r>
              <a:rPr lang="en-US" sz="2000" dirty="0">
                <a:solidFill>
                  <a:srgbClr val="292929"/>
                </a:solidFill>
                <a:latin typeface="Calibri" panose="020F0502020204030204" pitchFamily="34" charset="0"/>
                <a:cs typeface="Arial"/>
              </a:rPr>
              <a:t>Jorge Castañón. 2016. Shiny: a Data Scientist’s Best Friend. </a:t>
            </a:r>
            <a:r>
              <a:rPr lang="en-US" sz="2000" dirty="0"/>
              <a:t>http://datascience.ibm.com/blog/shiny-a-data-scientist-best-friend/</a:t>
            </a:r>
            <a:endParaRPr lang="en-US" sz="2000" dirty="0">
              <a:solidFill>
                <a:srgbClr val="292929"/>
              </a:solidFill>
              <a:latin typeface="Calibri" panose="020F0502020204030204" pitchFamily="34" charset="0"/>
              <a:cs typeface="Arial"/>
            </a:endParaRPr>
          </a:p>
          <a:p>
            <a:pPr>
              <a:spcBef>
                <a:spcPct val="20000"/>
              </a:spcBef>
              <a:buClr>
                <a:srgbClr val="4D4D4D"/>
              </a:buClr>
              <a:tabLst>
                <a:tab pos="4740275" algn="l"/>
              </a:tabLst>
            </a:pPr>
            <a:r>
              <a:rPr lang="en-US" sz="2000" dirty="0">
                <a:solidFill>
                  <a:srgbClr val="292929"/>
                </a:solidFill>
                <a:latin typeface="Calibri" panose="020F0502020204030204" pitchFamily="34" charset="0"/>
                <a:cs typeface="Arial"/>
              </a:rPr>
              <a:t>Carly Fiorina. 2004. </a:t>
            </a:r>
            <a:r>
              <a:rPr lang="en-US" sz="2000" b="1" dirty="0"/>
              <a:t>Information: the currency of the digital age . </a:t>
            </a:r>
            <a:r>
              <a:rPr lang="en-US" sz="2000" dirty="0">
                <a:solidFill>
                  <a:srgbClr val="292929"/>
                </a:solidFill>
                <a:latin typeface="Calibri" panose="020F0502020204030204" pitchFamily="34" charset="0"/>
                <a:cs typeface="Arial"/>
              </a:rPr>
              <a:t>http://</a:t>
            </a:r>
            <a:r>
              <a:rPr lang="en-US" sz="2000" dirty="0" err="1">
                <a:solidFill>
                  <a:srgbClr val="292929"/>
                </a:solidFill>
                <a:latin typeface="Calibri" panose="020F0502020204030204" pitchFamily="34" charset="0"/>
                <a:cs typeface="Arial"/>
              </a:rPr>
              <a:t>www.hp.com</a:t>
            </a:r>
            <a:r>
              <a:rPr lang="en-US" sz="2000" dirty="0">
                <a:solidFill>
                  <a:srgbClr val="292929"/>
                </a:solidFill>
                <a:latin typeface="Calibri" panose="020F0502020204030204" pitchFamily="34" charset="0"/>
                <a:cs typeface="Arial"/>
              </a:rPr>
              <a:t>/</a:t>
            </a:r>
            <a:r>
              <a:rPr lang="en-US" sz="2000" dirty="0" err="1">
                <a:solidFill>
                  <a:srgbClr val="292929"/>
                </a:solidFill>
                <a:latin typeface="Calibri" panose="020F0502020204030204" pitchFamily="34" charset="0"/>
                <a:cs typeface="Arial"/>
              </a:rPr>
              <a:t>hpinfo</a:t>
            </a:r>
            <a:r>
              <a:rPr lang="en-US" sz="2000" dirty="0">
                <a:solidFill>
                  <a:srgbClr val="292929"/>
                </a:solidFill>
                <a:latin typeface="Calibri" panose="020F0502020204030204" pitchFamily="34" charset="0"/>
                <a:cs typeface="Arial"/>
              </a:rPr>
              <a:t>/</a:t>
            </a:r>
            <a:r>
              <a:rPr lang="en-US" sz="2000" dirty="0" err="1">
                <a:solidFill>
                  <a:srgbClr val="292929"/>
                </a:solidFill>
                <a:latin typeface="Calibri" panose="020F0502020204030204" pitchFamily="34" charset="0"/>
                <a:cs typeface="Arial"/>
              </a:rPr>
              <a:t>execteam</a:t>
            </a:r>
            <a:r>
              <a:rPr lang="en-US" sz="2000" dirty="0">
                <a:solidFill>
                  <a:srgbClr val="292929"/>
                </a:solidFill>
                <a:latin typeface="Calibri" panose="020F0502020204030204" pitchFamily="34" charset="0"/>
                <a:cs typeface="Arial"/>
              </a:rPr>
              <a:t>/speeches/</a:t>
            </a:r>
            <a:r>
              <a:rPr lang="en-US" sz="2000" dirty="0" err="1">
                <a:solidFill>
                  <a:srgbClr val="292929"/>
                </a:solidFill>
                <a:latin typeface="Calibri" panose="020F0502020204030204" pitchFamily="34" charset="0"/>
                <a:cs typeface="Arial"/>
              </a:rPr>
              <a:t>fiorina</a:t>
            </a:r>
            <a:r>
              <a:rPr lang="en-US" sz="2000" dirty="0">
                <a:solidFill>
                  <a:srgbClr val="292929"/>
                </a:solidFill>
                <a:latin typeface="Calibri" panose="020F0502020204030204" pitchFamily="34" charset="0"/>
                <a:cs typeface="Arial"/>
              </a:rPr>
              <a:t>/04openworld.html</a:t>
            </a:r>
          </a:p>
          <a:p>
            <a:pPr>
              <a:spcBef>
                <a:spcPct val="20000"/>
              </a:spcBef>
              <a:buClr>
                <a:srgbClr val="4D4D4D"/>
              </a:buClr>
              <a:tabLst>
                <a:tab pos="4740275" algn="l"/>
              </a:tabLst>
            </a:pPr>
            <a:r>
              <a:rPr lang="en-US" sz="2000" dirty="0">
                <a:solidFill>
                  <a:srgbClr val="292929"/>
                </a:solidFill>
                <a:latin typeface="Calibri" panose="020F0502020204030204" pitchFamily="34" charset="0"/>
                <a:cs typeface="Arial"/>
              </a:rPr>
              <a:t>Michael J. Mortenson, Neil F. Doherty, Stewart Robinson. (2015). </a:t>
            </a:r>
            <a:r>
              <a:rPr lang="en-US" sz="2000" b="1" dirty="0">
                <a:solidFill>
                  <a:srgbClr val="292929"/>
                </a:solidFill>
                <a:latin typeface="Calibri" panose="020F0502020204030204" pitchFamily="34" charset="0"/>
                <a:cs typeface="Arial"/>
              </a:rPr>
              <a:t>Operational research from Taylorism to Terabytes: A research agenda for the analytics age</a:t>
            </a:r>
            <a:r>
              <a:rPr lang="en-US" sz="2000" dirty="0">
                <a:solidFill>
                  <a:srgbClr val="292929"/>
                </a:solidFill>
                <a:latin typeface="Calibri" panose="020F0502020204030204" pitchFamily="34" charset="0"/>
                <a:cs typeface="Arial"/>
              </a:rPr>
              <a:t>. </a:t>
            </a:r>
            <a:r>
              <a:rPr lang="en-US" sz="2000" i="1" dirty="0">
                <a:solidFill>
                  <a:srgbClr val="292929"/>
                </a:solidFill>
                <a:latin typeface="Calibri" panose="020F0502020204030204" pitchFamily="34" charset="0"/>
                <a:cs typeface="Arial"/>
              </a:rPr>
              <a:t>European Journal of Operational Research</a:t>
            </a:r>
            <a:r>
              <a:rPr lang="en-US" sz="2000" dirty="0">
                <a:solidFill>
                  <a:srgbClr val="292929"/>
                </a:solidFill>
                <a:latin typeface="Calibri" panose="020F0502020204030204" pitchFamily="34" charset="0"/>
                <a:cs typeface="Arial"/>
              </a:rPr>
              <a:t>, 241, 3, 583-595.</a:t>
            </a:r>
            <a:r>
              <a:rPr lang="en-US" sz="1050" dirty="0">
                <a:solidFill>
                  <a:srgbClr val="292929"/>
                </a:solidFill>
                <a:latin typeface="Calibri" panose="020F0502020204030204" pitchFamily="34" charset="0"/>
                <a:cs typeface="Arial"/>
              </a:rPr>
              <a:t>	</a:t>
            </a:r>
          </a:p>
          <a:p>
            <a:pPr>
              <a:spcBef>
                <a:spcPct val="20000"/>
              </a:spcBef>
              <a:buClr>
                <a:srgbClr val="4D4D4D"/>
              </a:buClr>
              <a:tabLst>
                <a:tab pos="4740275" algn="l"/>
              </a:tabLst>
            </a:pPr>
            <a:r>
              <a:rPr lang="en-US" sz="2000" dirty="0">
                <a:solidFill>
                  <a:srgbClr val="292929"/>
                </a:solidFill>
                <a:latin typeface="Calibri" panose="020F0502020204030204" pitchFamily="34" charset="0"/>
                <a:cs typeface="Arial"/>
              </a:rPr>
              <a:t>Aaron Marcus. (2006). </a:t>
            </a:r>
            <a:r>
              <a:rPr lang="en-US" sz="2000" b="1" dirty="0">
                <a:solidFill>
                  <a:srgbClr val="292929"/>
                </a:solidFill>
                <a:latin typeface="Calibri" panose="020F0502020204030204" pitchFamily="34" charset="0"/>
                <a:cs typeface="Arial"/>
              </a:rPr>
              <a:t>Dashboards in your future</a:t>
            </a:r>
            <a:r>
              <a:rPr lang="en-US" sz="2000" dirty="0">
                <a:solidFill>
                  <a:srgbClr val="292929"/>
                </a:solidFill>
                <a:latin typeface="Calibri" panose="020F0502020204030204" pitchFamily="34" charset="0"/>
                <a:cs typeface="Arial"/>
              </a:rPr>
              <a:t>. </a:t>
            </a:r>
            <a:r>
              <a:rPr lang="en-US" sz="2000" i="1" dirty="0">
                <a:solidFill>
                  <a:srgbClr val="292929"/>
                </a:solidFill>
                <a:latin typeface="Calibri" panose="020F0502020204030204" pitchFamily="34" charset="0"/>
                <a:cs typeface="Arial"/>
              </a:rPr>
              <a:t>Interactions 13</a:t>
            </a:r>
            <a:r>
              <a:rPr lang="en-US" sz="2000" dirty="0">
                <a:solidFill>
                  <a:srgbClr val="292929"/>
                </a:solidFill>
                <a:latin typeface="Calibri" panose="020F0502020204030204" pitchFamily="34" charset="0"/>
                <a:cs typeface="Arial"/>
              </a:rPr>
              <a:t>, 1 (January 2006), 48-60.</a:t>
            </a:r>
          </a:p>
          <a:p>
            <a:pPr>
              <a:spcBef>
                <a:spcPct val="20000"/>
              </a:spcBef>
              <a:buClr>
                <a:srgbClr val="4D4D4D"/>
              </a:buClr>
              <a:tabLst>
                <a:tab pos="4740275" algn="l"/>
              </a:tabLst>
            </a:pPr>
            <a:r>
              <a:rPr lang="en-US" sz="2000" dirty="0">
                <a:solidFill>
                  <a:srgbClr val="292929"/>
                </a:solidFill>
                <a:latin typeface="Calibri" panose="020F0502020204030204" pitchFamily="34" charset="0"/>
                <a:cs typeface="Arial"/>
              </a:rPr>
              <a:t>Bradley Nice. (2012). Front-End vs Back-End vs Full Stack Development. March 2012. https://</a:t>
            </a:r>
            <a:r>
              <a:rPr lang="en-US" sz="2000" dirty="0" err="1">
                <a:solidFill>
                  <a:srgbClr val="292929"/>
                </a:solidFill>
                <a:latin typeface="Calibri" panose="020F0502020204030204" pitchFamily="34" charset="0"/>
                <a:cs typeface="Arial"/>
              </a:rPr>
              <a:t>medium.com</a:t>
            </a:r>
            <a:r>
              <a:rPr lang="en-US" sz="2000" dirty="0">
                <a:solidFill>
                  <a:srgbClr val="292929"/>
                </a:solidFill>
                <a:latin typeface="Calibri" panose="020F0502020204030204" pitchFamily="34" charset="0"/>
                <a:cs typeface="Arial"/>
              </a:rPr>
              <a:t>/level-up-web/front-end-vs-back-end-vs-full-stack-development-78267f545121</a:t>
            </a:r>
            <a:endParaRPr lang="en-US" sz="1050" dirty="0">
              <a:solidFill>
                <a:srgbClr val="292929"/>
              </a:solidFill>
              <a:latin typeface="Calibri" panose="020F0502020204030204" pitchFamily="34" charset="0"/>
              <a:cs typeface="Arial"/>
            </a:endParaRPr>
          </a:p>
          <a:p>
            <a:pPr lvl="0">
              <a:tabLst>
                <a:tab pos="4740275" algn="l"/>
              </a:tabLst>
            </a:pPr>
            <a:r>
              <a:rPr lang="en-US" sz="2000" dirty="0">
                <a:solidFill>
                  <a:srgbClr val="292929"/>
                </a:solidFill>
                <a:latin typeface="Calibri" panose="020F0502020204030204" pitchFamily="34" charset="0"/>
                <a:cs typeface="Arial"/>
              </a:rPr>
              <a:t>Dresner Advisory Report. (2016). </a:t>
            </a:r>
            <a:r>
              <a:rPr lang="en-US" sz="2000" dirty="0">
                <a:ea typeface="Calibri"/>
                <a:cs typeface="Calibri"/>
                <a:sym typeface="Calibri"/>
              </a:rPr>
              <a:t>Embedded Business Intelligence Market Study</a:t>
            </a:r>
            <a:r>
              <a:rPr lang="en-US" sz="2000" dirty="0">
                <a:solidFill>
                  <a:srgbClr val="000000"/>
                </a:solidFill>
                <a:latin typeface="Calibri" panose="020F0502020204030204" pitchFamily="34" charset="0"/>
                <a:cs typeface="Arial"/>
              </a:rPr>
              <a:t>. </a:t>
            </a:r>
            <a:r>
              <a:rPr lang="en-US" sz="2000" dirty="0">
                <a:solidFill>
                  <a:srgbClr val="000000"/>
                </a:solidFill>
                <a:latin typeface="Calibri" panose="020F0502020204030204" pitchFamily="34" charset="0"/>
                <a:cs typeface="Arial"/>
                <a:hlinkClick r:id="rId3"/>
              </a:rPr>
              <a:t>http://www.marketwired.com/press-release/dresner-advisory-services-publishes-2016-embedded-business-intelligence-market-study-2174046.htm</a:t>
            </a:r>
            <a:endParaRPr lang="en-US" sz="2000" dirty="0">
              <a:solidFill>
                <a:srgbClr val="000000"/>
              </a:solidFill>
              <a:latin typeface="Calibri" panose="020F0502020204030204" pitchFamily="34" charset="0"/>
              <a:cs typeface="Arial"/>
            </a:endParaRPr>
          </a:p>
          <a:p>
            <a:pPr lvl="0">
              <a:tabLst>
                <a:tab pos="4740275" algn="l"/>
              </a:tabLst>
            </a:pPr>
            <a:r>
              <a:rPr lang="en-US" sz="2000" dirty="0">
                <a:solidFill>
                  <a:srgbClr val="000000"/>
                </a:solidFill>
                <a:latin typeface="Calibri" panose="020F0502020204030204" pitchFamily="34" charset="0"/>
                <a:cs typeface="Arial"/>
              </a:rPr>
              <a:t>Java - </a:t>
            </a:r>
            <a:r>
              <a:rPr lang="en-US" sz="2000" dirty="0">
                <a:solidFill>
                  <a:srgbClr val="000000"/>
                </a:solidFill>
                <a:latin typeface="Calibri" panose="020F0502020204030204" pitchFamily="34" charset="0"/>
                <a:cs typeface="Arial"/>
                <a:hlinkClick r:id="rId4"/>
              </a:rPr>
              <a:t>https://www.planet-source-code.com/vb/default.asp?lngWId=14</a:t>
            </a:r>
            <a:endParaRPr lang="en-US" sz="2000" dirty="0">
              <a:solidFill>
                <a:srgbClr val="000000"/>
              </a:solidFill>
              <a:latin typeface="Calibri" panose="020F0502020204030204" pitchFamily="34" charset="0"/>
              <a:cs typeface="Arial"/>
            </a:endParaRPr>
          </a:p>
          <a:p>
            <a:pPr lvl="0">
              <a:tabLst>
                <a:tab pos="4740275" algn="l"/>
              </a:tabLst>
            </a:pPr>
            <a:r>
              <a:rPr lang="en-US" sz="2000" dirty="0">
                <a:solidFill>
                  <a:srgbClr val="000000"/>
                </a:solidFill>
                <a:latin typeface="Calibri" panose="020F0502020204030204" pitchFamily="34" charset="0"/>
                <a:cs typeface="Arial"/>
              </a:rPr>
              <a:t>Python - </a:t>
            </a:r>
            <a:r>
              <a:rPr lang="en-US" sz="2000" dirty="0">
                <a:solidFill>
                  <a:srgbClr val="8CC63E"/>
                </a:solidFill>
                <a:latin typeface="Calibri" panose="020F0502020204030204" pitchFamily="34" charset="0"/>
                <a:cs typeface="Arial"/>
                <a:hlinkClick r:id="rId5"/>
              </a:rPr>
              <a:t>https://realpython.com/learn/python-first-steps/</a:t>
            </a:r>
            <a:endParaRPr lang="en-US" sz="2000" dirty="0">
              <a:solidFill>
                <a:srgbClr val="8CC63E"/>
              </a:solidFill>
              <a:latin typeface="Calibri" panose="020F0502020204030204" pitchFamily="34" charset="0"/>
              <a:cs typeface="Arial"/>
            </a:endParaRPr>
          </a:p>
          <a:p>
            <a:pPr lvl="0">
              <a:tabLst>
                <a:tab pos="4740275" algn="l"/>
              </a:tabLst>
            </a:pPr>
            <a:endParaRPr lang="en-US" sz="2000" dirty="0">
              <a:solidFill>
                <a:srgbClr val="000000"/>
              </a:solidFill>
              <a:latin typeface="Calibri" panose="020F0502020204030204" pitchFamily="34" charset="0"/>
              <a:cs typeface="Arial"/>
            </a:endParaRPr>
          </a:p>
          <a:p>
            <a:pPr lvl="0">
              <a:tabLst>
                <a:tab pos="4740275" algn="l"/>
              </a:tabLst>
            </a:pPr>
            <a:endParaRPr lang="en-US" sz="2000" dirty="0">
              <a:solidFill>
                <a:srgbClr val="000000"/>
              </a:solidFill>
              <a:latin typeface="Calibri" panose="020F0502020204030204" pitchFamily="34" charset="0"/>
              <a:cs typeface="Arial"/>
            </a:endParaRPr>
          </a:p>
          <a:p>
            <a:pPr lvl="0">
              <a:tabLst>
                <a:tab pos="4740275" algn="l"/>
              </a:tabLst>
            </a:pPr>
            <a:endParaRPr lang="en-US" sz="2000" dirty="0">
              <a:solidFill>
                <a:srgbClr val="000000"/>
              </a:solidFill>
              <a:latin typeface="Calibri" panose="020F0502020204030204" pitchFamily="34" charset="0"/>
              <a:cs typeface="Arial"/>
            </a:endParaRPr>
          </a:p>
          <a:p>
            <a:pPr>
              <a:tabLst>
                <a:tab pos="4740275" algn="l"/>
              </a:tabLst>
            </a:pPr>
            <a:endParaRPr lang="en-US" sz="2000" dirty="0">
              <a:solidFill>
                <a:srgbClr val="000000"/>
              </a:solidFill>
              <a:latin typeface="Calibri" panose="020F0502020204030204" pitchFamily="34" charset="0"/>
              <a:cs typeface="Arial"/>
            </a:endParaRPr>
          </a:p>
          <a:p>
            <a:pPr>
              <a:tabLst>
                <a:tab pos="4740275" algn="l"/>
              </a:tabLst>
            </a:pPr>
            <a:endParaRPr lang="en-US" sz="2000" i="1" dirty="0">
              <a:solidFill>
                <a:srgbClr val="000000"/>
              </a:solidFill>
              <a:latin typeface="Calibri" panose="020F0502020204030204" pitchFamily="34" charset="0"/>
              <a:cs typeface="Arial"/>
            </a:endParaRPr>
          </a:p>
        </p:txBody>
      </p:sp>
      <p:sp>
        <p:nvSpPr>
          <p:cNvPr id="2073606" name="Text Box 6"/>
          <p:cNvSpPr txBox="1">
            <a:spLocks noChangeArrowheads="1"/>
          </p:cNvSpPr>
          <p:nvPr/>
        </p:nvSpPr>
        <p:spPr bwMode="auto">
          <a:xfrm>
            <a:off x="11683671" y="6432146"/>
            <a:ext cx="348172" cy="276999"/>
          </a:xfrm>
          <a:prstGeom prst="rect">
            <a:avLst/>
          </a:prstGeom>
          <a:solidFill>
            <a:srgbClr val="FFFFFF">
              <a:alpha val="64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fld id="{FB247A72-DDAA-4E7C-8683-A564ABF59040}" type="slidenum">
              <a:rPr lang="en-US" sz="1200">
                <a:solidFill>
                  <a:srgbClr val="333333"/>
                </a:solidFill>
                <a:latin typeface="Garamond"/>
                <a:ea typeface="Arial Unicode MS" pitchFamily="34" charset="-128"/>
                <a:cs typeface="Arial Unicode MS" pitchFamily="34" charset="-128"/>
              </a:rPr>
              <a:pPr algn="ctr"/>
              <a:t>31</a:t>
            </a:fld>
            <a:endParaRPr lang="en-US" sz="1200" dirty="0">
              <a:solidFill>
                <a:srgbClr val="333333"/>
              </a:solidFill>
              <a:latin typeface="Garamond"/>
              <a:ea typeface="Arial Unicode MS" pitchFamily="34" charset="-128"/>
              <a:cs typeface="Arial Unicode MS" pitchFamily="34" charset="-128"/>
            </a:endParaRPr>
          </a:p>
        </p:txBody>
      </p:sp>
    </p:spTree>
    <p:extLst>
      <p:ext uri="{BB962C8B-B14F-4D97-AF65-F5344CB8AC3E}">
        <p14:creationId xmlns:p14="http://schemas.microsoft.com/office/powerpoint/2010/main" val="15907573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6700" y="2784935"/>
            <a:ext cx="10515600" cy="545041"/>
          </a:xfrm>
        </p:spPr>
        <p:txBody>
          <a:bodyP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3200" dirty="0"/>
              <a:t>Thank you!</a:t>
            </a:r>
          </a:p>
        </p:txBody>
      </p:sp>
      <p:sp>
        <p:nvSpPr>
          <p:cNvPr id="2" name="Slide Number Placeholder 1"/>
          <p:cNvSpPr>
            <a:spLocks noGrp="1"/>
          </p:cNvSpPr>
          <p:nvPr>
            <p:ph type="sldNum" sz="quarter" idx="12"/>
          </p:nvPr>
        </p:nvSpPr>
        <p:spPr>
          <a:xfrm>
            <a:off x="9296400" y="6356349"/>
            <a:ext cx="2743200" cy="365125"/>
          </a:xfrm>
        </p:spPr>
        <p:txBody>
          <a:bodyPr/>
          <a:lstStyle/>
          <a:p>
            <a:fld id="{290411FE-F426-8D49-82D8-99B69C723D30}" type="slidenum">
              <a:rPr lang="en-US" smtClean="0"/>
              <a:t>32</a:t>
            </a:fld>
            <a:endParaRPr lang="en-US"/>
          </a:p>
        </p:txBody>
      </p:sp>
      <p:sp>
        <p:nvSpPr>
          <p:cNvPr id="4" name="TextBox 3"/>
          <p:cNvSpPr txBox="1"/>
          <p:nvPr/>
        </p:nvSpPr>
        <p:spPr>
          <a:xfrm>
            <a:off x="2243137" y="3879224"/>
            <a:ext cx="1955920" cy="584775"/>
          </a:xfrm>
          <a:prstGeom prst="rect">
            <a:avLst/>
          </a:prstGeom>
          <a:noFill/>
        </p:spPr>
        <p:txBody>
          <a:bodyPr wrap="none" rtlCol="0">
            <a:spAutoFit/>
          </a:bodyPr>
          <a:lstStyle/>
          <a:p>
            <a:r>
              <a:rPr lang="en-US" sz="3200" dirty="0"/>
              <a:t>@obscrivn</a:t>
            </a:r>
          </a:p>
        </p:txBody>
      </p:sp>
      <p:sp>
        <p:nvSpPr>
          <p:cNvPr id="5" name="TextBox 4"/>
          <p:cNvSpPr txBox="1"/>
          <p:nvPr/>
        </p:nvSpPr>
        <p:spPr>
          <a:xfrm>
            <a:off x="7072313" y="3959024"/>
            <a:ext cx="2170979" cy="584775"/>
          </a:xfrm>
          <a:prstGeom prst="rect">
            <a:avLst/>
          </a:prstGeom>
          <a:noFill/>
        </p:spPr>
        <p:txBody>
          <a:bodyPr wrap="none" rtlCol="0">
            <a:spAutoFit/>
          </a:bodyPr>
          <a:lstStyle/>
          <a:p>
            <a:r>
              <a:rPr lang="en-US" sz="3200" dirty="0"/>
              <a:t>@cnscenter</a:t>
            </a:r>
          </a:p>
        </p:txBody>
      </p:sp>
      <p:pic>
        <p:nvPicPr>
          <p:cNvPr id="6" name="Picture 5">
            <a:extLst>
              <a:ext uri="{FF2B5EF4-FFF2-40B4-BE49-F238E27FC236}">
                <a16:creationId xmlns="" xmlns:a16="http://schemas.microsoft.com/office/drawing/2014/main" id="{40604DB7-7C32-4F3B-9AB9-B7D36303D20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376814" y="-69528"/>
            <a:ext cx="1562425" cy="1562425"/>
          </a:xfrm>
          <a:prstGeom prst="rect">
            <a:avLst/>
          </a:prstGeom>
        </p:spPr>
      </p:pic>
    </p:spTree>
    <p:extLst>
      <p:ext uri="{BB962C8B-B14F-4D97-AF65-F5344CB8AC3E}">
        <p14:creationId xmlns:p14="http://schemas.microsoft.com/office/powerpoint/2010/main" val="110284615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02958AE1-548D-4B2F-92CB-D8BBEA858633}"/>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0" y="-2"/>
            <a:ext cx="12192000" cy="6858652"/>
          </a:xfrm>
          <a:prstGeom prst="rect">
            <a:avLst/>
          </a:prstGeom>
        </p:spPr>
      </p:pic>
      <p:sp>
        <p:nvSpPr>
          <p:cNvPr id="14" name="Rectangle 13">
            <a:extLst>
              <a:ext uri="{FF2B5EF4-FFF2-40B4-BE49-F238E27FC236}">
                <a16:creationId xmlns="" xmlns:a16="http://schemas.microsoft.com/office/drawing/2014/main" id="{6C598B16-606E-4AE5-811B-53F855A6AB16}"/>
              </a:ext>
            </a:extLst>
          </p:cNvPr>
          <p:cNvSpPr/>
          <p:nvPr userDrawn="1"/>
        </p:nvSpPr>
        <p:spPr>
          <a:xfrm>
            <a:off x="0" y="0"/>
            <a:ext cx="12192000" cy="685864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 xmlns:a16="http://schemas.microsoft.com/office/drawing/2014/main" id="{D1DFF0ED-0326-45FD-BEAC-4A85C5FC1BA3}"/>
              </a:ext>
            </a:extLst>
          </p:cNvPr>
          <p:cNvSpPr/>
          <p:nvPr userDrawn="1"/>
        </p:nvSpPr>
        <p:spPr>
          <a:xfrm rot="10800000">
            <a:off x="0" y="-1"/>
            <a:ext cx="12192000" cy="2542843"/>
          </a:xfrm>
          <a:prstGeom prst="rect">
            <a:avLst/>
          </a:prstGeom>
          <a:gradFill flip="none" rotWithShape="1">
            <a:gsLst>
              <a:gs pos="1000">
                <a:schemeClr val="accent5">
                  <a:lumMod val="28000"/>
                  <a:alpha val="0"/>
                </a:schemeClr>
              </a:gs>
              <a:gs pos="100000">
                <a:schemeClr val="tx1">
                  <a:alpha val="84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04E5BCA5-DDCF-4FC6-B762-C925DA94BC7D}"/>
              </a:ext>
            </a:extLst>
          </p:cNvPr>
          <p:cNvSpPr/>
          <p:nvPr userDrawn="1"/>
        </p:nvSpPr>
        <p:spPr>
          <a:xfrm>
            <a:off x="0" y="4272375"/>
            <a:ext cx="12192000" cy="2586274"/>
          </a:xfrm>
          <a:prstGeom prst="rect">
            <a:avLst/>
          </a:prstGeom>
          <a:gradFill flip="none" rotWithShape="1">
            <a:gsLst>
              <a:gs pos="0">
                <a:schemeClr val="accent5">
                  <a:alpha val="0"/>
                  <a:lumMod val="50000"/>
                </a:schemeClr>
              </a:gs>
              <a:gs pos="100000">
                <a:schemeClr val="tx1">
                  <a:alpha val="81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2">
            <a:extLst>
              <a:ext uri="{FF2B5EF4-FFF2-40B4-BE49-F238E27FC236}">
                <a16:creationId xmlns="" xmlns:a16="http://schemas.microsoft.com/office/drawing/2014/main" id="{2AFB80C2-7E40-42E7-BCE5-9B46D5347C61}"/>
              </a:ext>
            </a:extLst>
          </p:cNvPr>
          <p:cNvSpPr txBox="1">
            <a:spLocks/>
          </p:cNvSpPr>
          <p:nvPr/>
        </p:nvSpPr>
        <p:spPr>
          <a:xfrm>
            <a:off x="4026132" y="1002582"/>
            <a:ext cx="7777942" cy="101371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1500" b="1" dirty="0">
                <a:solidFill>
                  <a:schemeClr val="bg1">
                    <a:alpha val="48000"/>
                  </a:schemeClr>
                </a:solidFill>
                <a:latin typeface="Calibri" panose="020F0502020204030204" pitchFamily="34" charset="0"/>
                <a:cs typeface="Calibri" panose="020F0502020204030204" pitchFamily="34" charset="0"/>
              </a:rPr>
              <a:t>Questions</a:t>
            </a:r>
          </a:p>
        </p:txBody>
      </p:sp>
      <p:sp>
        <p:nvSpPr>
          <p:cNvPr id="8" name="Title 3">
            <a:extLst>
              <a:ext uri="{FF2B5EF4-FFF2-40B4-BE49-F238E27FC236}">
                <a16:creationId xmlns="" xmlns:a16="http://schemas.microsoft.com/office/drawing/2014/main" id="{86E3BFA0-03D3-4114-93D2-BB6358071BF6}"/>
              </a:ext>
            </a:extLst>
          </p:cNvPr>
          <p:cNvSpPr txBox="1">
            <a:spLocks/>
          </p:cNvSpPr>
          <p:nvPr/>
        </p:nvSpPr>
        <p:spPr>
          <a:xfrm>
            <a:off x="1125270" y="3142150"/>
            <a:ext cx="4748554" cy="97485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solidFill>
                  <a:schemeClr val="bg1"/>
                </a:solidFill>
              </a:rPr>
              <a:t>PRESENTED BY:</a:t>
            </a:r>
          </a:p>
          <a:p>
            <a:pPr defTabSz="457200">
              <a:lnSpc>
                <a:spcPct val="100000"/>
              </a:lnSpc>
              <a:spcBef>
                <a:spcPts val="0"/>
              </a:spcBef>
            </a:pPr>
            <a:r>
              <a:rPr lang="en-US" sz="3600" b="1" dirty="0">
                <a:solidFill>
                  <a:schemeClr val="bg1"/>
                </a:solidFill>
                <a:latin typeface="Calibri" panose="020F0502020204030204" pitchFamily="34" charset="0"/>
                <a:cs typeface="Calibri" panose="020F0502020204030204" pitchFamily="34" charset="0"/>
              </a:rPr>
              <a:t>Olga Scrivner</a:t>
            </a:r>
          </a:p>
        </p:txBody>
      </p:sp>
      <p:sp>
        <p:nvSpPr>
          <p:cNvPr id="17" name="Rectangle 16">
            <a:extLst>
              <a:ext uri="{FF2B5EF4-FFF2-40B4-BE49-F238E27FC236}">
                <a16:creationId xmlns="" xmlns:a16="http://schemas.microsoft.com/office/drawing/2014/main" id="{351FF65F-9BC3-4938-81C0-936B430F3D54}"/>
              </a:ext>
            </a:extLst>
          </p:cNvPr>
          <p:cNvSpPr/>
          <p:nvPr/>
        </p:nvSpPr>
        <p:spPr>
          <a:xfrm>
            <a:off x="1125270" y="4251456"/>
            <a:ext cx="4572000" cy="707886"/>
          </a:xfrm>
          <a:prstGeom prst="rect">
            <a:avLst/>
          </a:prstGeom>
        </p:spPr>
        <p:txBody>
          <a:bodyPr>
            <a:spAutoFit/>
          </a:bodyPr>
          <a:lstStyle/>
          <a:p>
            <a:pPr lvl="0"/>
            <a:r>
              <a:rPr lang="en-US" altLang="en-US" dirty="0">
                <a:solidFill>
                  <a:prstClr val="white"/>
                </a:solidFill>
                <a:latin typeface="Arial" panose="020B0604020202020204" pitchFamily="34" charset="0"/>
              </a:rPr>
              <a:t>Call </a:t>
            </a:r>
            <a:r>
              <a:rPr lang="en-US" altLang="en-US" sz="2000" b="1" dirty="0">
                <a:solidFill>
                  <a:prstClr val="white"/>
                </a:solidFill>
                <a:latin typeface="Arial" panose="020B0604020202020204" pitchFamily="34" charset="0"/>
              </a:rPr>
              <a:t>(812) 349-8853</a:t>
            </a:r>
          </a:p>
          <a:p>
            <a:pPr lvl="0"/>
            <a:r>
              <a:rPr lang="en-US" altLang="en-US" dirty="0">
                <a:solidFill>
                  <a:prstClr val="white"/>
                </a:solidFill>
                <a:latin typeface="Arial" panose="020B0604020202020204" pitchFamily="34" charset="0"/>
              </a:rPr>
              <a:t>or email </a:t>
            </a:r>
            <a:r>
              <a:rPr lang="en-US" altLang="en-US" sz="2000" b="1" dirty="0">
                <a:solidFill>
                  <a:prstClr val="white"/>
                </a:solidFill>
                <a:latin typeface="Arial" panose="020B0604020202020204" pitchFamily="34" charset="0"/>
              </a:rPr>
              <a:t>obscrivn@indiana.edu</a:t>
            </a:r>
          </a:p>
        </p:txBody>
      </p:sp>
      <p:sp>
        <p:nvSpPr>
          <p:cNvPr id="18" name="Rectangle 17">
            <a:extLst>
              <a:ext uri="{FF2B5EF4-FFF2-40B4-BE49-F238E27FC236}">
                <a16:creationId xmlns="" xmlns:a16="http://schemas.microsoft.com/office/drawing/2014/main" id="{F08457A2-C7BE-48F2-91B0-877D9ACD65DF}"/>
              </a:ext>
            </a:extLst>
          </p:cNvPr>
          <p:cNvSpPr/>
          <p:nvPr/>
        </p:nvSpPr>
        <p:spPr>
          <a:xfrm>
            <a:off x="1125270" y="5103539"/>
            <a:ext cx="2900861" cy="738664"/>
          </a:xfrm>
          <a:prstGeom prst="rect">
            <a:avLst/>
          </a:prstGeom>
        </p:spPr>
        <p:txBody>
          <a:bodyPr wrap="square">
            <a:spAutoFit/>
          </a:bodyPr>
          <a:lstStyle/>
          <a:p>
            <a:r>
              <a:rPr lang="en-US" sz="1400" b="1" dirty="0">
                <a:solidFill>
                  <a:schemeClr val="bg1"/>
                </a:solidFill>
              </a:rPr>
              <a:t>Indiana University - Bloomington</a:t>
            </a:r>
          </a:p>
          <a:p>
            <a:r>
              <a:rPr lang="en-US" sz="1400" dirty="0">
                <a:solidFill>
                  <a:schemeClr val="bg1"/>
                </a:solidFill>
              </a:rPr>
              <a:t>1320 E. 10</a:t>
            </a:r>
            <a:r>
              <a:rPr lang="en-US" sz="1400" baseline="30000" dirty="0">
                <a:solidFill>
                  <a:schemeClr val="bg1"/>
                </a:solidFill>
              </a:rPr>
              <a:t>th</a:t>
            </a:r>
            <a:r>
              <a:rPr lang="en-US" sz="1400" dirty="0">
                <a:solidFill>
                  <a:schemeClr val="bg1"/>
                </a:solidFill>
              </a:rPr>
              <a:t> St., Wells Library</a:t>
            </a:r>
          </a:p>
          <a:p>
            <a:r>
              <a:rPr lang="en-US" sz="1400" dirty="0">
                <a:solidFill>
                  <a:schemeClr val="bg1"/>
                </a:solidFill>
              </a:rPr>
              <a:t>Bloomington, IN 47405 USA</a:t>
            </a:r>
          </a:p>
        </p:txBody>
      </p:sp>
      <p:cxnSp>
        <p:nvCxnSpPr>
          <p:cNvPr id="20" name="Straight Connector 19">
            <a:extLst>
              <a:ext uri="{FF2B5EF4-FFF2-40B4-BE49-F238E27FC236}">
                <a16:creationId xmlns="" xmlns:a16="http://schemas.microsoft.com/office/drawing/2014/main" id="{88FCC822-504F-43E6-B5A3-84C3BC509A9C}"/>
              </a:ext>
            </a:extLst>
          </p:cNvPr>
          <p:cNvCxnSpPr/>
          <p:nvPr/>
        </p:nvCxnSpPr>
        <p:spPr>
          <a:xfrm>
            <a:off x="1235144" y="4117007"/>
            <a:ext cx="43679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 xmlns:a16="http://schemas.microsoft.com/office/drawing/2014/main" id="{205024F0-6232-48A3-AEF5-334D62BD4329}"/>
              </a:ext>
            </a:extLst>
          </p:cNvPr>
          <p:cNvPicPr>
            <a:picLocks noChangeAspect="1"/>
          </p:cNvPicPr>
          <p:nvPr/>
        </p:nvPicPr>
        <p:blipFill>
          <a:blip r:embed="rId3"/>
          <a:stretch>
            <a:fillRect/>
          </a:stretch>
        </p:blipFill>
        <p:spPr>
          <a:xfrm>
            <a:off x="1235144" y="1044073"/>
            <a:ext cx="1982799" cy="1982799"/>
          </a:xfrm>
          <a:prstGeom prst="rect">
            <a:avLst/>
          </a:prstGeom>
        </p:spPr>
      </p:pic>
    </p:spTree>
    <p:extLst>
      <p:ext uri="{BB962C8B-B14F-4D97-AF65-F5344CB8AC3E}">
        <p14:creationId xmlns:p14="http://schemas.microsoft.com/office/powerpoint/2010/main" val="30131578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NS Gree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2585</TotalTime>
  <Words>1444</Words>
  <Application>Microsoft Macintosh PowerPoint</Application>
  <PresentationFormat>Widescreen</PresentationFormat>
  <Paragraphs>229</Paragraphs>
  <Slides>33</Slides>
  <Notes>32</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Arial Unicode MS</vt:lpstr>
      <vt:lpstr>Calibri</vt:lpstr>
      <vt:lpstr>Calibri Light</vt:lpstr>
      <vt:lpstr>Garamond</vt:lpstr>
      <vt:lpstr>Wingdings</vt:lpstr>
      <vt:lpstr>Office Theme</vt:lpstr>
      <vt:lpstr>Building Effective Visualization Tools for Everyday Business: Web Visualization Framework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15.0038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208</cp:revision>
  <cp:lastPrinted>2017-10-18T18:52:08Z</cp:lastPrinted>
  <dcterms:created xsi:type="dcterms:W3CDTF">2017-05-18T12:55:08Z</dcterms:created>
  <dcterms:modified xsi:type="dcterms:W3CDTF">2017-10-18T18:55:18Z</dcterms:modified>
</cp:coreProperties>
</file>