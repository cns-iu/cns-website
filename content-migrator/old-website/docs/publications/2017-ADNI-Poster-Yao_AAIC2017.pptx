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4513688" rtl="0" eaLnBrk="1" latinLnBrk="0" hangingPunct="1">
      <a:defRPr sz="8758" kern="1200">
        <a:solidFill>
          <a:schemeClr val="tx1"/>
        </a:solidFill>
        <a:latin typeface="+mn-lt"/>
        <a:ea typeface="+mn-ea"/>
        <a:cs typeface="+mn-cs"/>
      </a:defRPr>
    </a:lvl1pPr>
    <a:lvl2pPr marL="2256845" algn="l" defTabSz="4513688" rtl="0" eaLnBrk="1" latinLnBrk="0" hangingPunct="1">
      <a:defRPr sz="8758" kern="1200">
        <a:solidFill>
          <a:schemeClr val="tx1"/>
        </a:solidFill>
        <a:latin typeface="+mn-lt"/>
        <a:ea typeface="+mn-ea"/>
        <a:cs typeface="+mn-cs"/>
      </a:defRPr>
    </a:lvl2pPr>
    <a:lvl3pPr marL="4513688" algn="l" defTabSz="4513688" rtl="0" eaLnBrk="1" latinLnBrk="0" hangingPunct="1">
      <a:defRPr sz="8758" kern="1200">
        <a:solidFill>
          <a:schemeClr val="tx1"/>
        </a:solidFill>
        <a:latin typeface="+mn-lt"/>
        <a:ea typeface="+mn-ea"/>
        <a:cs typeface="+mn-cs"/>
      </a:defRPr>
    </a:lvl3pPr>
    <a:lvl4pPr marL="6770532" algn="l" defTabSz="4513688" rtl="0" eaLnBrk="1" latinLnBrk="0" hangingPunct="1">
      <a:defRPr sz="8758" kern="1200">
        <a:solidFill>
          <a:schemeClr val="tx1"/>
        </a:solidFill>
        <a:latin typeface="+mn-lt"/>
        <a:ea typeface="+mn-ea"/>
        <a:cs typeface="+mn-cs"/>
      </a:defRPr>
    </a:lvl4pPr>
    <a:lvl5pPr marL="9027375" algn="l" defTabSz="4513688" rtl="0" eaLnBrk="1" latinLnBrk="0" hangingPunct="1">
      <a:defRPr sz="8758" kern="1200">
        <a:solidFill>
          <a:schemeClr val="tx1"/>
        </a:solidFill>
        <a:latin typeface="+mn-lt"/>
        <a:ea typeface="+mn-ea"/>
        <a:cs typeface="+mn-cs"/>
      </a:defRPr>
    </a:lvl5pPr>
    <a:lvl6pPr marL="11284221" algn="l" defTabSz="4513688" rtl="0" eaLnBrk="1" latinLnBrk="0" hangingPunct="1">
      <a:defRPr sz="8758" kern="1200">
        <a:solidFill>
          <a:schemeClr val="tx1"/>
        </a:solidFill>
        <a:latin typeface="+mn-lt"/>
        <a:ea typeface="+mn-ea"/>
        <a:cs typeface="+mn-cs"/>
      </a:defRPr>
    </a:lvl6pPr>
    <a:lvl7pPr marL="13541066" algn="l" defTabSz="4513688" rtl="0" eaLnBrk="1" latinLnBrk="0" hangingPunct="1">
      <a:defRPr sz="8758" kern="1200">
        <a:solidFill>
          <a:schemeClr val="tx1"/>
        </a:solidFill>
        <a:latin typeface="+mn-lt"/>
        <a:ea typeface="+mn-ea"/>
        <a:cs typeface="+mn-cs"/>
      </a:defRPr>
    </a:lvl7pPr>
    <a:lvl8pPr marL="15797909" algn="l" defTabSz="4513688" rtl="0" eaLnBrk="1" latinLnBrk="0" hangingPunct="1">
      <a:defRPr sz="8758" kern="1200">
        <a:solidFill>
          <a:schemeClr val="tx1"/>
        </a:solidFill>
        <a:latin typeface="+mn-lt"/>
        <a:ea typeface="+mn-ea"/>
        <a:cs typeface="+mn-cs"/>
      </a:defRPr>
    </a:lvl8pPr>
    <a:lvl9pPr marL="18054753" algn="l" defTabSz="4513688" rtl="0" eaLnBrk="1" latinLnBrk="0" hangingPunct="1">
      <a:defRPr sz="87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6" autoAdjust="0"/>
    <p:restoredTop sz="94660"/>
  </p:normalViewPr>
  <p:slideViewPr>
    <p:cSldViewPr>
      <p:cViewPr varScale="1">
        <p:scale>
          <a:sx n="17" d="100"/>
          <a:sy n="17" d="100"/>
        </p:scale>
        <p:origin x="1865" y="91"/>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ECD588-B915-4E7A-AE8E-0D6DEBB343CF}" type="datetimeFigureOut">
              <a:rPr lang="en-US" smtClean="0"/>
              <a:t>7/9/2017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772A44-29EC-44FC-A04A-1EA2ED71A257}" type="slidenum">
              <a:rPr lang="en-US" smtClean="0"/>
              <a:t>‹#›</a:t>
            </a:fld>
            <a:endParaRPr lang="en-US"/>
          </a:p>
        </p:txBody>
      </p:sp>
    </p:spTree>
    <p:extLst>
      <p:ext uri="{BB962C8B-B14F-4D97-AF65-F5344CB8AC3E}">
        <p14:creationId xmlns:p14="http://schemas.microsoft.com/office/powerpoint/2010/main" val="4198883388"/>
      </p:ext>
    </p:extLst>
  </p:cSld>
  <p:clrMap bg1="lt1" tx1="dk1" bg2="lt2" tx2="dk2" accent1="accent1" accent2="accent2" accent3="accent3" accent4="accent4" accent5="accent5" accent6="accent6" hlink="hlink" folHlink="folHlink"/>
  <p:notesStyle>
    <a:lvl1pPr marL="0" algn="l" defTabSz="1579815" rtl="0" eaLnBrk="1" latinLnBrk="0" hangingPunct="1">
      <a:defRPr sz="2040" kern="1200">
        <a:solidFill>
          <a:schemeClr val="tx1"/>
        </a:solidFill>
        <a:latin typeface="+mn-lt"/>
        <a:ea typeface="+mn-ea"/>
        <a:cs typeface="+mn-cs"/>
      </a:defRPr>
    </a:lvl1pPr>
    <a:lvl2pPr marL="789907" algn="l" defTabSz="1579815" rtl="0" eaLnBrk="1" latinLnBrk="0" hangingPunct="1">
      <a:defRPr sz="2040" kern="1200">
        <a:solidFill>
          <a:schemeClr val="tx1"/>
        </a:solidFill>
        <a:latin typeface="+mn-lt"/>
        <a:ea typeface="+mn-ea"/>
        <a:cs typeface="+mn-cs"/>
      </a:defRPr>
    </a:lvl2pPr>
    <a:lvl3pPr marL="1579815" algn="l" defTabSz="1579815" rtl="0" eaLnBrk="1" latinLnBrk="0" hangingPunct="1">
      <a:defRPr sz="2040" kern="1200">
        <a:solidFill>
          <a:schemeClr val="tx1"/>
        </a:solidFill>
        <a:latin typeface="+mn-lt"/>
        <a:ea typeface="+mn-ea"/>
        <a:cs typeface="+mn-cs"/>
      </a:defRPr>
    </a:lvl3pPr>
    <a:lvl4pPr marL="2369723" algn="l" defTabSz="1579815" rtl="0" eaLnBrk="1" latinLnBrk="0" hangingPunct="1">
      <a:defRPr sz="2040" kern="1200">
        <a:solidFill>
          <a:schemeClr val="tx1"/>
        </a:solidFill>
        <a:latin typeface="+mn-lt"/>
        <a:ea typeface="+mn-ea"/>
        <a:cs typeface="+mn-cs"/>
      </a:defRPr>
    </a:lvl4pPr>
    <a:lvl5pPr marL="3159629" algn="l" defTabSz="1579815" rtl="0" eaLnBrk="1" latinLnBrk="0" hangingPunct="1">
      <a:defRPr sz="2040" kern="1200">
        <a:solidFill>
          <a:schemeClr val="tx1"/>
        </a:solidFill>
        <a:latin typeface="+mn-lt"/>
        <a:ea typeface="+mn-ea"/>
        <a:cs typeface="+mn-cs"/>
      </a:defRPr>
    </a:lvl5pPr>
    <a:lvl6pPr marL="3949536" algn="l" defTabSz="1579815" rtl="0" eaLnBrk="1" latinLnBrk="0" hangingPunct="1">
      <a:defRPr sz="2040" kern="1200">
        <a:solidFill>
          <a:schemeClr val="tx1"/>
        </a:solidFill>
        <a:latin typeface="+mn-lt"/>
        <a:ea typeface="+mn-ea"/>
        <a:cs typeface="+mn-cs"/>
      </a:defRPr>
    </a:lvl6pPr>
    <a:lvl7pPr marL="4739444" algn="l" defTabSz="1579815" rtl="0" eaLnBrk="1" latinLnBrk="0" hangingPunct="1">
      <a:defRPr sz="2040" kern="1200">
        <a:solidFill>
          <a:schemeClr val="tx1"/>
        </a:solidFill>
        <a:latin typeface="+mn-lt"/>
        <a:ea typeface="+mn-ea"/>
        <a:cs typeface="+mn-cs"/>
      </a:defRPr>
    </a:lvl7pPr>
    <a:lvl8pPr marL="5529350" algn="l" defTabSz="1579815" rtl="0" eaLnBrk="1" latinLnBrk="0" hangingPunct="1">
      <a:defRPr sz="2040" kern="1200">
        <a:solidFill>
          <a:schemeClr val="tx1"/>
        </a:solidFill>
        <a:latin typeface="+mn-lt"/>
        <a:ea typeface="+mn-ea"/>
        <a:cs typeface="+mn-cs"/>
      </a:defRPr>
    </a:lvl8pPr>
    <a:lvl9pPr marL="6319258" algn="l" defTabSz="1579815" rtl="0" eaLnBrk="1" latinLnBrk="0" hangingPunct="1">
      <a:defRPr sz="20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8"/>
            <a:ext cx="37307520" cy="7056122"/>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006374" indent="0" algn="ctr">
              <a:buNone/>
              <a:defRPr>
                <a:solidFill>
                  <a:schemeClr val="tx1">
                    <a:tint val="75000"/>
                  </a:schemeClr>
                </a:solidFill>
              </a:defRPr>
            </a:lvl2pPr>
            <a:lvl3pPr marL="4012749" indent="0" algn="ctr">
              <a:buNone/>
              <a:defRPr>
                <a:solidFill>
                  <a:schemeClr val="tx1">
                    <a:tint val="75000"/>
                  </a:schemeClr>
                </a:solidFill>
              </a:defRPr>
            </a:lvl3pPr>
            <a:lvl4pPr marL="6019123" indent="0" algn="ctr">
              <a:buNone/>
              <a:defRPr>
                <a:solidFill>
                  <a:schemeClr val="tx1">
                    <a:tint val="75000"/>
                  </a:schemeClr>
                </a:solidFill>
              </a:defRPr>
            </a:lvl4pPr>
            <a:lvl5pPr marL="8025498" indent="0" algn="ctr">
              <a:buNone/>
              <a:defRPr>
                <a:solidFill>
                  <a:schemeClr val="tx1">
                    <a:tint val="75000"/>
                  </a:schemeClr>
                </a:solidFill>
              </a:defRPr>
            </a:lvl5pPr>
            <a:lvl6pPr marL="10031875" indent="0" algn="ctr">
              <a:buNone/>
              <a:defRPr>
                <a:solidFill>
                  <a:schemeClr val="tx1">
                    <a:tint val="75000"/>
                  </a:schemeClr>
                </a:solidFill>
              </a:defRPr>
            </a:lvl6pPr>
            <a:lvl7pPr marL="12038248" indent="0" algn="ctr">
              <a:buNone/>
              <a:defRPr>
                <a:solidFill>
                  <a:schemeClr val="tx1">
                    <a:tint val="75000"/>
                  </a:schemeClr>
                </a:solidFill>
              </a:defRPr>
            </a:lvl7pPr>
            <a:lvl8pPr marL="14044622" indent="0" algn="ctr">
              <a:buNone/>
              <a:defRPr>
                <a:solidFill>
                  <a:schemeClr val="tx1">
                    <a:tint val="75000"/>
                  </a:schemeClr>
                </a:solidFill>
              </a:defRPr>
            </a:lvl8pPr>
            <a:lvl9pPr marL="16050997"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123"/>
            <a:ext cx="37307520" cy="6537960"/>
          </a:xfrm>
        </p:spPr>
        <p:txBody>
          <a:bodyPr anchor="t"/>
          <a:lstStyle>
            <a:lvl1pPr algn="l">
              <a:defRPr sz="17493" b="1" cap="all"/>
            </a:lvl1pPr>
          </a:lstStyle>
          <a:p>
            <a:r>
              <a:rPr lang="en-US" smtClean="0"/>
              <a:t>Click to edit Master title style</a:t>
            </a:r>
            <a:endParaRPr lang="en-US"/>
          </a:p>
        </p:txBody>
      </p:sp>
      <p:sp>
        <p:nvSpPr>
          <p:cNvPr id="3" name="Text Placeholder 2"/>
          <p:cNvSpPr>
            <a:spLocks noGrp="1"/>
          </p:cNvSpPr>
          <p:nvPr>
            <p:ph type="body" idx="1"/>
          </p:nvPr>
        </p:nvSpPr>
        <p:spPr>
          <a:xfrm>
            <a:off x="3467103" y="13952230"/>
            <a:ext cx="37307520" cy="7200899"/>
          </a:xfrm>
        </p:spPr>
        <p:txBody>
          <a:bodyPr anchor="b"/>
          <a:lstStyle>
            <a:lvl1pPr marL="0" indent="0">
              <a:buNone/>
              <a:defRPr sz="8746">
                <a:solidFill>
                  <a:schemeClr val="tx1">
                    <a:tint val="75000"/>
                  </a:schemeClr>
                </a:solidFill>
              </a:defRPr>
            </a:lvl1pPr>
            <a:lvl2pPr marL="2006374" indent="0">
              <a:buNone/>
              <a:defRPr sz="7786">
                <a:solidFill>
                  <a:schemeClr val="tx1">
                    <a:tint val="75000"/>
                  </a:schemeClr>
                </a:solidFill>
              </a:defRPr>
            </a:lvl2pPr>
            <a:lvl3pPr marL="4012749" indent="0">
              <a:buNone/>
              <a:defRPr sz="7040">
                <a:solidFill>
                  <a:schemeClr val="tx1">
                    <a:tint val="75000"/>
                  </a:schemeClr>
                </a:solidFill>
              </a:defRPr>
            </a:lvl3pPr>
            <a:lvl4pPr marL="6019123" indent="0">
              <a:buNone/>
              <a:defRPr sz="6187">
                <a:solidFill>
                  <a:schemeClr val="tx1">
                    <a:tint val="75000"/>
                  </a:schemeClr>
                </a:solidFill>
              </a:defRPr>
            </a:lvl4pPr>
            <a:lvl5pPr marL="8025498" indent="0">
              <a:buNone/>
              <a:defRPr sz="6187">
                <a:solidFill>
                  <a:schemeClr val="tx1">
                    <a:tint val="75000"/>
                  </a:schemeClr>
                </a:solidFill>
              </a:defRPr>
            </a:lvl5pPr>
            <a:lvl6pPr marL="10031875" indent="0">
              <a:buNone/>
              <a:defRPr sz="6187">
                <a:solidFill>
                  <a:schemeClr val="tx1">
                    <a:tint val="75000"/>
                  </a:schemeClr>
                </a:solidFill>
              </a:defRPr>
            </a:lvl6pPr>
            <a:lvl7pPr marL="12038248" indent="0">
              <a:buNone/>
              <a:defRPr sz="6187">
                <a:solidFill>
                  <a:schemeClr val="tx1">
                    <a:tint val="75000"/>
                  </a:schemeClr>
                </a:solidFill>
              </a:defRPr>
            </a:lvl7pPr>
            <a:lvl8pPr marL="14044622" indent="0">
              <a:buNone/>
              <a:defRPr sz="6187">
                <a:solidFill>
                  <a:schemeClr val="tx1">
                    <a:tint val="75000"/>
                  </a:schemeClr>
                </a:solidFill>
              </a:defRPr>
            </a:lvl8pPr>
            <a:lvl9pPr marL="16050997" indent="0">
              <a:buNone/>
              <a:defRPr sz="618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6"/>
            <a:ext cx="19385280" cy="21724623"/>
          </a:xfrm>
        </p:spPr>
        <p:txBody>
          <a:bodyPr/>
          <a:lstStyle>
            <a:lvl1pPr>
              <a:defRPr sz="12266"/>
            </a:lvl1pPr>
            <a:lvl2pPr>
              <a:defRPr sz="10560"/>
            </a:lvl2pPr>
            <a:lvl3pPr>
              <a:defRPr sz="8746"/>
            </a:lvl3pPr>
            <a:lvl4pPr>
              <a:defRPr sz="7786"/>
            </a:lvl4pPr>
            <a:lvl5pPr>
              <a:defRPr sz="7786"/>
            </a:lvl5pPr>
            <a:lvl6pPr>
              <a:defRPr sz="7786"/>
            </a:lvl6pPr>
            <a:lvl7pPr>
              <a:defRPr sz="7786"/>
            </a:lvl7pPr>
            <a:lvl8pPr>
              <a:defRPr sz="7786"/>
            </a:lvl8pPr>
            <a:lvl9pPr>
              <a:defRPr sz="778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6"/>
            <a:ext cx="19385280" cy="21724623"/>
          </a:xfrm>
        </p:spPr>
        <p:txBody>
          <a:bodyPr/>
          <a:lstStyle>
            <a:lvl1pPr>
              <a:defRPr sz="12266"/>
            </a:lvl1pPr>
            <a:lvl2pPr>
              <a:defRPr sz="10560"/>
            </a:lvl2pPr>
            <a:lvl3pPr>
              <a:defRPr sz="8746"/>
            </a:lvl3pPr>
            <a:lvl4pPr>
              <a:defRPr sz="7786"/>
            </a:lvl4pPr>
            <a:lvl5pPr>
              <a:defRPr sz="7786"/>
            </a:lvl5pPr>
            <a:lvl6pPr>
              <a:defRPr sz="7786"/>
            </a:lvl6pPr>
            <a:lvl7pPr>
              <a:defRPr sz="7786"/>
            </a:lvl7pPr>
            <a:lvl8pPr>
              <a:defRPr sz="7786"/>
            </a:lvl8pPr>
            <a:lvl9pPr>
              <a:defRPr sz="778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2" y="7368546"/>
            <a:ext cx="19392903" cy="3070857"/>
          </a:xfrm>
        </p:spPr>
        <p:txBody>
          <a:bodyPr anchor="b"/>
          <a:lstStyle>
            <a:lvl1pPr marL="0" indent="0">
              <a:buNone/>
              <a:defRPr sz="10560" b="1"/>
            </a:lvl1pPr>
            <a:lvl2pPr marL="2006374" indent="0">
              <a:buNone/>
              <a:defRPr sz="8746" b="1"/>
            </a:lvl2pPr>
            <a:lvl3pPr marL="4012749" indent="0">
              <a:buNone/>
              <a:defRPr sz="7786" b="1"/>
            </a:lvl3pPr>
            <a:lvl4pPr marL="6019123" indent="0">
              <a:buNone/>
              <a:defRPr sz="7040" b="1"/>
            </a:lvl4pPr>
            <a:lvl5pPr marL="8025498" indent="0">
              <a:buNone/>
              <a:defRPr sz="7040" b="1"/>
            </a:lvl5pPr>
            <a:lvl6pPr marL="10031875" indent="0">
              <a:buNone/>
              <a:defRPr sz="7040" b="1"/>
            </a:lvl6pPr>
            <a:lvl7pPr marL="12038248" indent="0">
              <a:buNone/>
              <a:defRPr sz="7040" b="1"/>
            </a:lvl7pPr>
            <a:lvl8pPr marL="14044622" indent="0">
              <a:buNone/>
              <a:defRPr sz="7040" b="1"/>
            </a:lvl8pPr>
            <a:lvl9pPr marL="16050997" indent="0">
              <a:buNone/>
              <a:defRPr sz="7040" b="1"/>
            </a:lvl9pPr>
          </a:lstStyle>
          <a:p>
            <a:pPr lvl="0"/>
            <a:r>
              <a:rPr lang="en-US" smtClean="0"/>
              <a:t>Click to edit Master text styles</a:t>
            </a:r>
          </a:p>
        </p:txBody>
      </p:sp>
      <p:sp>
        <p:nvSpPr>
          <p:cNvPr id="4" name="Content Placeholder 3"/>
          <p:cNvSpPr>
            <a:spLocks noGrp="1"/>
          </p:cNvSpPr>
          <p:nvPr>
            <p:ph sz="half" idx="2"/>
          </p:nvPr>
        </p:nvSpPr>
        <p:spPr>
          <a:xfrm>
            <a:off x="2194562" y="10439403"/>
            <a:ext cx="19392903" cy="18966183"/>
          </a:xfrm>
        </p:spPr>
        <p:txBody>
          <a:bodyPr/>
          <a:lstStyle>
            <a:lvl1pPr>
              <a:defRPr sz="10560"/>
            </a:lvl1pPr>
            <a:lvl2pPr>
              <a:defRPr sz="8746"/>
            </a:lvl2pPr>
            <a:lvl3pPr>
              <a:defRPr sz="7786"/>
            </a:lvl3pPr>
            <a:lvl4pPr>
              <a:defRPr sz="7040"/>
            </a:lvl4pPr>
            <a:lvl5pPr>
              <a:defRPr sz="7040"/>
            </a:lvl5pPr>
            <a:lvl6pPr>
              <a:defRPr sz="7040"/>
            </a:lvl6pPr>
            <a:lvl7pPr>
              <a:defRPr sz="7040"/>
            </a:lvl7pPr>
            <a:lvl8pPr>
              <a:defRPr sz="7040"/>
            </a:lvl8pPr>
            <a:lvl9pPr>
              <a:defRPr sz="704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5" y="7368546"/>
            <a:ext cx="19400520" cy="3070857"/>
          </a:xfrm>
        </p:spPr>
        <p:txBody>
          <a:bodyPr anchor="b"/>
          <a:lstStyle>
            <a:lvl1pPr marL="0" indent="0">
              <a:buNone/>
              <a:defRPr sz="10560" b="1"/>
            </a:lvl1pPr>
            <a:lvl2pPr marL="2006374" indent="0">
              <a:buNone/>
              <a:defRPr sz="8746" b="1"/>
            </a:lvl2pPr>
            <a:lvl3pPr marL="4012749" indent="0">
              <a:buNone/>
              <a:defRPr sz="7786" b="1"/>
            </a:lvl3pPr>
            <a:lvl4pPr marL="6019123" indent="0">
              <a:buNone/>
              <a:defRPr sz="7040" b="1"/>
            </a:lvl4pPr>
            <a:lvl5pPr marL="8025498" indent="0">
              <a:buNone/>
              <a:defRPr sz="7040" b="1"/>
            </a:lvl5pPr>
            <a:lvl6pPr marL="10031875" indent="0">
              <a:buNone/>
              <a:defRPr sz="7040" b="1"/>
            </a:lvl6pPr>
            <a:lvl7pPr marL="12038248" indent="0">
              <a:buNone/>
              <a:defRPr sz="7040" b="1"/>
            </a:lvl7pPr>
            <a:lvl8pPr marL="14044622" indent="0">
              <a:buNone/>
              <a:defRPr sz="7040" b="1"/>
            </a:lvl8pPr>
            <a:lvl9pPr marL="16050997" indent="0">
              <a:buNone/>
              <a:defRPr sz="7040" b="1"/>
            </a:lvl9pPr>
          </a:lstStyle>
          <a:p>
            <a:pPr lvl="0"/>
            <a:r>
              <a:rPr lang="en-US" smtClean="0"/>
              <a:t>Click to edit Master text styles</a:t>
            </a:r>
          </a:p>
        </p:txBody>
      </p:sp>
      <p:sp>
        <p:nvSpPr>
          <p:cNvPr id="6" name="Content Placeholder 5"/>
          <p:cNvSpPr>
            <a:spLocks noGrp="1"/>
          </p:cNvSpPr>
          <p:nvPr>
            <p:ph sz="quarter" idx="4"/>
          </p:nvPr>
        </p:nvSpPr>
        <p:spPr>
          <a:xfrm>
            <a:off x="22296125" y="10439403"/>
            <a:ext cx="19400520" cy="18966183"/>
          </a:xfrm>
        </p:spPr>
        <p:txBody>
          <a:bodyPr/>
          <a:lstStyle>
            <a:lvl1pPr>
              <a:defRPr sz="10560"/>
            </a:lvl1pPr>
            <a:lvl2pPr>
              <a:defRPr sz="8746"/>
            </a:lvl2pPr>
            <a:lvl3pPr>
              <a:defRPr sz="7786"/>
            </a:lvl3pPr>
            <a:lvl4pPr>
              <a:defRPr sz="7040"/>
            </a:lvl4pPr>
            <a:lvl5pPr>
              <a:defRPr sz="7040"/>
            </a:lvl5pPr>
            <a:lvl6pPr>
              <a:defRPr sz="7040"/>
            </a:lvl6pPr>
            <a:lvl7pPr>
              <a:defRPr sz="7040"/>
            </a:lvl7pPr>
            <a:lvl8pPr>
              <a:defRPr sz="7040"/>
            </a:lvl8pPr>
            <a:lvl9pPr>
              <a:defRPr sz="704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7" y="1310640"/>
            <a:ext cx="14439903" cy="5577840"/>
          </a:xfrm>
        </p:spPr>
        <p:txBody>
          <a:bodyPr anchor="b"/>
          <a:lstStyle>
            <a:lvl1pPr algn="l">
              <a:defRPr sz="8746"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3"/>
          </a:xfrm>
        </p:spPr>
        <p:txBody>
          <a:bodyPr/>
          <a:lstStyle>
            <a:lvl1pPr>
              <a:defRPr sz="13973"/>
            </a:lvl1pPr>
            <a:lvl2pPr>
              <a:defRPr sz="12266"/>
            </a:lvl2pPr>
            <a:lvl3pPr>
              <a:defRPr sz="10560"/>
            </a:lvl3pPr>
            <a:lvl4pPr>
              <a:defRPr sz="8746"/>
            </a:lvl4pPr>
            <a:lvl5pPr>
              <a:defRPr sz="8746"/>
            </a:lvl5pPr>
            <a:lvl6pPr>
              <a:defRPr sz="8746"/>
            </a:lvl6pPr>
            <a:lvl7pPr>
              <a:defRPr sz="8746"/>
            </a:lvl7pPr>
            <a:lvl8pPr>
              <a:defRPr sz="8746"/>
            </a:lvl8pPr>
            <a:lvl9pPr>
              <a:defRPr sz="874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7" y="6888483"/>
            <a:ext cx="14439903" cy="22517103"/>
          </a:xfrm>
        </p:spPr>
        <p:txBody>
          <a:bodyPr/>
          <a:lstStyle>
            <a:lvl1pPr marL="0" indent="0">
              <a:buNone/>
              <a:defRPr sz="6187"/>
            </a:lvl1pPr>
            <a:lvl2pPr marL="2006374" indent="0">
              <a:buNone/>
              <a:defRPr sz="5227"/>
            </a:lvl2pPr>
            <a:lvl3pPr marL="4012749" indent="0">
              <a:buNone/>
              <a:defRPr sz="4480"/>
            </a:lvl3pPr>
            <a:lvl4pPr marL="6019123" indent="0">
              <a:buNone/>
              <a:defRPr sz="3947"/>
            </a:lvl4pPr>
            <a:lvl5pPr marL="8025498" indent="0">
              <a:buNone/>
              <a:defRPr sz="3947"/>
            </a:lvl5pPr>
            <a:lvl6pPr marL="10031875" indent="0">
              <a:buNone/>
              <a:defRPr sz="3947"/>
            </a:lvl6pPr>
            <a:lvl7pPr marL="12038248" indent="0">
              <a:buNone/>
              <a:defRPr sz="3947"/>
            </a:lvl7pPr>
            <a:lvl8pPr marL="14044622" indent="0">
              <a:buNone/>
              <a:defRPr sz="3947"/>
            </a:lvl8pPr>
            <a:lvl9pPr marL="16050997" indent="0">
              <a:buNone/>
              <a:defRPr sz="3947"/>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3"/>
            <a:ext cx="26334720" cy="2720343"/>
          </a:xfrm>
        </p:spPr>
        <p:txBody>
          <a:bodyPr anchor="b"/>
          <a:lstStyle>
            <a:lvl1pPr algn="l">
              <a:defRPr sz="8746" b="1"/>
            </a:lvl1pPr>
          </a:lstStyle>
          <a:p>
            <a:r>
              <a:rPr lang="en-US" smtClean="0"/>
              <a:t>Click to edit Master title style</a:t>
            </a:r>
            <a:endParaRPr lang="en-US"/>
          </a:p>
        </p:txBody>
      </p:sp>
      <p:sp>
        <p:nvSpPr>
          <p:cNvPr id="3" name="Picture Placeholder 2"/>
          <p:cNvSpPr>
            <a:spLocks noGrp="1"/>
          </p:cNvSpPr>
          <p:nvPr>
            <p:ph type="pic" idx="1"/>
          </p:nvPr>
        </p:nvSpPr>
        <p:spPr>
          <a:xfrm>
            <a:off x="8602983" y="2941322"/>
            <a:ext cx="26334720" cy="19751040"/>
          </a:xfrm>
        </p:spPr>
        <p:txBody>
          <a:bodyPr/>
          <a:lstStyle>
            <a:lvl1pPr marL="0" indent="0">
              <a:buNone/>
              <a:defRPr sz="13973"/>
            </a:lvl1pPr>
            <a:lvl2pPr marL="2006374" indent="0">
              <a:buNone/>
              <a:defRPr sz="12266"/>
            </a:lvl2pPr>
            <a:lvl3pPr marL="4012749" indent="0">
              <a:buNone/>
              <a:defRPr sz="10560"/>
            </a:lvl3pPr>
            <a:lvl4pPr marL="6019123" indent="0">
              <a:buNone/>
              <a:defRPr sz="8746"/>
            </a:lvl4pPr>
            <a:lvl5pPr marL="8025498" indent="0">
              <a:buNone/>
              <a:defRPr sz="8746"/>
            </a:lvl5pPr>
            <a:lvl6pPr marL="10031875" indent="0">
              <a:buNone/>
              <a:defRPr sz="8746"/>
            </a:lvl6pPr>
            <a:lvl7pPr marL="12038248" indent="0">
              <a:buNone/>
              <a:defRPr sz="8746"/>
            </a:lvl7pPr>
            <a:lvl8pPr marL="14044622" indent="0">
              <a:buNone/>
              <a:defRPr sz="8746"/>
            </a:lvl8pPr>
            <a:lvl9pPr marL="16050997" indent="0">
              <a:buNone/>
              <a:defRPr sz="8746"/>
            </a:lvl9pPr>
          </a:lstStyle>
          <a:p>
            <a:endParaRPr lang="en-US"/>
          </a:p>
        </p:txBody>
      </p:sp>
      <p:sp>
        <p:nvSpPr>
          <p:cNvPr id="4" name="Text Placeholder 3"/>
          <p:cNvSpPr>
            <a:spLocks noGrp="1"/>
          </p:cNvSpPr>
          <p:nvPr>
            <p:ph type="body" sz="half" idx="2"/>
          </p:nvPr>
        </p:nvSpPr>
        <p:spPr>
          <a:xfrm>
            <a:off x="8602983" y="25763227"/>
            <a:ext cx="26334720" cy="3863339"/>
          </a:xfrm>
        </p:spPr>
        <p:txBody>
          <a:bodyPr/>
          <a:lstStyle>
            <a:lvl1pPr marL="0" indent="0">
              <a:buNone/>
              <a:defRPr sz="6187"/>
            </a:lvl1pPr>
            <a:lvl2pPr marL="2006374" indent="0">
              <a:buNone/>
              <a:defRPr sz="5227"/>
            </a:lvl2pPr>
            <a:lvl3pPr marL="4012749" indent="0">
              <a:buNone/>
              <a:defRPr sz="4480"/>
            </a:lvl3pPr>
            <a:lvl4pPr marL="6019123" indent="0">
              <a:buNone/>
              <a:defRPr sz="3947"/>
            </a:lvl4pPr>
            <a:lvl5pPr marL="8025498" indent="0">
              <a:buNone/>
              <a:defRPr sz="3947"/>
            </a:lvl5pPr>
            <a:lvl6pPr marL="10031875" indent="0">
              <a:buNone/>
              <a:defRPr sz="3947"/>
            </a:lvl6pPr>
            <a:lvl7pPr marL="12038248" indent="0">
              <a:buNone/>
              <a:defRPr sz="3947"/>
            </a:lvl7pPr>
            <a:lvl8pPr marL="14044622" indent="0">
              <a:buNone/>
              <a:defRPr sz="3947"/>
            </a:lvl8pPr>
            <a:lvl9pPr marL="16050997" indent="0">
              <a:buNone/>
              <a:defRPr sz="3947"/>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8"/>
            <a:ext cx="9875520" cy="2808732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8"/>
            <a:ext cx="28895040" cy="2808732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3"/>
            <a:ext cx="39502080" cy="5486400"/>
          </a:xfrm>
          <a:prstGeom prst="rect">
            <a:avLst/>
          </a:prstGeom>
        </p:spPr>
        <p:txBody>
          <a:bodyPr vert="horz" lIns="376204" tIns="188103" rIns="376204" bIns="188103"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6"/>
            <a:ext cx="39502080" cy="21724623"/>
          </a:xfrm>
          <a:prstGeom prst="rect">
            <a:avLst/>
          </a:prstGeom>
        </p:spPr>
        <p:txBody>
          <a:bodyPr vert="horz" lIns="376204" tIns="188103" rIns="376204" bIns="18810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8"/>
            <a:ext cx="10241280" cy="1752602"/>
          </a:xfrm>
          <a:prstGeom prst="rect">
            <a:avLst/>
          </a:prstGeom>
        </p:spPr>
        <p:txBody>
          <a:bodyPr vert="horz" lIns="376204" tIns="188103" rIns="376204" bIns="188103" rtlCol="0" anchor="ctr"/>
          <a:lstStyle>
            <a:lvl1pPr algn="l">
              <a:defRPr sz="5227">
                <a:solidFill>
                  <a:schemeClr val="tx1">
                    <a:tint val="75000"/>
                  </a:schemeClr>
                </a:solidFill>
              </a:defRPr>
            </a:lvl1pPr>
          </a:lstStyle>
          <a:p>
            <a:fld id="{1D8BD707-D9CF-40AE-B4C6-C98DA3205C09}" type="datetimeFigureOut">
              <a:rPr lang="en-US" smtClean="0"/>
              <a:pPr/>
              <a:t>7/9/2017</a:t>
            </a:fld>
            <a:endParaRPr lang="en-US"/>
          </a:p>
        </p:txBody>
      </p:sp>
      <p:sp>
        <p:nvSpPr>
          <p:cNvPr id="5" name="Footer Placeholder 4"/>
          <p:cNvSpPr>
            <a:spLocks noGrp="1"/>
          </p:cNvSpPr>
          <p:nvPr>
            <p:ph type="ftr" sz="quarter" idx="3"/>
          </p:nvPr>
        </p:nvSpPr>
        <p:spPr>
          <a:xfrm>
            <a:off x="14996160" y="30510488"/>
            <a:ext cx="13898880" cy="1752602"/>
          </a:xfrm>
          <a:prstGeom prst="rect">
            <a:avLst/>
          </a:prstGeom>
        </p:spPr>
        <p:txBody>
          <a:bodyPr vert="horz" lIns="376204" tIns="188103" rIns="376204" bIns="188103" rtlCol="0" anchor="ctr"/>
          <a:lstStyle>
            <a:lvl1pPr algn="ctr">
              <a:defRPr sz="522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8"/>
            <a:ext cx="10241280" cy="1752602"/>
          </a:xfrm>
          <a:prstGeom prst="rect">
            <a:avLst/>
          </a:prstGeom>
        </p:spPr>
        <p:txBody>
          <a:bodyPr vert="horz" lIns="376204" tIns="188103" rIns="376204" bIns="188103" rtlCol="0" anchor="ctr"/>
          <a:lstStyle>
            <a:lvl1pPr algn="r">
              <a:defRPr sz="5227">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012749" rtl="0" eaLnBrk="1" latinLnBrk="0" hangingPunct="1">
        <a:spcBef>
          <a:spcPct val="0"/>
        </a:spcBef>
        <a:buNone/>
        <a:defRPr sz="19306" kern="1200">
          <a:solidFill>
            <a:schemeClr val="tx1"/>
          </a:solidFill>
          <a:latin typeface="+mj-lt"/>
          <a:ea typeface="+mj-ea"/>
          <a:cs typeface="+mj-cs"/>
        </a:defRPr>
      </a:lvl1pPr>
    </p:titleStyle>
    <p:bodyStyle>
      <a:lvl1pPr marL="1504781" indent="-1504781" algn="l" defTabSz="4012749" rtl="0" eaLnBrk="1" latinLnBrk="0" hangingPunct="1">
        <a:spcBef>
          <a:spcPct val="20000"/>
        </a:spcBef>
        <a:buFont typeface="Arial" pitchFamily="34" charset="0"/>
        <a:buChar char="•"/>
        <a:defRPr sz="13973" kern="1200">
          <a:solidFill>
            <a:schemeClr val="tx1"/>
          </a:solidFill>
          <a:latin typeface="+mn-lt"/>
          <a:ea typeface="+mn-ea"/>
          <a:cs typeface="+mn-cs"/>
        </a:defRPr>
      </a:lvl1pPr>
      <a:lvl2pPr marL="3260358" indent="-1253983" algn="l" defTabSz="4012749" rtl="0" eaLnBrk="1" latinLnBrk="0" hangingPunct="1">
        <a:spcBef>
          <a:spcPct val="20000"/>
        </a:spcBef>
        <a:buFont typeface="Arial" pitchFamily="34" charset="0"/>
        <a:buChar char="–"/>
        <a:defRPr sz="12266" kern="1200">
          <a:solidFill>
            <a:schemeClr val="tx1"/>
          </a:solidFill>
          <a:latin typeface="+mn-lt"/>
          <a:ea typeface="+mn-ea"/>
          <a:cs typeface="+mn-cs"/>
        </a:defRPr>
      </a:lvl2pPr>
      <a:lvl3pPr marL="5015936" indent="-1003188" algn="l" defTabSz="4012749" rtl="0" eaLnBrk="1" latinLnBrk="0" hangingPunct="1">
        <a:spcBef>
          <a:spcPct val="20000"/>
        </a:spcBef>
        <a:buFont typeface="Arial" pitchFamily="34" charset="0"/>
        <a:buChar char="•"/>
        <a:defRPr sz="10560" kern="1200">
          <a:solidFill>
            <a:schemeClr val="tx1"/>
          </a:solidFill>
          <a:latin typeface="+mn-lt"/>
          <a:ea typeface="+mn-ea"/>
          <a:cs typeface="+mn-cs"/>
        </a:defRPr>
      </a:lvl3pPr>
      <a:lvl4pPr marL="7022311"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4pPr>
      <a:lvl5pPr marL="9028686"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5pPr>
      <a:lvl6pPr marL="11035060"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6pPr>
      <a:lvl7pPr marL="13041435"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7pPr>
      <a:lvl8pPr marL="15047809"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8pPr>
      <a:lvl9pPr marL="17054184" indent="-1003188" algn="l" defTabSz="4012749" rtl="0" eaLnBrk="1" latinLnBrk="0" hangingPunct="1">
        <a:spcBef>
          <a:spcPct val="20000"/>
        </a:spcBef>
        <a:buFont typeface="Arial" pitchFamily="34" charset="0"/>
        <a:buChar char="•"/>
        <a:defRPr sz="8746" kern="1200">
          <a:solidFill>
            <a:schemeClr val="tx1"/>
          </a:solidFill>
          <a:latin typeface="+mn-lt"/>
          <a:ea typeface="+mn-ea"/>
          <a:cs typeface="+mn-cs"/>
        </a:defRPr>
      </a:lvl9pPr>
    </p:bodyStyle>
    <p:otherStyle>
      <a:defPPr>
        <a:defRPr lang="en-US"/>
      </a:defPPr>
      <a:lvl1pPr marL="0" algn="l" defTabSz="4012749" rtl="0" eaLnBrk="1" latinLnBrk="0" hangingPunct="1">
        <a:defRPr sz="7786" kern="1200">
          <a:solidFill>
            <a:schemeClr val="tx1"/>
          </a:solidFill>
          <a:latin typeface="+mn-lt"/>
          <a:ea typeface="+mn-ea"/>
          <a:cs typeface="+mn-cs"/>
        </a:defRPr>
      </a:lvl1pPr>
      <a:lvl2pPr marL="2006374" algn="l" defTabSz="4012749" rtl="0" eaLnBrk="1" latinLnBrk="0" hangingPunct="1">
        <a:defRPr sz="7786" kern="1200">
          <a:solidFill>
            <a:schemeClr val="tx1"/>
          </a:solidFill>
          <a:latin typeface="+mn-lt"/>
          <a:ea typeface="+mn-ea"/>
          <a:cs typeface="+mn-cs"/>
        </a:defRPr>
      </a:lvl2pPr>
      <a:lvl3pPr marL="4012749" algn="l" defTabSz="4012749" rtl="0" eaLnBrk="1" latinLnBrk="0" hangingPunct="1">
        <a:defRPr sz="7786" kern="1200">
          <a:solidFill>
            <a:schemeClr val="tx1"/>
          </a:solidFill>
          <a:latin typeface="+mn-lt"/>
          <a:ea typeface="+mn-ea"/>
          <a:cs typeface="+mn-cs"/>
        </a:defRPr>
      </a:lvl3pPr>
      <a:lvl4pPr marL="6019123" algn="l" defTabSz="4012749" rtl="0" eaLnBrk="1" latinLnBrk="0" hangingPunct="1">
        <a:defRPr sz="7786" kern="1200">
          <a:solidFill>
            <a:schemeClr val="tx1"/>
          </a:solidFill>
          <a:latin typeface="+mn-lt"/>
          <a:ea typeface="+mn-ea"/>
          <a:cs typeface="+mn-cs"/>
        </a:defRPr>
      </a:lvl4pPr>
      <a:lvl5pPr marL="8025498" algn="l" defTabSz="4012749" rtl="0" eaLnBrk="1" latinLnBrk="0" hangingPunct="1">
        <a:defRPr sz="7786" kern="1200">
          <a:solidFill>
            <a:schemeClr val="tx1"/>
          </a:solidFill>
          <a:latin typeface="+mn-lt"/>
          <a:ea typeface="+mn-ea"/>
          <a:cs typeface="+mn-cs"/>
        </a:defRPr>
      </a:lvl5pPr>
      <a:lvl6pPr marL="10031875" algn="l" defTabSz="4012749" rtl="0" eaLnBrk="1" latinLnBrk="0" hangingPunct="1">
        <a:defRPr sz="7786" kern="1200">
          <a:solidFill>
            <a:schemeClr val="tx1"/>
          </a:solidFill>
          <a:latin typeface="+mn-lt"/>
          <a:ea typeface="+mn-ea"/>
          <a:cs typeface="+mn-cs"/>
        </a:defRPr>
      </a:lvl6pPr>
      <a:lvl7pPr marL="12038248" algn="l" defTabSz="4012749" rtl="0" eaLnBrk="1" latinLnBrk="0" hangingPunct="1">
        <a:defRPr sz="7786" kern="1200">
          <a:solidFill>
            <a:schemeClr val="tx1"/>
          </a:solidFill>
          <a:latin typeface="+mn-lt"/>
          <a:ea typeface="+mn-ea"/>
          <a:cs typeface="+mn-cs"/>
        </a:defRPr>
      </a:lvl7pPr>
      <a:lvl8pPr marL="14044622" algn="l" defTabSz="4012749" rtl="0" eaLnBrk="1" latinLnBrk="0" hangingPunct="1">
        <a:defRPr sz="7786" kern="1200">
          <a:solidFill>
            <a:schemeClr val="tx1"/>
          </a:solidFill>
          <a:latin typeface="+mn-lt"/>
          <a:ea typeface="+mn-ea"/>
          <a:cs typeface="+mn-cs"/>
        </a:defRPr>
      </a:lvl8pPr>
      <a:lvl9pPr marL="16050997" algn="l" defTabSz="4012749" rtl="0" eaLnBrk="1" latinLnBrk="0" hangingPunct="1">
        <a:defRPr sz="778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gif"/><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DDEBCF"/>
            </a:gs>
            <a:gs pos="50000">
              <a:srgbClr val="9CB86E"/>
            </a:gs>
            <a:gs pos="100000">
              <a:srgbClr val="156B13"/>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ext Box 146"/>
          <p:cNvSpPr txBox="1">
            <a:spLocks noChangeArrowheads="1"/>
          </p:cNvSpPr>
          <p:nvPr/>
        </p:nvSpPr>
        <p:spPr bwMode="auto">
          <a:xfrm>
            <a:off x="221203" y="214162"/>
            <a:ext cx="43159784" cy="5135464"/>
          </a:xfrm>
          <a:prstGeom prst="rect">
            <a:avLst/>
          </a:prstGeom>
          <a:gradFill rotWithShape="1">
            <a:gsLst>
              <a:gs pos="0">
                <a:srgbClr val="008000"/>
              </a:gs>
              <a:gs pos="100000">
                <a:srgbClr val="003B00"/>
              </a:gs>
            </a:gsLst>
            <a:lin ang="0" scaled="1"/>
          </a:gradFill>
          <a:ln w="9525">
            <a:solidFill>
              <a:schemeClr val="bg1"/>
            </a:solidFill>
            <a:miter lim="800000"/>
            <a:headEnd/>
            <a:tailEnd/>
          </a:ln>
        </p:spPr>
        <p:txBody>
          <a:bodyPr wrap="square" lIns="64157" tIns="32077" rIns="64157" bIns="32077">
            <a:spAutoFit/>
          </a:bodyPr>
          <a:lstStyle/>
          <a:p>
            <a:pPr algn="ctr">
              <a:spcBef>
                <a:spcPts val="1200"/>
              </a:spcBef>
              <a:spcAft>
                <a:spcPts val="1200"/>
              </a:spcAft>
            </a:pPr>
            <a:endParaRPr lang="en-US" sz="200" dirty="0" smtClean="0">
              <a:solidFill>
                <a:schemeClr val="bg1"/>
              </a:solidFill>
            </a:endParaRPr>
          </a:p>
          <a:p>
            <a:pPr algn="ctr">
              <a:spcAft>
                <a:spcPts val="1200"/>
              </a:spcAft>
            </a:pPr>
            <a:r>
              <a:rPr lang="en-US" sz="8000" dirty="0">
                <a:solidFill>
                  <a:schemeClr val="bg1"/>
                </a:solidFill>
              </a:rPr>
              <a:t>Genetic Findings Using ADNI Multimodal Quantitative Phenotypes: A 2016 </a:t>
            </a:r>
            <a:r>
              <a:rPr lang="en-US" sz="8000" dirty="0" smtClean="0">
                <a:solidFill>
                  <a:schemeClr val="bg1"/>
                </a:solidFill>
              </a:rPr>
              <a:t>Update</a:t>
            </a:r>
            <a:endParaRPr lang="en-US" sz="9600" dirty="0" smtClean="0">
              <a:solidFill>
                <a:schemeClr val="bg1"/>
              </a:solidFill>
            </a:endParaRPr>
          </a:p>
          <a:p>
            <a:pPr algn="ctr">
              <a:spcAft>
                <a:spcPts val="1200"/>
              </a:spcAft>
            </a:pPr>
            <a:r>
              <a:rPr lang="en-US" sz="4400" dirty="0" err="1" smtClean="0">
                <a:solidFill>
                  <a:schemeClr val="bg1"/>
                </a:solidFill>
              </a:rPr>
              <a:t>Xiaohui</a:t>
            </a:r>
            <a:r>
              <a:rPr lang="en-US" sz="4400" dirty="0" smtClean="0">
                <a:solidFill>
                  <a:schemeClr val="bg1"/>
                </a:solidFill>
              </a:rPr>
              <a:t> Yao</a:t>
            </a:r>
            <a:r>
              <a:rPr lang="en-US" sz="4400" baseline="30000" dirty="0" smtClean="0">
                <a:solidFill>
                  <a:schemeClr val="bg1"/>
                </a:solidFill>
              </a:rPr>
              <a:t>1,2,*</a:t>
            </a:r>
            <a:r>
              <a:rPr lang="en-US" sz="4400" dirty="0" smtClean="0">
                <a:solidFill>
                  <a:schemeClr val="bg1"/>
                </a:solidFill>
              </a:rPr>
              <a:t>, </a:t>
            </a:r>
            <a:r>
              <a:rPr lang="en-US" sz="4400" dirty="0" err="1" smtClean="0">
                <a:solidFill>
                  <a:schemeClr val="bg1"/>
                </a:solidFill>
              </a:rPr>
              <a:t>Jingwen</a:t>
            </a:r>
            <a:r>
              <a:rPr lang="en-US" sz="4400" dirty="0" smtClean="0">
                <a:solidFill>
                  <a:schemeClr val="bg1"/>
                </a:solidFill>
              </a:rPr>
              <a:t> Yan</a:t>
            </a:r>
            <a:r>
              <a:rPr lang="en-US" sz="4400" baseline="30000" dirty="0" smtClean="0">
                <a:solidFill>
                  <a:schemeClr val="bg1"/>
                </a:solidFill>
              </a:rPr>
              <a:t>1,2</a:t>
            </a:r>
            <a:r>
              <a:rPr lang="en-US" sz="4400" dirty="0" smtClean="0">
                <a:solidFill>
                  <a:schemeClr val="bg1"/>
                </a:solidFill>
              </a:rPr>
              <a:t>, </a:t>
            </a:r>
            <a:r>
              <a:rPr lang="en-US" sz="4400" dirty="0" err="1">
                <a:solidFill>
                  <a:schemeClr val="bg1"/>
                </a:solidFill>
              </a:rPr>
              <a:t>Kwangsik</a:t>
            </a:r>
            <a:r>
              <a:rPr lang="en-US" sz="4400" dirty="0">
                <a:solidFill>
                  <a:schemeClr val="bg1"/>
                </a:solidFill>
              </a:rPr>
              <a:t> Nho</a:t>
            </a:r>
            <a:r>
              <a:rPr lang="en-US" sz="4400" baseline="30000" dirty="0">
                <a:solidFill>
                  <a:schemeClr val="bg1"/>
                </a:solidFill>
              </a:rPr>
              <a:t>1</a:t>
            </a:r>
            <a:r>
              <a:rPr lang="en-US" sz="4400" dirty="0">
                <a:solidFill>
                  <a:schemeClr val="bg1"/>
                </a:solidFill>
              </a:rPr>
              <a:t>, Shannon L. Risacher</a:t>
            </a:r>
            <a:r>
              <a:rPr lang="en-US" sz="4400" baseline="30000" dirty="0">
                <a:solidFill>
                  <a:schemeClr val="bg1"/>
                </a:solidFill>
              </a:rPr>
              <a:t>1</a:t>
            </a:r>
            <a:r>
              <a:rPr lang="en-US" sz="4400" dirty="0">
                <a:solidFill>
                  <a:schemeClr val="bg1"/>
                </a:solidFill>
              </a:rPr>
              <a:t>, </a:t>
            </a:r>
            <a:r>
              <a:rPr lang="en-US" sz="4400" dirty="0" smtClean="0">
                <a:solidFill>
                  <a:schemeClr val="bg1"/>
                </a:solidFill>
              </a:rPr>
              <a:t>Katy Börner</a:t>
            </a:r>
            <a:r>
              <a:rPr lang="en-US" sz="4400" baseline="30000" dirty="0" smtClean="0">
                <a:solidFill>
                  <a:schemeClr val="bg1"/>
                </a:solidFill>
              </a:rPr>
              <a:t>3</a:t>
            </a:r>
            <a:r>
              <a:rPr lang="en-US" sz="4400" dirty="0" smtClean="0">
                <a:solidFill>
                  <a:schemeClr val="bg1"/>
                </a:solidFill>
              </a:rPr>
              <a:t>, Andrew </a:t>
            </a:r>
            <a:r>
              <a:rPr lang="en-US" sz="4400" dirty="0">
                <a:solidFill>
                  <a:schemeClr val="bg1"/>
                </a:solidFill>
              </a:rPr>
              <a:t>J. Saykin</a:t>
            </a:r>
            <a:r>
              <a:rPr lang="en-US" sz="4400" baseline="30000" dirty="0">
                <a:solidFill>
                  <a:schemeClr val="bg1"/>
                </a:solidFill>
              </a:rPr>
              <a:t>1,*</a:t>
            </a:r>
            <a:r>
              <a:rPr lang="en-US" sz="4400" dirty="0">
                <a:solidFill>
                  <a:schemeClr val="bg1"/>
                </a:solidFill>
              </a:rPr>
              <a:t>, </a:t>
            </a:r>
            <a:endParaRPr lang="en-US" sz="4400" dirty="0" smtClean="0">
              <a:solidFill>
                <a:schemeClr val="bg1"/>
              </a:solidFill>
            </a:endParaRPr>
          </a:p>
          <a:p>
            <a:pPr algn="ctr">
              <a:spcAft>
                <a:spcPts val="1200"/>
              </a:spcAft>
            </a:pPr>
            <a:r>
              <a:rPr lang="en-US" sz="4400" dirty="0" smtClean="0">
                <a:solidFill>
                  <a:schemeClr val="bg1"/>
                </a:solidFill>
              </a:rPr>
              <a:t>Li </a:t>
            </a:r>
            <a:r>
              <a:rPr lang="en-US" sz="4400" dirty="0">
                <a:solidFill>
                  <a:schemeClr val="bg1"/>
                </a:solidFill>
              </a:rPr>
              <a:t>Shen</a:t>
            </a:r>
            <a:r>
              <a:rPr lang="en-US" sz="4400" baseline="30000" dirty="0">
                <a:solidFill>
                  <a:schemeClr val="bg1"/>
                </a:solidFill>
              </a:rPr>
              <a:t>1,*</a:t>
            </a:r>
            <a:r>
              <a:rPr lang="en-US" sz="4400" dirty="0">
                <a:solidFill>
                  <a:schemeClr val="bg1"/>
                </a:solidFill>
              </a:rPr>
              <a:t>, for the Alzheimer’s Disease Neuroimaging Initiative </a:t>
            </a:r>
            <a:endParaRPr lang="en-US" sz="4400" dirty="0" smtClean="0">
              <a:solidFill>
                <a:schemeClr val="bg1"/>
              </a:solidFill>
            </a:endParaRPr>
          </a:p>
          <a:p>
            <a:pPr algn="ctr">
              <a:spcBef>
                <a:spcPts val="1280"/>
              </a:spcBef>
            </a:pPr>
            <a:endParaRPr lang="en-US" sz="200" dirty="0">
              <a:solidFill>
                <a:schemeClr val="bg1"/>
              </a:solidFill>
            </a:endParaRPr>
          </a:p>
          <a:p>
            <a:pPr algn="ctr"/>
            <a:r>
              <a:rPr lang="en-US" sz="3200" baseline="30000" dirty="0">
                <a:solidFill>
                  <a:schemeClr val="bg1"/>
                </a:solidFill>
              </a:rPr>
              <a:t>1</a:t>
            </a:r>
            <a:r>
              <a:rPr lang="en-US" sz="3200" dirty="0">
                <a:solidFill>
                  <a:schemeClr val="bg1"/>
                </a:solidFill>
              </a:rPr>
              <a:t>IU School of Medicine; </a:t>
            </a:r>
            <a:r>
              <a:rPr lang="en-US" sz="3200" baseline="30000" dirty="0">
                <a:solidFill>
                  <a:schemeClr val="bg1"/>
                </a:solidFill>
              </a:rPr>
              <a:t>2</a:t>
            </a:r>
            <a:r>
              <a:rPr lang="en-US" sz="3200" dirty="0">
                <a:solidFill>
                  <a:schemeClr val="bg1"/>
                </a:solidFill>
              </a:rPr>
              <a:t>IU School of Informatics and Computing, Indianapolis, IN, USA; </a:t>
            </a:r>
            <a:endParaRPr lang="en-US" sz="3200" dirty="0" smtClean="0">
              <a:solidFill>
                <a:schemeClr val="bg1"/>
              </a:solidFill>
            </a:endParaRPr>
          </a:p>
          <a:p>
            <a:pPr algn="ctr"/>
            <a:r>
              <a:rPr lang="en-US" sz="3200" baseline="30000" dirty="0" smtClean="0">
                <a:solidFill>
                  <a:schemeClr val="bg1"/>
                </a:solidFill>
              </a:rPr>
              <a:t>3</a:t>
            </a:r>
            <a:r>
              <a:rPr lang="en-US" sz="3200" dirty="0" smtClean="0">
                <a:solidFill>
                  <a:schemeClr val="bg1"/>
                </a:solidFill>
              </a:rPr>
              <a:t>IU </a:t>
            </a:r>
            <a:r>
              <a:rPr lang="en-US" sz="3200" dirty="0">
                <a:solidFill>
                  <a:schemeClr val="bg1"/>
                </a:solidFill>
              </a:rPr>
              <a:t>School of Informatics and Computing, Bloomington, IN, USA; </a:t>
            </a:r>
          </a:p>
          <a:p>
            <a:pPr algn="ctr"/>
            <a:r>
              <a:rPr lang="en-US" sz="3200" dirty="0" smtClean="0">
                <a:solidFill>
                  <a:schemeClr val="bg1"/>
                </a:solidFill>
              </a:rPr>
              <a:t>*</a:t>
            </a:r>
            <a:r>
              <a:rPr lang="en-US" sz="3200" dirty="0">
                <a:solidFill>
                  <a:schemeClr val="bg1"/>
                </a:solidFill>
              </a:rPr>
              <a:t>Correspondence to yao2@umail.iu.edu, asaykin@iupui.edu</a:t>
            </a:r>
            <a:r>
              <a:rPr lang="en-US" sz="3200" dirty="0" smtClean="0">
                <a:solidFill>
                  <a:schemeClr val="bg1"/>
                </a:solidFill>
              </a:rPr>
              <a:t>, shenli@iu.edu</a:t>
            </a:r>
            <a:endParaRPr lang="en-US" sz="3200" dirty="0">
              <a:solidFill>
                <a:schemeClr val="bg1"/>
              </a:solidFill>
            </a:endParaRPr>
          </a:p>
          <a:p>
            <a:pPr algn="ctr"/>
            <a:endParaRPr lang="en-US" sz="1067" dirty="0">
              <a:solidFill>
                <a:schemeClr val="bg1"/>
              </a:solidFill>
            </a:endParaRPr>
          </a:p>
        </p:txBody>
      </p:sp>
      <p:sp>
        <p:nvSpPr>
          <p:cNvPr id="17" name="Text Box 259"/>
          <p:cNvSpPr txBox="1">
            <a:spLocks noChangeArrowheads="1"/>
          </p:cNvSpPr>
          <p:nvPr/>
        </p:nvSpPr>
        <p:spPr bwMode="auto">
          <a:xfrm>
            <a:off x="328396" y="5490289"/>
            <a:ext cx="14719056" cy="868272"/>
          </a:xfrm>
          <a:prstGeom prst="rect">
            <a:avLst/>
          </a:prstGeom>
          <a:gradFill rotWithShape="0">
            <a:gsLst>
              <a:gs pos="0">
                <a:srgbClr val="000066"/>
              </a:gs>
              <a:gs pos="100000">
                <a:srgbClr val="003300"/>
              </a:gs>
            </a:gsLst>
            <a:lin ang="0" scaled="1"/>
          </a:gradFill>
          <a:ln w="9525">
            <a:solidFill>
              <a:schemeClr val="tx1"/>
            </a:solidFill>
            <a:miter lim="800000"/>
            <a:headEnd/>
            <a:tailEnd/>
          </a:ln>
          <a:effectLst/>
        </p:spPr>
        <p:txBody>
          <a:bodyPr wrap="square" lIns="95907" tIns="47953" rIns="95907" bIns="47953">
            <a:spAutoFit/>
          </a:bodyPr>
          <a:lstStyle/>
          <a:p>
            <a:pPr>
              <a:buFontTx/>
              <a:buNone/>
              <a:defRPr/>
            </a:pPr>
            <a:r>
              <a:rPr lang="en-US" sz="5013" b="1" dirty="0">
                <a:solidFill>
                  <a:schemeClr val="bg1"/>
                </a:solidFill>
                <a:effectLst>
                  <a:outerShdw blurRad="38100" dist="38100" dir="2700000" algn="tl">
                    <a:srgbClr val="000000"/>
                  </a:outerShdw>
                </a:effectLst>
                <a:latin typeface="Tahoma" pitchFamily="34" charset="0"/>
              </a:rPr>
              <a:t>1. </a:t>
            </a:r>
            <a:r>
              <a:rPr lang="en-US" sz="5013" b="1" cap="small" dirty="0">
                <a:solidFill>
                  <a:schemeClr val="bg1"/>
                </a:solidFill>
                <a:effectLst>
                  <a:outerShdw blurRad="38100" dist="38100" dir="2700000" algn="tl">
                    <a:srgbClr val="000000"/>
                  </a:outerShdw>
                </a:effectLst>
                <a:latin typeface="Tahoma" pitchFamily="34" charset="0"/>
              </a:rPr>
              <a:t>Background</a:t>
            </a:r>
            <a:endParaRPr lang="en-US" sz="3947" b="1" cap="small" dirty="0">
              <a:solidFill>
                <a:schemeClr val="bg1"/>
              </a:solidFill>
              <a:effectLst>
                <a:outerShdw blurRad="38100" dist="38100" dir="2700000" algn="tl">
                  <a:srgbClr val="000000"/>
                </a:outerShdw>
              </a:effectLst>
              <a:latin typeface="Tahoma" pitchFamily="34" charset="0"/>
            </a:endParaRPr>
          </a:p>
        </p:txBody>
      </p:sp>
      <p:sp>
        <p:nvSpPr>
          <p:cNvPr id="18" name="Text Box 147"/>
          <p:cNvSpPr txBox="1">
            <a:spLocks noChangeArrowheads="1"/>
          </p:cNvSpPr>
          <p:nvPr/>
        </p:nvSpPr>
        <p:spPr bwMode="auto">
          <a:xfrm>
            <a:off x="328396" y="6581724"/>
            <a:ext cx="14723493" cy="5633541"/>
          </a:xfrm>
          <a:prstGeom prst="rect">
            <a:avLst/>
          </a:prstGeom>
          <a:solidFill>
            <a:schemeClr val="bg1"/>
          </a:solidFill>
          <a:ln w="57150" cmpd="thinThick">
            <a:solidFill>
              <a:schemeClr val="tx1"/>
            </a:solidFill>
            <a:miter lim="800000"/>
            <a:headEnd/>
            <a:tailEnd/>
          </a:ln>
        </p:spPr>
        <p:txBody>
          <a:bodyPr wrap="square" lIns="243840" tIns="107289" rIns="243840" bIns="107289">
            <a:spAutoFit/>
          </a:bodyPr>
          <a:lstStyle/>
          <a:p>
            <a:pPr algn="just"/>
            <a:r>
              <a:rPr lang="en-US" sz="4400" dirty="0" smtClean="0"/>
              <a:t>The Genetics Core of the Alzheimer’s Disease Neuroimaging Initiative (ADNI) aims to provide genetic resources and facilitate research opportunities in qualitative and quantitative genetics using ADNI multidimensional phenotypes. Genotyping and sequencing data have been generated for ADNI-1/GO/2 participants and are available to the scientific community. Here we review the ADNI genetic publications as of 12/31/2016.</a:t>
            </a:r>
            <a:endParaRPr lang="en-US" sz="4400" dirty="0"/>
          </a:p>
        </p:txBody>
      </p:sp>
      <p:sp>
        <p:nvSpPr>
          <p:cNvPr id="19" name="Text Box 259"/>
          <p:cNvSpPr txBox="1">
            <a:spLocks noChangeArrowheads="1"/>
          </p:cNvSpPr>
          <p:nvPr/>
        </p:nvSpPr>
        <p:spPr bwMode="auto">
          <a:xfrm>
            <a:off x="328396" y="12390528"/>
            <a:ext cx="14721840" cy="868272"/>
          </a:xfrm>
          <a:prstGeom prst="rect">
            <a:avLst/>
          </a:prstGeom>
          <a:gradFill rotWithShape="0">
            <a:gsLst>
              <a:gs pos="0">
                <a:srgbClr val="000066"/>
              </a:gs>
              <a:gs pos="100000">
                <a:srgbClr val="003300"/>
              </a:gs>
            </a:gsLst>
            <a:lin ang="0" scaled="1"/>
          </a:gradFill>
          <a:ln w="9525">
            <a:solidFill>
              <a:schemeClr val="tx1"/>
            </a:solidFill>
            <a:miter lim="800000"/>
            <a:headEnd/>
            <a:tailEnd/>
          </a:ln>
          <a:effectLst/>
        </p:spPr>
        <p:txBody>
          <a:bodyPr wrap="square" lIns="95907" tIns="47953" rIns="95907" bIns="47953">
            <a:spAutoFit/>
          </a:bodyPr>
          <a:lstStyle/>
          <a:p>
            <a:pPr>
              <a:buFontTx/>
              <a:buNone/>
              <a:defRPr/>
            </a:pPr>
            <a:r>
              <a:rPr lang="en-US" sz="5013" b="1" dirty="0">
                <a:solidFill>
                  <a:schemeClr val="bg1"/>
                </a:solidFill>
                <a:effectLst>
                  <a:outerShdw blurRad="38100" dist="38100" dir="2700000" algn="tl">
                    <a:srgbClr val="000000"/>
                  </a:outerShdw>
                </a:effectLst>
                <a:latin typeface="Tahoma" pitchFamily="34" charset="0"/>
              </a:rPr>
              <a:t>2. </a:t>
            </a:r>
            <a:r>
              <a:rPr lang="en-US" sz="5013" b="1" cap="small" dirty="0">
                <a:solidFill>
                  <a:schemeClr val="bg1"/>
                </a:solidFill>
                <a:effectLst>
                  <a:outerShdw blurRad="38100" dist="38100" dir="2700000" algn="tl">
                    <a:srgbClr val="000000"/>
                  </a:outerShdw>
                </a:effectLst>
                <a:latin typeface="Tahoma" pitchFamily="34" charset="0"/>
              </a:rPr>
              <a:t>Materials &amp; Methods</a:t>
            </a:r>
            <a:endParaRPr lang="en-US" sz="3947" b="1" dirty="0">
              <a:solidFill>
                <a:schemeClr val="bg1"/>
              </a:solidFill>
              <a:effectLst>
                <a:outerShdw blurRad="38100" dist="38100" dir="2700000" algn="tl">
                  <a:srgbClr val="000000"/>
                </a:outerShdw>
              </a:effectLst>
              <a:latin typeface="Tahoma" pitchFamily="34" charset="0"/>
            </a:endParaRPr>
          </a:p>
        </p:txBody>
      </p:sp>
      <p:sp>
        <p:nvSpPr>
          <p:cNvPr id="24" name="Text Box 147"/>
          <p:cNvSpPr txBox="1">
            <a:spLocks noChangeArrowheads="1"/>
          </p:cNvSpPr>
          <p:nvPr/>
        </p:nvSpPr>
        <p:spPr bwMode="auto">
          <a:xfrm>
            <a:off x="328396" y="13442534"/>
            <a:ext cx="14710984" cy="7664866"/>
          </a:xfrm>
          <a:prstGeom prst="rect">
            <a:avLst/>
          </a:prstGeom>
          <a:solidFill>
            <a:schemeClr val="bg1"/>
          </a:solidFill>
          <a:ln w="57150" cmpd="thinThick">
            <a:solidFill>
              <a:schemeClr val="tx1"/>
            </a:solidFill>
            <a:miter lim="800000"/>
            <a:headEnd/>
            <a:tailEnd/>
          </a:ln>
        </p:spPr>
        <p:txBody>
          <a:bodyPr wrap="square" lIns="243840" tIns="107289" rIns="243840" bIns="107289">
            <a:spAutoFit/>
          </a:bodyPr>
          <a:lstStyle/>
          <a:p>
            <a:pPr algn="just"/>
            <a:r>
              <a:rPr lang="en-US" sz="4400" dirty="0"/>
              <a:t>A PubMed search was performed to identify papers published between 2008 and 2016, where </a:t>
            </a:r>
            <a:r>
              <a:rPr lang="en-US" sz="4400" dirty="0" smtClean="0"/>
              <a:t>ADNI </a:t>
            </a:r>
            <a:r>
              <a:rPr lang="en-US" sz="4400" dirty="0"/>
              <a:t>APOE, genome wide association study (GWAS), or sequencing data were used. These studies were reviewed, grouped by assessed </a:t>
            </a:r>
            <a:r>
              <a:rPr lang="en-US" sz="4400" dirty="0" smtClean="0"/>
              <a:t>phenotypes, </a:t>
            </a:r>
            <a:r>
              <a:rPr lang="en-US" sz="4400" dirty="0"/>
              <a:t>and major findings were assembled. Genomic pathway enrichment analyses were performed on genetic findings to get a high-level understanding of relevant biological pathways and processes. Information visualization was employed to track the evolution of where </a:t>
            </a:r>
            <a:r>
              <a:rPr lang="en-US" sz="4400" dirty="0" smtClean="0"/>
              <a:t>these papers </a:t>
            </a:r>
            <a:r>
              <a:rPr lang="en-US" sz="4400" dirty="0"/>
              <a:t>were published and which genes were reported in 2015-2016 compared with 2008-2014.</a:t>
            </a:r>
          </a:p>
        </p:txBody>
      </p:sp>
      <p:sp>
        <p:nvSpPr>
          <p:cNvPr id="25" name="Text Box 259"/>
          <p:cNvSpPr txBox="1">
            <a:spLocks noChangeArrowheads="1"/>
          </p:cNvSpPr>
          <p:nvPr/>
        </p:nvSpPr>
        <p:spPr bwMode="auto">
          <a:xfrm>
            <a:off x="328396" y="21205417"/>
            <a:ext cx="14721840" cy="868272"/>
          </a:xfrm>
          <a:prstGeom prst="rect">
            <a:avLst/>
          </a:prstGeom>
          <a:gradFill rotWithShape="0">
            <a:gsLst>
              <a:gs pos="0">
                <a:srgbClr val="000066"/>
              </a:gs>
              <a:gs pos="100000">
                <a:srgbClr val="003300"/>
              </a:gs>
            </a:gsLst>
            <a:lin ang="0" scaled="1"/>
          </a:gradFill>
          <a:ln w="9525">
            <a:solidFill>
              <a:schemeClr val="tx1"/>
            </a:solidFill>
            <a:miter lim="800000"/>
            <a:headEnd/>
            <a:tailEnd/>
          </a:ln>
          <a:effectLst/>
        </p:spPr>
        <p:txBody>
          <a:bodyPr wrap="square" lIns="95907" tIns="47953" rIns="95907" bIns="47953">
            <a:spAutoFit/>
          </a:bodyPr>
          <a:lstStyle/>
          <a:p>
            <a:pPr>
              <a:buFontTx/>
              <a:buNone/>
              <a:defRPr/>
            </a:pPr>
            <a:r>
              <a:rPr lang="en-US" sz="5013" b="1" dirty="0">
                <a:solidFill>
                  <a:schemeClr val="bg1"/>
                </a:solidFill>
                <a:effectLst>
                  <a:outerShdw blurRad="38100" dist="38100" dir="2700000" algn="tl">
                    <a:srgbClr val="000000"/>
                  </a:outerShdw>
                </a:effectLst>
                <a:latin typeface="Tahoma" pitchFamily="34" charset="0"/>
              </a:rPr>
              <a:t>4. </a:t>
            </a:r>
            <a:r>
              <a:rPr lang="en-US" sz="5013" b="1" cap="small" dirty="0">
                <a:solidFill>
                  <a:schemeClr val="bg1"/>
                </a:solidFill>
                <a:effectLst>
                  <a:outerShdw blurRad="38100" dist="38100" dir="2700000" algn="tl">
                    <a:srgbClr val="000000"/>
                  </a:outerShdw>
                </a:effectLst>
                <a:latin typeface="Tahoma" pitchFamily="34" charset="0"/>
              </a:rPr>
              <a:t>Conclusions</a:t>
            </a:r>
            <a:endParaRPr lang="en-US" sz="3947" b="1" cap="small" dirty="0">
              <a:solidFill>
                <a:schemeClr val="bg1"/>
              </a:solidFill>
              <a:effectLst>
                <a:outerShdw blurRad="38100" dist="38100" dir="2700000" algn="tl">
                  <a:srgbClr val="000000"/>
                </a:outerShdw>
              </a:effectLst>
              <a:latin typeface="Tahoma" pitchFamily="34" charset="0"/>
            </a:endParaRPr>
          </a:p>
        </p:txBody>
      </p:sp>
      <p:sp>
        <p:nvSpPr>
          <p:cNvPr id="26" name="Text Box 147"/>
          <p:cNvSpPr txBox="1">
            <a:spLocks noChangeArrowheads="1"/>
          </p:cNvSpPr>
          <p:nvPr/>
        </p:nvSpPr>
        <p:spPr bwMode="auto">
          <a:xfrm>
            <a:off x="328396" y="22163295"/>
            <a:ext cx="14721840" cy="4956433"/>
          </a:xfrm>
          <a:prstGeom prst="rect">
            <a:avLst/>
          </a:prstGeom>
          <a:solidFill>
            <a:schemeClr val="bg1"/>
          </a:solidFill>
          <a:ln w="57150" cmpd="thinThick">
            <a:solidFill>
              <a:schemeClr val="tx1"/>
            </a:solidFill>
            <a:miter lim="800000"/>
            <a:headEnd/>
            <a:tailEnd/>
          </a:ln>
        </p:spPr>
        <p:txBody>
          <a:bodyPr wrap="square" lIns="243840" tIns="107289" rIns="243840" bIns="107289">
            <a:spAutoFit/>
          </a:bodyPr>
          <a:lstStyle/>
          <a:p>
            <a:pPr algn="just"/>
            <a:r>
              <a:rPr lang="en-US" sz="4400" dirty="0"/>
              <a:t>Genetic studies of multidimensional ADNI phenotypes continue to confirm known AD genetic risk factors and discover novel susceptibility loci. With the recent release of ADNI whole genome sequencing data, gene expression data and metabolomics profiling data, we expect to see future studies exploring the power of next generation sequencing and multi-omics integration.</a:t>
            </a:r>
          </a:p>
        </p:txBody>
      </p:sp>
      <p:sp>
        <p:nvSpPr>
          <p:cNvPr id="27" name="Text Box 147"/>
          <p:cNvSpPr txBox="1">
            <a:spLocks noChangeArrowheads="1"/>
          </p:cNvSpPr>
          <p:nvPr/>
        </p:nvSpPr>
        <p:spPr bwMode="auto">
          <a:xfrm>
            <a:off x="328396" y="27285335"/>
            <a:ext cx="14721840" cy="2432665"/>
          </a:xfrm>
          <a:prstGeom prst="rect">
            <a:avLst/>
          </a:prstGeom>
          <a:solidFill>
            <a:schemeClr val="bg1"/>
          </a:solidFill>
          <a:ln w="57150" cmpd="thinThick">
            <a:solidFill>
              <a:schemeClr val="tx1"/>
            </a:solidFill>
            <a:miter lim="800000"/>
            <a:headEnd/>
            <a:tailEnd/>
          </a:ln>
        </p:spPr>
        <p:txBody>
          <a:bodyPr wrap="square" lIns="243840" tIns="107289" rIns="243840" bIns="107289">
            <a:spAutoFit/>
          </a:bodyPr>
          <a:lstStyle/>
          <a:p>
            <a:r>
              <a:rPr lang="en-US" sz="3600" b="1" u="sng" dirty="0"/>
              <a:t>References: </a:t>
            </a:r>
          </a:p>
          <a:p>
            <a:r>
              <a:rPr lang="en-US" sz="3600" dirty="0"/>
              <a:t>[1] </a:t>
            </a:r>
            <a:r>
              <a:rPr lang="en-US" sz="3600" dirty="0" err="1"/>
              <a:t>Saykin</a:t>
            </a:r>
            <a:r>
              <a:rPr lang="en-US" sz="3600" dirty="0"/>
              <a:t> et al. Alzheimer’s &amp; Dementia. 2015. 11: 792-814</a:t>
            </a:r>
          </a:p>
          <a:p>
            <a:r>
              <a:rPr lang="en-US" sz="3600" dirty="0"/>
              <a:t>[2] Shen et al. Brain Imaging </a:t>
            </a:r>
            <a:r>
              <a:rPr lang="en-US" sz="3600" dirty="0" err="1"/>
              <a:t>Behav</a:t>
            </a:r>
            <a:r>
              <a:rPr lang="en-US" sz="3600" dirty="0"/>
              <a:t>. 2014. Jun;8(2):183-207</a:t>
            </a:r>
            <a:br>
              <a:rPr lang="en-US" sz="3600" dirty="0"/>
            </a:br>
            <a:r>
              <a:rPr lang="en-US" sz="3600" dirty="0"/>
              <a:t>[3] Yao et al. </a:t>
            </a:r>
            <a:r>
              <a:rPr lang="en-US" sz="3600" dirty="0" err="1"/>
              <a:t>Alzheimers</a:t>
            </a:r>
            <a:r>
              <a:rPr lang="en-US" sz="3600" dirty="0"/>
              <a:t> Dement. 2015. 11(supp7):P426 </a:t>
            </a:r>
          </a:p>
        </p:txBody>
      </p:sp>
      <p:sp>
        <p:nvSpPr>
          <p:cNvPr id="28" name="Text Box 147"/>
          <p:cNvSpPr txBox="1">
            <a:spLocks noChangeArrowheads="1"/>
          </p:cNvSpPr>
          <p:nvPr/>
        </p:nvSpPr>
        <p:spPr bwMode="auto">
          <a:xfrm>
            <a:off x="15468600" y="6581723"/>
            <a:ext cx="28197314" cy="26060400"/>
          </a:xfrm>
          <a:custGeom>
            <a:avLst/>
            <a:gdLst>
              <a:gd name="connsiteX0" fmla="*/ 0 w 27012196"/>
              <a:gd name="connsiteY0" fmla="*/ 0 h 24688800"/>
              <a:gd name="connsiteX1" fmla="*/ 27012196 w 27012196"/>
              <a:gd name="connsiteY1" fmla="*/ 0 h 24688800"/>
              <a:gd name="connsiteX2" fmla="*/ 27012196 w 27012196"/>
              <a:gd name="connsiteY2" fmla="*/ 24688800 h 24688800"/>
              <a:gd name="connsiteX3" fmla="*/ 0 w 27012196"/>
              <a:gd name="connsiteY3" fmla="*/ 24688800 h 24688800"/>
              <a:gd name="connsiteX4" fmla="*/ 0 w 27012196"/>
              <a:gd name="connsiteY4" fmla="*/ 0 h 24688800"/>
              <a:gd name="connsiteX0" fmla="*/ 0 w 27012196"/>
              <a:gd name="connsiteY0" fmla="*/ 0 h 24688800"/>
              <a:gd name="connsiteX1" fmla="*/ 27012196 w 27012196"/>
              <a:gd name="connsiteY1" fmla="*/ 0 h 24688800"/>
              <a:gd name="connsiteX2" fmla="*/ 12183013 w 27012196"/>
              <a:gd name="connsiteY2" fmla="*/ 11251095 h 24688800"/>
              <a:gd name="connsiteX3" fmla="*/ 0 w 27012196"/>
              <a:gd name="connsiteY3" fmla="*/ 24688800 h 24688800"/>
              <a:gd name="connsiteX4" fmla="*/ 0 w 27012196"/>
              <a:gd name="connsiteY4" fmla="*/ 0 h 24688800"/>
              <a:gd name="connsiteX0" fmla="*/ 0 w 27012196"/>
              <a:gd name="connsiteY0" fmla="*/ 0 h 24688800"/>
              <a:gd name="connsiteX1" fmla="*/ 27012196 w 27012196"/>
              <a:gd name="connsiteY1" fmla="*/ 0 h 24688800"/>
              <a:gd name="connsiteX2" fmla="*/ 11825204 w 27012196"/>
              <a:gd name="connsiteY2" fmla="*/ 24529773 h 24688800"/>
              <a:gd name="connsiteX3" fmla="*/ 0 w 27012196"/>
              <a:gd name="connsiteY3" fmla="*/ 24688800 h 24688800"/>
              <a:gd name="connsiteX4" fmla="*/ 0 w 27012196"/>
              <a:gd name="connsiteY4" fmla="*/ 0 h 24688800"/>
              <a:gd name="connsiteX0" fmla="*/ 0 w 27012196"/>
              <a:gd name="connsiteY0" fmla="*/ 0 h 24688800"/>
              <a:gd name="connsiteX1" fmla="*/ 27012196 w 27012196"/>
              <a:gd name="connsiteY1" fmla="*/ 0 h 24688800"/>
              <a:gd name="connsiteX2" fmla="*/ 11825204 w 27012196"/>
              <a:gd name="connsiteY2" fmla="*/ 24529773 h 24688800"/>
              <a:gd name="connsiteX3" fmla="*/ 0 w 27012196"/>
              <a:gd name="connsiteY3" fmla="*/ 24688800 h 24688800"/>
              <a:gd name="connsiteX4" fmla="*/ 0 w 27012196"/>
              <a:gd name="connsiteY4" fmla="*/ 0 h 24688800"/>
              <a:gd name="connsiteX0" fmla="*/ 0 w 27012196"/>
              <a:gd name="connsiteY0" fmla="*/ 0 h 24688800"/>
              <a:gd name="connsiteX1" fmla="*/ 27012196 w 27012196"/>
              <a:gd name="connsiteY1" fmla="*/ 0 h 24688800"/>
              <a:gd name="connsiteX2" fmla="*/ 11825204 w 27012196"/>
              <a:gd name="connsiteY2" fmla="*/ 24649042 h 24688800"/>
              <a:gd name="connsiteX3" fmla="*/ 0 w 27012196"/>
              <a:gd name="connsiteY3" fmla="*/ 24688800 h 24688800"/>
              <a:gd name="connsiteX4" fmla="*/ 0 w 27012196"/>
              <a:gd name="connsiteY4" fmla="*/ 0 h 24688800"/>
              <a:gd name="connsiteX0" fmla="*/ 0 w 27012196"/>
              <a:gd name="connsiteY0" fmla="*/ 0 h 24688800"/>
              <a:gd name="connsiteX1" fmla="*/ 27012196 w 27012196"/>
              <a:gd name="connsiteY1" fmla="*/ 0 h 24688800"/>
              <a:gd name="connsiteX2" fmla="*/ 20174224 w 27012196"/>
              <a:gd name="connsiteY2" fmla="*/ 11137127 h 24688800"/>
              <a:gd name="connsiteX3" fmla="*/ 11825204 w 27012196"/>
              <a:gd name="connsiteY3" fmla="*/ 24649042 h 24688800"/>
              <a:gd name="connsiteX4" fmla="*/ 0 w 27012196"/>
              <a:gd name="connsiteY4" fmla="*/ 24688800 h 24688800"/>
              <a:gd name="connsiteX5" fmla="*/ 0 w 27012196"/>
              <a:gd name="connsiteY5" fmla="*/ 0 h 24688800"/>
              <a:gd name="connsiteX0" fmla="*/ 0 w 27052102"/>
              <a:gd name="connsiteY0" fmla="*/ 0 h 24688800"/>
              <a:gd name="connsiteX1" fmla="*/ 27012196 w 27052102"/>
              <a:gd name="connsiteY1" fmla="*/ 0 h 24688800"/>
              <a:gd name="connsiteX2" fmla="*/ 27052102 w 27052102"/>
              <a:gd name="connsiteY2" fmla="*/ 12250309 h 24688800"/>
              <a:gd name="connsiteX3" fmla="*/ 11825204 w 27052102"/>
              <a:gd name="connsiteY3" fmla="*/ 24649042 h 24688800"/>
              <a:gd name="connsiteX4" fmla="*/ 0 w 27052102"/>
              <a:gd name="connsiteY4" fmla="*/ 24688800 h 24688800"/>
              <a:gd name="connsiteX5" fmla="*/ 0 w 27052102"/>
              <a:gd name="connsiteY5" fmla="*/ 0 h 24688800"/>
              <a:gd name="connsiteX0" fmla="*/ 0 w 27052102"/>
              <a:gd name="connsiteY0" fmla="*/ 0 h 24688800"/>
              <a:gd name="connsiteX1" fmla="*/ 27012196 w 27052102"/>
              <a:gd name="connsiteY1" fmla="*/ 0 h 24688800"/>
              <a:gd name="connsiteX2" fmla="*/ 27052102 w 27052102"/>
              <a:gd name="connsiteY2" fmla="*/ 12250309 h 24688800"/>
              <a:gd name="connsiteX3" fmla="*/ 11825204 w 27052102"/>
              <a:gd name="connsiteY3" fmla="*/ 24649042 h 24688800"/>
              <a:gd name="connsiteX4" fmla="*/ 0 w 27052102"/>
              <a:gd name="connsiteY4" fmla="*/ 24688800 h 24688800"/>
              <a:gd name="connsiteX5" fmla="*/ 0 w 27052102"/>
              <a:gd name="connsiteY5" fmla="*/ 0 h 24688800"/>
              <a:gd name="connsiteX0" fmla="*/ 0 w 27052102"/>
              <a:gd name="connsiteY0" fmla="*/ 0 h 24688800"/>
              <a:gd name="connsiteX1" fmla="*/ 27012196 w 27052102"/>
              <a:gd name="connsiteY1" fmla="*/ 0 h 24688800"/>
              <a:gd name="connsiteX2" fmla="*/ 27052102 w 27052102"/>
              <a:gd name="connsiteY2" fmla="*/ 12250309 h 24688800"/>
              <a:gd name="connsiteX3" fmla="*/ 18583963 w 27052102"/>
              <a:gd name="connsiteY3" fmla="*/ 19207701 h 24688800"/>
              <a:gd name="connsiteX4" fmla="*/ 11825204 w 27052102"/>
              <a:gd name="connsiteY4" fmla="*/ 24649042 h 24688800"/>
              <a:gd name="connsiteX5" fmla="*/ 0 w 27052102"/>
              <a:gd name="connsiteY5" fmla="*/ 24688800 h 24688800"/>
              <a:gd name="connsiteX6" fmla="*/ 0 w 27052102"/>
              <a:gd name="connsiteY6" fmla="*/ 0 h 24688800"/>
              <a:gd name="connsiteX0" fmla="*/ 0 w 27052102"/>
              <a:gd name="connsiteY0" fmla="*/ 0 h 24688800"/>
              <a:gd name="connsiteX1" fmla="*/ 27012196 w 27052102"/>
              <a:gd name="connsiteY1" fmla="*/ 0 h 24688800"/>
              <a:gd name="connsiteX2" fmla="*/ 27052102 w 27052102"/>
              <a:gd name="connsiteY2" fmla="*/ 12250309 h 24688800"/>
              <a:gd name="connsiteX3" fmla="*/ 11865112 w 27052102"/>
              <a:gd name="connsiteY3" fmla="*/ 12409334 h 24688800"/>
              <a:gd name="connsiteX4" fmla="*/ 11825204 w 27052102"/>
              <a:gd name="connsiteY4" fmla="*/ 24649042 h 24688800"/>
              <a:gd name="connsiteX5" fmla="*/ 0 w 27052102"/>
              <a:gd name="connsiteY5" fmla="*/ 24688800 h 24688800"/>
              <a:gd name="connsiteX6" fmla="*/ 0 w 27052102"/>
              <a:gd name="connsiteY6" fmla="*/ 0 h 24688800"/>
              <a:gd name="connsiteX0" fmla="*/ 0 w 27105112"/>
              <a:gd name="connsiteY0" fmla="*/ 0 h 24688800"/>
              <a:gd name="connsiteX1" fmla="*/ 27012196 w 27105112"/>
              <a:gd name="connsiteY1" fmla="*/ 0 h 24688800"/>
              <a:gd name="connsiteX2" fmla="*/ 27052102 w 27105112"/>
              <a:gd name="connsiteY2" fmla="*/ 12250309 h 24688800"/>
              <a:gd name="connsiteX3" fmla="*/ 27105112 w 27105112"/>
              <a:gd name="connsiteY3" fmla="*/ 24563234 h 24688800"/>
              <a:gd name="connsiteX4" fmla="*/ 11825204 w 27105112"/>
              <a:gd name="connsiteY4" fmla="*/ 24649042 h 24688800"/>
              <a:gd name="connsiteX5" fmla="*/ 0 w 27105112"/>
              <a:gd name="connsiteY5" fmla="*/ 24688800 h 24688800"/>
              <a:gd name="connsiteX6" fmla="*/ 0 w 27105112"/>
              <a:gd name="connsiteY6" fmla="*/ 0 h 246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05112" h="24688800">
                <a:moveTo>
                  <a:pt x="0" y="0"/>
                </a:moveTo>
                <a:lnTo>
                  <a:pt x="27012196" y="0"/>
                </a:lnTo>
                <a:lnTo>
                  <a:pt x="27052102" y="12250309"/>
                </a:lnTo>
                <a:lnTo>
                  <a:pt x="27105112" y="24563234"/>
                </a:lnTo>
                <a:lnTo>
                  <a:pt x="11825204" y="24649042"/>
                </a:lnTo>
                <a:lnTo>
                  <a:pt x="0" y="24688800"/>
                </a:lnTo>
                <a:lnTo>
                  <a:pt x="0" y="0"/>
                </a:lnTo>
                <a:close/>
              </a:path>
            </a:pathLst>
          </a:custGeom>
          <a:solidFill>
            <a:schemeClr val="bg1"/>
          </a:solidFill>
          <a:ln w="57150" cmpd="thinThick">
            <a:solidFill>
              <a:schemeClr val="tx1"/>
            </a:solidFill>
            <a:miter lim="800000"/>
            <a:headEnd/>
            <a:tailEnd/>
          </a:ln>
        </p:spPr>
        <p:txBody>
          <a:bodyPr wrap="square" lIns="243840" tIns="107289" rIns="243840" bIns="107289">
            <a:spAutoFit/>
          </a:bodyPr>
          <a:lstStyle/>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smtClean="0"/>
          </a:p>
          <a:p>
            <a:pPr algn="just"/>
            <a:endParaRPr lang="en-US" sz="3840" dirty="0"/>
          </a:p>
        </p:txBody>
      </p:sp>
      <p:sp>
        <p:nvSpPr>
          <p:cNvPr id="29" name="Text Box 259"/>
          <p:cNvSpPr txBox="1">
            <a:spLocks noChangeArrowheads="1"/>
          </p:cNvSpPr>
          <p:nvPr/>
        </p:nvSpPr>
        <p:spPr bwMode="auto">
          <a:xfrm>
            <a:off x="15468599" y="5489189"/>
            <a:ext cx="28108656" cy="868272"/>
          </a:xfrm>
          <a:prstGeom prst="rect">
            <a:avLst/>
          </a:prstGeom>
          <a:gradFill rotWithShape="0">
            <a:gsLst>
              <a:gs pos="0">
                <a:srgbClr val="000066"/>
              </a:gs>
              <a:gs pos="100000">
                <a:srgbClr val="003300"/>
              </a:gs>
            </a:gsLst>
            <a:lin ang="0" scaled="1"/>
          </a:gradFill>
          <a:ln w="9525">
            <a:solidFill>
              <a:schemeClr val="tx1"/>
            </a:solidFill>
            <a:miter lim="800000"/>
            <a:headEnd/>
            <a:tailEnd/>
          </a:ln>
          <a:effectLst/>
        </p:spPr>
        <p:txBody>
          <a:bodyPr wrap="square" lIns="95907" tIns="47953" rIns="95907" bIns="47953">
            <a:spAutoFit/>
          </a:bodyPr>
          <a:lstStyle/>
          <a:p>
            <a:pPr>
              <a:buFontTx/>
              <a:buNone/>
              <a:defRPr/>
            </a:pPr>
            <a:r>
              <a:rPr lang="en-US" sz="5013" b="1" dirty="0">
                <a:solidFill>
                  <a:schemeClr val="bg1"/>
                </a:solidFill>
                <a:effectLst>
                  <a:outerShdw blurRad="38100" dist="38100" dir="2700000" algn="tl">
                    <a:srgbClr val="000000"/>
                  </a:outerShdw>
                </a:effectLst>
                <a:latin typeface="Tahoma" pitchFamily="34" charset="0"/>
              </a:rPr>
              <a:t>3. </a:t>
            </a:r>
            <a:r>
              <a:rPr lang="en-US" sz="5013" b="1" cap="small" dirty="0">
                <a:solidFill>
                  <a:schemeClr val="bg1"/>
                </a:solidFill>
                <a:effectLst>
                  <a:outerShdw blurRad="38100" dist="38100" dir="2700000" algn="tl">
                    <a:srgbClr val="000000"/>
                  </a:outerShdw>
                </a:effectLst>
                <a:latin typeface="Tahoma" pitchFamily="34" charset="0"/>
              </a:rPr>
              <a:t>Results</a:t>
            </a:r>
            <a:endParaRPr lang="en-US" sz="3947" b="1" cap="small" dirty="0">
              <a:solidFill>
                <a:schemeClr val="bg1"/>
              </a:solidFill>
              <a:effectLst>
                <a:outerShdw blurRad="38100" dist="38100" dir="2700000" algn="tl">
                  <a:srgbClr val="000000"/>
                </a:outerShdw>
              </a:effectLst>
              <a:latin typeface="Tahoma" pitchFamily="34" charset="0"/>
            </a:endParaRPr>
          </a:p>
        </p:txBody>
      </p:sp>
      <p:sp>
        <p:nvSpPr>
          <p:cNvPr id="2" name="TextBox 1"/>
          <p:cNvSpPr txBox="1"/>
          <p:nvPr/>
        </p:nvSpPr>
        <p:spPr>
          <a:xfrm>
            <a:off x="15557146" y="6665953"/>
            <a:ext cx="16321047" cy="10176508"/>
          </a:xfrm>
          <a:prstGeom prst="rect">
            <a:avLst/>
          </a:prstGeom>
          <a:noFill/>
        </p:spPr>
        <p:txBody>
          <a:bodyPr wrap="square" rtlCol="0">
            <a:spAutoFit/>
          </a:bodyPr>
          <a:lstStyle/>
          <a:p>
            <a:pPr algn="just"/>
            <a:r>
              <a:rPr lang="en-US" sz="4400" dirty="0"/>
              <a:t>There were 78 and 81 ADNI genetics papers published in 2015 and 2016, respectively. Figure 1 shows the distribution of ADNI </a:t>
            </a:r>
            <a:r>
              <a:rPr lang="en-US" sz="4400" dirty="0" smtClean="0"/>
              <a:t>genetics </a:t>
            </a:r>
            <a:r>
              <a:rPr lang="en-US" sz="4400" dirty="0"/>
              <a:t>publications grouped by assessed phenotype(s) from 2008 to 2016. Figure 2 illustrates the change of common journals and top common genes reported by ADNI </a:t>
            </a:r>
            <a:r>
              <a:rPr lang="en-US" sz="4400" dirty="0" smtClean="0"/>
              <a:t>genetics </a:t>
            </a:r>
            <a:r>
              <a:rPr lang="en-US" sz="4400" dirty="0"/>
              <a:t>papers of 2015-2016 with those published between 2008-2014, respectively [1]. Compared with 174 findings collected from 2008 to 2014 [2,3], ADNI papers from 2015-2016 identified 25 previously reported genes and 96 new genes that individually or </a:t>
            </a:r>
            <a:r>
              <a:rPr lang="en-US" sz="4400" dirty="0" smtClean="0"/>
              <a:t>jointly </a:t>
            </a:r>
            <a:r>
              <a:rPr lang="en-US" sz="4400" dirty="0"/>
              <a:t>associated with different types of AD-related traits including clinical status, structural and functional neuroimaging, fluid biomarkers, and neuropsychological </a:t>
            </a:r>
            <a:r>
              <a:rPr lang="en-US" sz="4400" dirty="0" smtClean="0"/>
              <a:t>assessments. </a:t>
            </a:r>
            <a:r>
              <a:rPr lang="en-US" sz="4400" dirty="0"/>
              <a:t>These major findings were significantly enriched in several pathways and biological processes, including Alzheimer’s Disease (p&lt;0.005), cell adhesion molecules (p&lt;0.05), regulation of beta-amyloid formation (p=1.8e-4), regulation of neuron death (p=2e-4); see Table 1 for details.  </a:t>
            </a:r>
          </a:p>
        </p:txBody>
      </p:sp>
      <p:grpSp>
        <p:nvGrpSpPr>
          <p:cNvPr id="5" name="Group 4"/>
          <p:cNvGrpSpPr/>
          <p:nvPr/>
        </p:nvGrpSpPr>
        <p:grpSpPr>
          <a:xfrm>
            <a:off x="587828" y="2627902"/>
            <a:ext cx="9972326" cy="2588423"/>
            <a:chOff x="507999" y="3124199"/>
            <a:chExt cx="8879737" cy="2258562"/>
          </a:xfrm>
        </p:grpSpPr>
        <p:pic>
          <p:nvPicPr>
            <p:cNvPr id="14" name="Picture 13" descr="cfn.jpg"/>
            <p:cNvPicPr>
              <a:picLocks/>
            </p:cNvPicPr>
            <p:nvPr/>
          </p:nvPicPr>
          <p:blipFill>
            <a:blip r:embed="rId2" cstate="print"/>
            <a:srcRect l="12028" t="11979" r="12102" b="16145"/>
            <a:stretch>
              <a:fillRect/>
            </a:stretch>
          </p:blipFill>
          <p:spPr>
            <a:xfrm>
              <a:off x="507999" y="3124199"/>
              <a:ext cx="2248759" cy="2258562"/>
            </a:xfrm>
            <a:prstGeom prst="rect">
              <a:avLst/>
            </a:prstGeom>
          </p:spPr>
        </p:pic>
        <p:pic>
          <p:nvPicPr>
            <p:cNvPr id="33" name="Picture 1"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7961" y="3803781"/>
              <a:ext cx="3184212" cy="1504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58"/>
            <p:cNvPicPr>
              <a:picLocks noChangeAspect="1" noChangeArrowheads="1"/>
            </p:cNvPicPr>
            <p:nvPr/>
          </p:nvPicPr>
          <p:blipFill>
            <a:blip r:embed="rId4" cstate="print"/>
            <a:srcRect/>
            <a:stretch>
              <a:fillRect/>
            </a:stretch>
          </p:blipFill>
          <p:spPr bwMode="auto">
            <a:xfrm>
              <a:off x="6252202" y="3735827"/>
              <a:ext cx="3135534" cy="1572762"/>
            </a:xfrm>
            <a:prstGeom prst="rect">
              <a:avLst/>
            </a:prstGeom>
            <a:noFill/>
            <a:ln w="9525">
              <a:noFill/>
              <a:miter lim="800000"/>
              <a:headEnd/>
              <a:tailEnd/>
            </a:ln>
            <a:effectLst/>
          </p:spPr>
        </p:pic>
      </p:grpSp>
      <p:grpSp>
        <p:nvGrpSpPr>
          <p:cNvPr id="3" name="Group 2"/>
          <p:cNvGrpSpPr/>
          <p:nvPr/>
        </p:nvGrpSpPr>
        <p:grpSpPr>
          <a:xfrm>
            <a:off x="31607413" y="2574201"/>
            <a:ext cx="11633008" cy="2649411"/>
            <a:chOff x="22066640" y="2455668"/>
            <a:chExt cx="8724756" cy="1987058"/>
          </a:xfrm>
        </p:grpSpPr>
        <p:pic>
          <p:nvPicPr>
            <p:cNvPr id="16" name="Picture 15" descr="logo_CCBB"/>
            <p:cNvPicPr>
              <a:picLocks noChangeAspect="1" noChangeArrowheads="1"/>
            </p:cNvPicPr>
            <p:nvPr/>
          </p:nvPicPr>
          <p:blipFill>
            <a:blip r:embed="rId5" cstate="print"/>
            <a:srcRect/>
            <a:stretch>
              <a:fillRect/>
            </a:stretch>
          </p:blipFill>
          <p:spPr bwMode="auto">
            <a:xfrm>
              <a:off x="28779715" y="2455668"/>
              <a:ext cx="2011681" cy="1967656"/>
            </a:xfrm>
            <a:prstGeom prst="rect">
              <a:avLst/>
            </a:prstGeom>
            <a:noFill/>
            <a:ln w="9525">
              <a:noFill/>
              <a:miter lim="800000"/>
              <a:headEnd/>
              <a:tailEnd/>
            </a:ln>
          </p:spPr>
        </p:pic>
        <p:pic>
          <p:nvPicPr>
            <p:cNvPr id="20" name="Picture 2" descr="https://encrypted-tbn3.google.com/images?q=tbn:ANd9GcSI_C11Hqs9mUcg5VR4vi5HaaBx_m2-1Sl7oZtpKDgONgv6sXJ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66640" y="3235696"/>
              <a:ext cx="4463842" cy="120703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adni_logo_150x102.gif"/>
            <p:cNvPicPr>
              <a:picLocks noChangeAspect="1"/>
            </p:cNvPicPr>
            <p:nvPr/>
          </p:nvPicPr>
          <p:blipFill>
            <a:blip r:embed="rId7" cstate="print"/>
            <a:stretch>
              <a:fillRect/>
            </a:stretch>
          </p:blipFill>
          <p:spPr>
            <a:xfrm>
              <a:off x="26647451" y="3268118"/>
              <a:ext cx="2026840" cy="1170432"/>
            </a:xfrm>
            <a:prstGeom prst="rect">
              <a:avLst/>
            </a:prstGeom>
          </p:spPr>
        </p:pic>
      </p:grpSp>
      <p:sp>
        <p:nvSpPr>
          <p:cNvPr id="38" name="Text Box 147"/>
          <p:cNvSpPr txBox="1">
            <a:spLocks noChangeArrowheads="1"/>
          </p:cNvSpPr>
          <p:nvPr/>
        </p:nvSpPr>
        <p:spPr bwMode="auto">
          <a:xfrm>
            <a:off x="328396" y="29891171"/>
            <a:ext cx="14721840" cy="2678886"/>
          </a:xfrm>
          <a:prstGeom prst="rect">
            <a:avLst/>
          </a:prstGeom>
          <a:solidFill>
            <a:schemeClr val="bg1"/>
          </a:solidFill>
          <a:ln w="57150" cmpd="thinThick">
            <a:solidFill>
              <a:schemeClr val="tx1"/>
            </a:solidFill>
            <a:miter lim="800000"/>
            <a:headEnd/>
            <a:tailEnd/>
          </a:ln>
        </p:spPr>
        <p:txBody>
          <a:bodyPr wrap="square" lIns="243840" tIns="107289" rIns="243840" bIns="107289">
            <a:spAutoFit/>
          </a:bodyPr>
          <a:lstStyle/>
          <a:p>
            <a:pPr algn="just">
              <a:defRPr/>
            </a:pPr>
            <a:r>
              <a:rPr lang="en-US" sz="3200" b="1" u="sng" dirty="0"/>
              <a:t>Acknowledgements</a:t>
            </a:r>
            <a:r>
              <a:rPr lang="en-US" sz="3200" b="1" dirty="0"/>
              <a:t>: </a:t>
            </a:r>
            <a:r>
              <a:rPr lang="en-US" sz="3200" dirty="0"/>
              <a:t>Supported in part by NIH R01 LM011360, </a:t>
            </a:r>
            <a:r>
              <a:rPr lang="de-DE" sz="3200" dirty="0"/>
              <a:t>R01 </a:t>
            </a:r>
            <a:r>
              <a:rPr lang="de-DE" sz="3200" dirty="0" smtClean="0"/>
              <a:t>EB022574, </a:t>
            </a:r>
            <a:r>
              <a:rPr lang="en-US" sz="3200" dirty="0" smtClean="0"/>
              <a:t>U01 </a:t>
            </a:r>
            <a:r>
              <a:rPr lang="en-US" sz="3200" dirty="0"/>
              <a:t>AG024904, </a:t>
            </a:r>
            <a:r>
              <a:rPr lang="en-US" sz="3200" dirty="0" smtClean="0"/>
              <a:t>R01 </a:t>
            </a:r>
            <a:r>
              <a:rPr lang="en-US" sz="3200" dirty="0"/>
              <a:t>AG19771, P30 AG10133, </a:t>
            </a:r>
            <a:r>
              <a:rPr lang="en-US" sz="3200" dirty="0" smtClean="0"/>
              <a:t>P01 AG039347</a:t>
            </a:r>
            <a:r>
              <a:rPr lang="en-US" sz="3200" dirty="0"/>
              <a:t>, </a:t>
            </a:r>
            <a:r>
              <a:rPr lang="en-US" sz="3200" dirty="0" smtClean="0"/>
              <a:t>U01 CA198934</a:t>
            </a:r>
            <a:r>
              <a:rPr lang="en-US" sz="3200" dirty="0"/>
              <a:t>, </a:t>
            </a:r>
            <a:r>
              <a:rPr lang="en-US" sz="3200" dirty="0" smtClean="0"/>
              <a:t>R00 LM011384, </a:t>
            </a:r>
            <a:r>
              <a:rPr lang="en-US" sz="3200" dirty="0"/>
              <a:t>K01 </a:t>
            </a:r>
            <a:r>
              <a:rPr lang="en-US" sz="3200" dirty="0" smtClean="0"/>
              <a:t>AG049050, </a:t>
            </a:r>
            <a:r>
              <a:rPr lang="en-US" sz="3200" dirty="0"/>
              <a:t>R03 </a:t>
            </a:r>
            <a:r>
              <a:rPr lang="en-US" sz="3200" dirty="0" smtClean="0"/>
              <a:t>AG050856, UL1 TR001108 </a:t>
            </a:r>
            <a:r>
              <a:rPr lang="en-US" sz="3200" smtClean="0"/>
              <a:t>(Network PDT), </a:t>
            </a:r>
            <a:r>
              <a:rPr lang="en-US" sz="3200" dirty="0"/>
              <a:t>R01 AG 042437, and R01 AG046171; NSF IIS-1117335; DOD W81XWH-14-2-0151, W81XWH-13-1-0259, and W81XWH-12-2-0012; NCAA 14132004; and CTSI SPARC </a:t>
            </a:r>
            <a:r>
              <a:rPr lang="en-US" sz="3200" dirty="0" smtClean="0"/>
              <a:t>Program.</a:t>
            </a:r>
            <a:endParaRPr lang="en-US" sz="3200" dirty="0"/>
          </a:p>
        </p:txBody>
      </p:sp>
      <p:pic>
        <p:nvPicPr>
          <p:cNvPr id="43" name="Content Placeholder 3"/>
          <p:cNvPicPr>
            <a:picLocks noChangeAspect="1"/>
          </p:cNvPicPr>
          <p:nvPr/>
        </p:nvPicPr>
        <p:blipFill rotWithShape="1">
          <a:blip r:embed="rId8" cstate="print">
            <a:extLst>
              <a:ext uri="{28A0092B-C50C-407E-A947-70E740481C1C}">
                <a14:useLocalDpi xmlns:a14="http://schemas.microsoft.com/office/drawing/2010/main" val="0"/>
              </a:ext>
            </a:extLst>
          </a:blip>
          <a:srcRect l="1516" t="8878" r="31417" b="6758"/>
          <a:stretch/>
        </p:blipFill>
        <p:spPr>
          <a:xfrm>
            <a:off x="34631249" y="12119444"/>
            <a:ext cx="8789902" cy="6496753"/>
          </a:xfrm>
          <a:prstGeom prst="rect">
            <a:avLst/>
          </a:prstGeom>
          <a:ln>
            <a:noFill/>
          </a:ln>
        </p:spPr>
      </p:pic>
      <p:sp>
        <p:nvSpPr>
          <p:cNvPr id="9" name="TextBox 8"/>
          <p:cNvSpPr txBox="1"/>
          <p:nvPr/>
        </p:nvSpPr>
        <p:spPr>
          <a:xfrm>
            <a:off x="35519015" y="6658691"/>
            <a:ext cx="5002075" cy="769441"/>
          </a:xfrm>
          <a:prstGeom prst="rect">
            <a:avLst/>
          </a:prstGeom>
          <a:noFill/>
        </p:spPr>
        <p:txBody>
          <a:bodyPr wrap="none" rtlCol="0">
            <a:spAutoFit/>
          </a:bodyPr>
          <a:lstStyle/>
          <a:p>
            <a:r>
              <a:rPr lang="en-US" sz="4400" dirty="0" smtClean="0"/>
              <a:t>(A) Total publications</a:t>
            </a:r>
            <a:endParaRPr lang="en-US" sz="4400" dirty="0"/>
          </a:p>
        </p:txBody>
      </p:sp>
      <p:sp>
        <p:nvSpPr>
          <p:cNvPr id="47" name="TextBox 46"/>
          <p:cNvSpPr txBox="1"/>
          <p:nvPr/>
        </p:nvSpPr>
        <p:spPr>
          <a:xfrm>
            <a:off x="33476662" y="11228358"/>
            <a:ext cx="9086783" cy="769441"/>
          </a:xfrm>
          <a:prstGeom prst="rect">
            <a:avLst/>
          </a:prstGeom>
          <a:noFill/>
        </p:spPr>
        <p:txBody>
          <a:bodyPr wrap="none" rtlCol="0">
            <a:spAutoFit/>
          </a:bodyPr>
          <a:lstStyle/>
          <a:p>
            <a:r>
              <a:rPr lang="en-US" sz="4400" dirty="0" smtClean="0"/>
              <a:t>(B) Publications grouped by phenotype</a:t>
            </a:r>
            <a:endParaRPr lang="en-US" sz="4400" dirty="0"/>
          </a:p>
        </p:txBody>
      </p:sp>
      <p:graphicFrame>
        <p:nvGraphicFramePr>
          <p:cNvPr id="10" name="Table 9"/>
          <p:cNvGraphicFramePr>
            <a:graphicFrameLocks noGrp="1"/>
          </p:cNvGraphicFramePr>
          <p:nvPr>
            <p:extLst>
              <p:ext uri="{D42A27DB-BD31-4B8C-83A1-F6EECF244321}">
                <p14:modId xmlns:p14="http://schemas.microsoft.com/office/powerpoint/2010/main" val="3079723809"/>
              </p:ext>
            </p:extLst>
          </p:nvPr>
        </p:nvGraphicFramePr>
        <p:xfrm>
          <a:off x="15725987" y="16842461"/>
          <a:ext cx="16050856" cy="15488316"/>
        </p:xfrm>
        <a:graphic>
          <a:graphicData uri="http://schemas.openxmlformats.org/drawingml/2006/table">
            <a:tbl>
              <a:tblPr>
                <a:tableStyleId>{69C7853C-536D-4A76-A0AE-DD22124D55A5}</a:tableStyleId>
              </a:tblPr>
              <a:tblGrid>
                <a:gridCol w="585613">
                  <a:extLst>
                    <a:ext uri="{9D8B030D-6E8A-4147-A177-3AD203B41FA5}">
                      <a16:colId xmlns:a16="http://schemas.microsoft.com/office/drawing/2014/main" val="20000"/>
                    </a:ext>
                  </a:extLst>
                </a:gridCol>
                <a:gridCol w="9495250">
                  <a:extLst>
                    <a:ext uri="{9D8B030D-6E8A-4147-A177-3AD203B41FA5}">
                      <a16:colId xmlns:a16="http://schemas.microsoft.com/office/drawing/2014/main" val="20001"/>
                    </a:ext>
                  </a:extLst>
                </a:gridCol>
                <a:gridCol w="1555473">
                  <a:extLst>
                    <a:ext uri="{9D8B030D-6E8A-4147-A177-3AD203B41FA5}">
                      <a16:colId xmlns:a16="http://schemas.microsoft.com/office/drawing/2014/main" val="20002"/>
                    </a:ext>
                  </a:extLst>
                </a:gridCol>
                <a:gridCol w="1694017">
                  <a:extLst>
                    <a:ext uri="{9D8B030D-6E8A-4147-A177-3AD203B41FA5}">
                      <a16:colId xmlns:a16="http://schemas.microsoft.com/office/drawing/2014/main" val="20003"/>
                    </a:ext>
                  </a:extLst>
                </a:gridCol>
                <a:gridCol w="1133543">
                  <a:extLst>
                    <a:ext uri="{9D8B030D-6E8A-4147-A177-3AD203B41FA5}">
                      <a16:colId xmlns:a16="http://schemas.microsoft.com/office/drawing/2014/main" val="20004"/>
                    </a:ext>
                  </a:extLst>
                </a:gridCol>
                <a:gridCol w="1586960">
                  <a:extLst>
                    <a:ext uri="{9D8B030D-6E8A-4147-A177-3AD203B41FA5}">
                      <a16:colId xmlns:a16="http://schemas.microsoft.com/office/drawing/2014/main" val="20005"/>
                    </a:ext>
                  </a:extLst>
                </a:gridCol>
              </a:tblGrid>
              <a:tr h="596841">
                <a:tc gridSpan="6">
                  <a:txBody>
                    <a:bodyPr/>
                    <a:lstStyle/>
                    <a:p>
                      <a:pPr algn="ctr" fontAlgn="b"/>
                      <a:r>
                        <a:rPr lang="en-US" sz="3200" u="none" strike="noStrike" dirty="0">
                          <a:effectLst/>
                        </a:rPr>
                        <a:t>Table 1. Gene set functional annotation</a:t>
                      </a:r>
                      <a:endParaRPr lang="en-US" sz="32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6841">
                <a:tc gridSpan="6">
                  <a:txBody>
                    <a:bodyPr/>
                    <a:lstStyle/>
                    <a:p>
                      <a:pPr algn="l" fontAlgn="b"/>
                      <a:r>
                        <a:rPr lang="en-US" sz="3200" u="none" strike="noStrike">
                          <a:effectLst/>
                        </a:rPr>
                        <a:t>(a) Enrichment pathway maps: results with corrected p-value &lt; 0.05 are shown.</a:t>
                      </a:r>
                      <a:endParaRPr lang="en-US" sz="3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960733">
                <a:tc>
                  <a:txBody>
                    <a:bodyPr/>
                    <a:lstStyle/>
                    <a:p>
                      <a:pPr algn="ctr" fontAlgn="b"/>
                      <a:r>
                        <a:rPr lang="en-US" sz="3200" u="none" strike="noStrike">
                          <a:effectLst/>
                        </a:rPr>
                        <a:t>#</a:t>
                      </a:r>
                      <a:endParaRPr lang="en-US" sz="3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KEGG pathway</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p-value</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corrected </a:t>
                      </a:r>
                      <a:endParaRPr lang="en-US" sz="3200" u="none" strike="noStrike" dirty="0" smtClean="0">
                        <a:effectLst/>
                      </a:endParaRPr>
                    </a:p>
                    <a:p>
                      <a:pPr algn="ctr" fontAlgn="b"/>
                      <a:r>
                        <a:rPr lang="en-US" sz="3200" u="none" strike="noStrike" dirty="0" smtClean="0">
                          <a:effectLst/>
                        </a:rPr>
                        <a:t>p</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Hit </a:t>
                      </a:r>
                      <a:endParaRPr lang="en-US" sz="3200" u="none" strike="noStrike" dirty="0" smtClean="0">
                        <a:effectLst/>
                      </a:endParaRPr>
                    </a:p>
                    <a:p>
                      <a:pPr algn="ctr" fontAlgn="b"/>
                      <a:r>
                        <a:rPr lang="en-US" sz="3200" u="none" strike="noStrike" dirty="0" smtClean="0">
                          <a:effectLst/>
                        </a:rPr>
                        <a:t>genes</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Total genes</a:t>
                      </a:r>
                      <a:endParaRPr lang="en-US" sz="3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2"/>
                  </a:ext>
                </a:extLst>
              </a:tr>
              <a:tr h="596841">
                <a:tc>
                  <a:txBody>
                    <a:bodyPr/>
                    <a:lstStyle/>
                    <a:p>
                      <a:pPr algn="ctr" fontAlgn="b"/>
                      <a:r>
                        <a:rPr lang="en-US" sz="3200" u="none" strike="noStrike">
                          <a:effectLst/>
                        </a:rPr>
                        <a:t>1</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Alzheimer's disease</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1.84E-05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3.63E-03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11</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168</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596841">
                <a:tc>
                  <a:txBody>
                    <a:bodyPr/>
                    <a:lstStyle/>
                    <a:p>
                      <a:pPr algn="ctr" fontAlgn="b"/>
                      <a:r>
                        <a:rPr lang="en-US" sz="3200" u="none" strike="noStrike">
                          <a:effectLst/>
                        </a:rPr>
                        <a:t>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dirty="0">
                          <a:effectLst/>
                        </a:rPr>
                        <a:t>Amyotrophic lateral sclerosis (ALS)</a:t>
                      </a:r>
                      <a:endParaRPr lang="en-US" sz="3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6.11E-04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3.46E-02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51</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596841">
                <a:tc>
                  <a:txBody>
                    <a:bodyPr/>
                    <a:lstStyle/>
                    <a:p>
                      <a:pPr algn="ctr" fontAlgn="b"/>
                      <a:r>
                        <a:rPr lang="en-US" sz="3200" u="none" strike="noStrike">
                          <a:effectLst/>
                        </a:rPr>
                        <a:t>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dirty="0">
                          <a:effectLst/>
                        </a:rPr>
                        <a:t>Complement and coagulation cascades</a:t>
                      </a:r>
                      <a:endParaRPr lang="en-US" sz="3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6.98E-04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3.46E-02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79</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596841">
                <a:tc>
                  <a:txBody>
                    <a:bodyPr/>
                    <a:lstStyle/>
                    <a:p>
                      <a:pPr algn="ctr" fontAlgn="b"/>
                      <a:r>
                        <a:rPr lang="en-US" sz="3200" u="none" strike="noStrike">
                          <a:effectLst/>
                        </a:rPr>
                        <a:t>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Cell adhesion molecules (CAMs)</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7.03E-04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3.46E-02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8</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dirty="0">
                          <a:effectLst/>
                        </a:rPr>
                        <a:t>142</a:t>
                      </a:r>
                      <a:endParaRPr lang="en-US" sz="3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596841">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Hematopoietic cell lineage</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1.23E-03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dirty="0">
                          <a:effectLst/>
                        </a:rPr>
                        <a:t>4.23E-02</a:t>
                      </a:r>
                      <a:endParaRPr lang="en-US" sz="3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88</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596841">
                <a:tc>
                  <a:txBody>
                    <a:bodyPr/>
                    <a:lstStyle/>
                    <a:p>
                      <a:pPr algn="ctr" fontAlgn="b"/>
                      <a:r>
                        <a:rPr lang="en-US" sz="3200" u="none" strike="noStrike">
                          <a:effectLst/>
                        </a:rPr>
                        <a:t>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Long-term depression</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1.29E-03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4.23E-02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60</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596841">
                <a:tc>
                  <a:txBody>
                    <a:bodyPr/>
                    <a:lstStyle/>
                    <a:p>
                      <a:pPr algn="ctr" fontAlgn="b"/>
                      <a:r>
                        <a:rPr lang="en-US" sz="3200" u="none" strike="noStrike">
                          <a:effectLst/>
                        </a:rPr>
                        <a:t>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Axon guidance</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1.71E-03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4.49E-02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127</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596841">
                <a:tc>
                  <a:txBody>
                    <a:bodyPr/>
                    <a:lstStyle/>
                    <a:p>
                      <a:pPr algn="ctr" fontAlgn="b"/>
                      <a:r>
                        <a:rPr lang="en-US" sz="3200" u="none" strike="noStrike">
                          <a:effectLst/>
                        </a:rPr>
                        <a:t>8</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Circadian entrainment</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1.83E-03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4.49E-02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95</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596841">
                <a:tc>
                  <a:txBody>
                    <a:bodyPr/>
                    <a:lstStyle/>
                    <a:p>
                      <a:pPr algn="ctr" fontAlgn="b"/>
                      <a:r>
                        <a:rPr lang="en-US" sz="3200" u="none" strike="noStrike">
                          <a:effectLst/>
                        </a:rPr>
                        <a:t>9</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Fc epsilon RI signaling pathway</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2.25E-03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4.93E-02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68</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596841">
                <a:tc gridSpan="6">
                  <a:txBody>
                    <a:bodyPr/>
                    <a:lstStyle/>
                    <a:p>
                      <a:pPr algn="l" fontAlgn="b"/>
                      <a:r>
                        <a:rPr lang="en-US" sz="3200" u="none" strike="noStrike">
                          <a:effectLst/>
                        </a:rPr>
                        <a:t>(b) Enrichment GO Biological Processes: top 10 results are shown</a:t>
                      </a:r>
                      <a:endParaRPr lang="en-US" sz="3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2"/>
                  </a:ext>
                </a:extLst>
              </a:tr>
              <a:tr h="960733">
                <a:tc>
                  <a:txBody>
                    <a:bodyPr/>
                    <a:lstStyle/>
                    <a:p>
                      <a:pPr algn="ctr" fontAlgn="b"/>
                      <a:r>
                        <a:rPr lang="en-US" sz="3200" u="none" strike="noStrike">
                          <a:effectLst/>
                        </a:rPr>
                        <a:t>#</a:t>
                      </a:r>
                      <a:endParaRPr lang="en-US" sz="3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GO Biological Process</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a:effectLst/>
                        </a:rPr>
                        <a:t>p-value</a:t>
                      </a:r>
                      <a:endParaRPr lang="en-US" sz="3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a:effectLst/>
                        </a:rPr>
                        <a:t>corrected p</a:t>
                      </a:r>
                      <a:endParaRPr lang="en-US" sz="3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Hit genes</a:t>
                      </a:r>
                      <a:endParaRPr lang="en-US" sz="3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3200" u="none" strike="noStrike" dirty="0">
                          <a:effectLst/>
                        </a:rPr>
                        <a:t>Total genes</a:t>
                      </a:r>
                      <a:endParaRPr lang="en-US" sz="3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13"/>
                  </a:ext>
                </a:extLst>
              </a:tr>
              <a:tr h="960733">
                <a:tc>
                  <a:txBody>
                    <a:bodyPr/>
                    <a:lstStyle/>
                    <a:p>
                      <a:pPr algn="ctr" fontAlgn="b"/>
                      <a:r>
                        <a:rPr lang="en-US" sz="3200" u="none" strike="noStrike">
                          <a:effectLst/>
                        </a:rPr>
                        <a:t>1</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negative regulation of amyloid precursor protein catabolic process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2.34E-08</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6.81E-05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8</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4"/>
                  </a:ext>
                </a:extLst>
              </a:tr>
              <a:tr h="596841">
                <a:tc>
                  <a:txBody>
                    <a:bodyPr/>
                    <a:lstStyle/>
                    <a:p>
                      <a:pPr algn="ctr" fontAlgn="b"/>
                      <a:r>
                        <a:rPr lang="en-US" sz="3200" u="none" strike="noStrike">
                          <a:effectLst/>
                        </a:rPr>
                        <a:t>2</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single-organism behavior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1.17E-07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1.70E-04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20</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362</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5"/>
                  </a:ext>
                </a:extLst>
              </a:tr>
              <a:tr h="596841">
                <a:tc>
                  <a:txBody>
                    <a:bodyPr/>
                    <a:lstStyle/>
                    <a:p>
                      <a:pPr algn="ctr" fontAlgn="b"/>
                      <a:r>
                        <a:rPr lang="en-US" sz="3200" u="none" strike="noStrike">
                          <a:effectLst/>
                        </a:rPr>
                        <a:t>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regulation of beta-amyloid formation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1.87E-07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1.81E-04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11</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6"/>
                  </a:ext>
                </a:extLst>
              </a:tr>
              <a:tr h="596841">
                <a:tc>
                  <a:txBody>
                    <a:bodyPr/>
                    <a:lstStyle/>
                    <a:p>
                      <a:pPr algn="ctr" fontAlgn="b"/>
                      <a:r>
                        <a:rPr lang="en-US" sz="3200" u="none" strike="noStrike">
                          <a:effectLst/>
                        </a:rPr>
                        <a:t>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behavior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2.82E-07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2.05E-04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23</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494</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7"/>
                  </a:ext>
                </a:extLst>
              </a:tr>
              <a:tr h="596841">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negative regulation of neurogenesis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3.67E-07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2.06E-04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13</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8"/>
                  </a:ext>
                </a:extLst>
              </a:tr>
              <a:tr h="596841">
                <a:tc>
                  <a:txBody>
                    <a:bodyPr/>
                    <a:lstStyle/>
                    <a:p>
                      <a:pPr algn="ctr" fontAlgn="b"/>
                      <a:r>
                        <a:rPr lang="en-US" sz="3200" u="none" strike="noStrike">
                          <a:effectLst/>
                        </a:rPr>
                        <a:t>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regulation of neuron death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4.44E-07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2.06E-04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225</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9"/>
                  </a:ext>
                </a:extLst>
              </a:tr>
              <a:tr h="596841">
                <a:tc>
                  <a:txBody>
                    <a:bodyPr/>
                    <a:lstStyle/>
                    <a:p>
                      <a:pPr algn="ctr" fontAlgn="b"/>
                      <a:r>
                        <a:rPr lang="en-US" sz="3200" u="none" strike="noStrike">
                          <a:effectLst/>
                        </a:rPr>
                        <a:t>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regulation of amyloid precursor protein catabolic process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5.09E-07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2.06E-04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21</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437</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0"/>
                  </a:ext>
                </a:extLst>
              </a:tr>
              <a:tr h="596841">
                <a:tc>
                  <a:txBody>
                    <a:bodyPr/>
                    <a:lstStyle/>
                    <a:p>
                      <a:pPr algn="ctr" fontAlgn="b"/>
                      <a:r>
                        <a:rPr lang="en-US" sz="3200" u="none" strike="noStrike">
                          <a:effectLst/>
                        </a:rPr>
                        <a:t>8</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cellular component morphogenesis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5.68E-07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2.06E-04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192</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1"/>
                  </a:ext>
                </a:extLst>
              </a:tr>
              <a:tr h="596841">
                <a:tc>
                  <a:txBody>
                    <a:bodyPr/>
                    <a:lstStyle/>
                    <a:p>
                      <a:pPr algn="ctr" fontAlgn="b"/>
                      <a:r>
                        <a:rPr lang="en-US" sz="3200" u="none" strike="noStrike">
                          <a:effectLst/>
                        </a:rPr>
                        <a:t>9</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negative regulation of cell development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9.55E-07</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3.09E-04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15</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239</a:t>
                      </a:r>
                      <a:endParaRPr lang="en-US" sz="3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2"/>
                  </a:ext>
                </a:extLst>
              </a:tr>
              <a:tr h="596841">
                <a:tc>
                  <a:txBody>
                    <a:bodyPr/>
                    <a:lstStyle/>
                    <a:p>
                      <a:pPr algn="ctr" fontAlgn="b"/>
                      <a:r>
                        <a:rPr lang="en-US" sz="3200" u="none" strike="noStrike">
                          <a:effectLst/>
                        </a:rPr>
                        <a:t>10</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3200" u="none" strike="noStrike">
                          <a:effectLst/>
                        </a:rPr>
                        <a:t>negative regulation of nervous system development </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1.14E-06</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3200" u="none" strike="noStrike">
                          <a:effectLst/>
                        </a:rPr>
                        <a:t>3.32E-04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a:effectLst/>
                        </a:rPr>
                        <a:t>14</a:t>
                      </a:r>
                      <a:endParaRPr lang="en-US"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3200" u="none" strike="noStrike" dirty="0">
                          <a:effectLst/>
                        </a:rPr>
                        <a:t>211</a:t>
                      </a:r>
                      <a:endParaRPr lang="en-US" sz="3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3"/>
                  </a:ext>
                </a:extLst>
              </a:tr>
            </a:tbl>
          </a:graphicData>
        </a:graphic>
      </p:graphicFrame>
      <p:sp>
        <p:nvSpPr>
          <p:cNvPr id="11" name="TextBox 10"/>
          <p:cNvSpPr txBox="1"/>
          <p:nvPr/>
        </p:nvSpPr>
        <p:spPr>
          <a:xfrm>
            <a:off x="32257559" y="18603103"/>
            <a:ext cx="11234971" cy="1384995"/>
          </a:xfrm>
          <a:prstGeom prst="rect">
            <a:avLst/>
          </a:prstGeom>
          <a:noFill/>
        </p:spPr>
        <p:txBody>
          <a:bodyPr wrap="square" rtlCol="0">
            <a:spAutoFit/>
          </a:bodyPr>
          <a:lstStyle/>
          <a:p>
            <a:pPr algn="just"/>
            <a:r>
              <a:rPr lang="en-US" sz="2800" dirty="0"/>
              <a:t>Figure 1. ADNI genetic data usage and </a:t>
            </a:r>
            <a:r>
              <a:rPr lang="en-US" sz="2800" dirty="0" smtClean="0"/>
              <a:t>published reports </a:t>
            </a:r>
            <a:r>
              <a:rPr lang="en-US" sz="2800" dirty="0"/>
              <a:t>(2008–2016). </a:t>
            </a:r>
            <a:r>
              <a:rPr lang="en-US" sz="2800" dirty="0" smtClean="0"/>
              <a:t>Number of ADNI genetics publications grouped (A) by </a:t>
            </a:r>
            <a:r>
              <a:rPr lang="en-US" sz="2800" dirty="0"/>
              <a:t>year and (B) by phenotype </a:t>
            </a:r>
            <a:r>
              <a:rPr lang="en-US" sz="2800" dirty="0" smtClean="0"/>
              <a:t>category.</a:t>
            </a:r>
            <a:endParaRPr lang="en-US" sz="2800" dirty="0"/>
          </a:p>
        </p:txBody>
      </p:sp>
      <p:grpSp>
        <p:nvGrpSpPr>
          <p:cNvPr id="13" name="Group 12"/>
          <p:cNvGrpSpPr/>
          <p:nvPr/>
        </p:nvGrpSpPr>
        <p:grpSpPr>
          <a:xfrm>
            <a:off x="32291130" y="20148396"/>
            <a:ext cx="11217683" cy="10573124"/>
            <a:chOff x="32227454" y="19561691"/>
            <a:chExt cx="11217683" cy="10573124"/>
          </a:xfrm>
        </p:grpSpPr>
        <p:pic>
          <p:nvPicPr>
            <p:cNvPr id="49" name="Picture 48"/>
            <p:cNvPicPr>
              <a:picLocks noChangeAspect="1"/>
            </p:cNvPicPr>
            <p:nvPr/>
          </p:nvPicPr>
          <p:blipFill rotWithShape="1">
            <a:blip r:embed="rId9" cstate="print">
              <a:extLst>
                <a:ext uri="{28A0092B-C50C-407E-A947-70E740481C1C}">
                  <a14:useLocalDpi xmlns:a14="http://schemas.microsoft.com/office/drawing/2010/main" val="0"/>
                </a:ext>
              </a:extLst>
            </a:blip>
            <a:srcRect l="51456"/>
            <a:stretch/>
          </p:blipFill>
          <p:spPr>
            <a:xfrm>
              <a:off x="32243737" y="24700113"/>
              <a:ext cx="11201400" cy="5434702"/>
            </a:xfrm>
            <a:prstGeom prst="rect">
              <a:avLst/>
            </a:prstGeom>
            <a:ln>
              <a:solidFill>
                <a:schemeClr val="tx1"/>
              </a:solidFill>
            </a:ln>
          </p:spPr>
        </p:pic>
        <p:pic>
          <p:nvPicPr>
            <p:cNvPr id="50" name="Picture 49"/>
            <p:cNvPicPr>
              <a:picLocks noChangeAspect="1"/>
            </p:cNvPicPr>
            <p:nvPr/>
          </p:nvPicPr>
          <p:blipFill rotWithShape="1">
            <a:blip r:embed="rId9" cstate="print">
              <a:extLst>
                <a:ext uri="{28A0092B-C50C-407E-A947-70E740481C1C}">
                  <a14:useLocalDpi xmlns:a14="http://schemas.microsoft.com/office/drawing/2010/main" val="0"/>
                </a:ext>
              </a:extLst>
            </a:blip>
            <a:srcRect r="48544"/>
            <a:stretch/>
          </p:blipFill>
          <p:spPr>
            <a:xfrm>
              <a:off x="32227454" y="19561691"/>
              <a:ext cx="11201400" cy="5127109"/>
            </a:xfrm>
            <a:prstGeom prst="rect">
              <a:avLst/>
            </a:prstGeom>
            <a:ln>
              <a:solidFill>
                <a:schemeClr val="tx1"/>
              </a:solidFill>
            </a:ln>
          </p:spPr>
        </p:pic>
      </p:grpSp>
      <p:sp>
        <p:nvSpPr>
          <p:cNvPr id="52" name="TextBox 51"/>
          <p:cNvSpPr txBox="1"/>
          <p:nvPr/>
        </p:nvSpPr>
        <p:spPr>
          <a:xfrm>
            <a:off x="32206063" y="30945782"/>
            <a:ext cx="11222791" cy="1384995"/>
          </a:xfrm>
          <a:prstGeom prst="rect">
            <a:avLst/>
          </a:prstGeom>
          <a:noFill/>
        </p:spPr>
        <p:txBody>
          <a:bodyPr wrap="square" rtlCol="0">
            <a:spAutoFit/>
          </a:bodyPr>
          <a:lstStyle/>
          <a:p>
            <a:pPr algn="just"/>
            <a:r>
              <a:rPr lang="en-US" sz="2800" dirty="0" smtClean="0"/>
              <a:t>Figure </a:t>
            </a:r>
            <a:r>
              <a:rPr lang="en-US" sz="2800" dirty="0"/>
              <a:t>2. (A) Common journals </a:t>
            </a:r>
            <a:r>
              <a:rPr lang="en-US" sz="2800" dirty="0" smtClean="0"/>
              <a:t>where papers </a:t>
            </a:r>
            <a:r>
              <a:rPr lang="en-US" sz="2800" dirty="0"/>
              <a:t>using ADNI genetic </a:t>
            </a:r>
            <a:r>
              <a:rPr lang="en-US" sz="2800" dirty="0" smtClean="0"/>
              <a:t>data were published </a:t>
            </a:r>
            <a:r>
              <a:rPr lang="en-US" sz="2800" dirty="0"/>
              <a:t>(2008–2016). (B) Common reported genes in ADNI </a:t>
            </a:r>
            <a:r>
              <a:rPr lang="en-US" sz="2800" dirty="0" smtClean="0"/>
              <a:t>genetics </a:t>
            </a:r>
            <a:r>
              <a:rPr lang="en-US" sz="2800" dirty="0"/>
              <a:t>papers (2008–2016</a:t>
            </a:r>
            <a:r>
              <a:rPr lang="en-US" sz="2800" dirty="0" smtClean="0"/>
              <a:t>).</a:t>
            </a:r>
            <a:endParaRPr lang="en-US" sz="2800" dirty="0"/>
          </a:p>
        </p:txBody>
      </p:sp>
      <p:graphicFrame>
        <p:nvGraphicFramePr>
          <p:cNvPr id="53" name="Table 52"/>
          <p:cNvGraphicFramePr>
            <a:graphicFrameLocks noGrp="1"/>
          </p:cNvGraphicFramePr>
          <p:nvPr>
            <p:extLst>
              <p:ext uri="{D42A27DB-BD31-4B8C-83A1-F6EECF244321}">
                <p14:modId xmlns:p14="http://schemas.microsoft.com/office/powerpoint/2010/main" val="4170137487"/>
              </p:ext>
            </p:extLst>
          </p:nvPr>
        </p:nvGraphicFramePr>
        <p:xfrm>
          <a:off x="32307413" y="7410173"/>
          <a:ext cx="10933008" cy="3818184"/>
        </p:xfrm>
        <a:graphic>
          <a:graphicData uri="http://schemas.openxmlformats.org/drawingml/2006/table">
            <a:tbl>
              <a:tblPr>
                <a:tableStyleId>{69C7853C-536D-4A76-A0AE-DD22124D55A5}</a:tableStyleId>
              </a:tblPr>
              <a:tblGrid>
                <a:gridCol w="1354882">
                  <a:extLst>
                    <a:ext uri="{9D8B030D-6E8A-4147-A177-3AD203B41FA5}">
                      <a16:colId xmlns:a16="http://schemas.microsoft.com/office/drawing/2014/main" val="20000"/>
                    </a:ext>
                  </a:extLst>
                </a:gridCol>
                <a:gridCol w="4111622">
                  <a:extLst>
                    <a:ext uri="{9D8B030D-6E8A-4147-A177-3AD203B41FA5}">
                      <a16:colId xmlns:a16="http://schemas.microsoft.com/office/drawing/2014/main" val="20001"/>
                    </a:ext>
                  </a:extLst>
                </a:gridCol>
                <a:gridCol w="1354882">
                  <a:extLst>
                    <a:ext uri="{9D8B030D-6E8A-4147-A177-3AD203B41FA5}">
                      <a16:colId xmlns:a16="http://schemas.microsoft.com/office/drawing/2014/main" val="20002"/>
                    </a:ext>
                  </a:extLst>
                </a:gridCol>
                <a:gridCol w="4111622">
                  <a:extLst>
                    <a:ext uri="{9D8B030D-6E8A-4147-A177-3AD203B41FA5}">
                      <a16:colId xmlns:a16="http://schemas.microsoft.com/office/drawing/2014/main" val="20003"/>
                    </a:ext>
                  </a:extLst>
                </a:gridCol>
              </a:tblGrid>
              <a:tr h="636364">
                <a:tc>
                  <a:txBody>
                    <a:bodyPr/>
                    <a:lstStyle/>
                    <a:p>
                      <a:pPr algn="ctr" fontAlgn="b"/>
                      <a:r>
                        <a:rPr lang="en-US" sz="3600" u="none" strike="noStrike" dirty="0" smtClean="0">
                          <a:effectLst/>
                        </a:rPr>
                        <a:t>Year</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smtClean="0">
                          <a:effectLst/>
                        </a:rPr>
                        <a:t># of Publications</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smtClean="0">
                          <a:effectLst/>
                        </a:rPr>
                        <a:t>Year</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smtClean="0">
                          <a:effectLst/>
                        </a:rPr>
                        <a:t># of Publications</a:t>
                      </a:r>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636364">
                <a:tc>
                  <a:txBody>
                    <a:bodyPr/>
                    <a:lstStyle/>
                    <a:p>
                      <a:pPr algn="ctr" fontAlgn="b"/>
                      <a:r>
                        <a:rPr lang="en-US" sz="3600" u="none" strike="noStrike" dirty="0">
                          <a:effectLst/>
                        </a:rPr>
                        <a:t>2008</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2</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2013</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69</a:t>
                      </a:r>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636364">
                <a:tc>
                  <a:txBody>
                    <a:bodyPr/>
                    <a:lstStyle/>
                    <a:p>
                      <a:pPr algn="ctr" fontAlgn="b"/>
                      <a:r>
                        <a:rPr lang="en-US" sz="3600" u="none" strike="noStrike" dirty="0">
                          <a:effectLst/>
                        </a:rPr>
                        <a:t>2009</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9</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2014</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99</a:t>
                      </a:r>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636364">
                <a:tc>
                  <a:txBody>
                    <a:bodyPr/>
                    <a:lstStyle/>
                    <a:p>
                      <a:pPr algn="ctr" fontAlgn="b"/>
                      <a:r>
                        <a:rPr lang="en-US" sz="3600" u="none" strike="noStrike" dirty="0">
                          <a:effectLst/>
                        </a:rPr>
                        <a:t>2010</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38</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2015</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78</a:t>
                      </a:r>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636364">
                <a:tc>
                  <a:txBody>
                    <a:bodyPr/>
                    <a:lstStyle/>
                    <a:p>
                      <a:pPr algn="ctr" fontAlgn="b"/>
                      <a:r>
                        <a:rPr lang="en-US" sz="3600" u="none" strike="noStrike" dirty="0">
                          <a:effectLst/>
                        </a:rPr>
                        <a:t>2011</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36</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2016</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81</a:t>
                      </a:r>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636364">
                <a:tc>
                  <a:txBody>
                    <a:bodyPr/>
                    <a:lstStyle/>
                    <a:p>
                      <a:pPr algn="ctr" fontAlgn="b"/>
                      <a:r>
                        <a:rPr lang="en-US" sz="3600" u="none" strike="noStrike" dirty="0">
                          <a:effectLst/>
                        </a:rPr>
                        <a:t>2012</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3600" u="none" strike="noStrike" dirty="0">
                          <a:effectLst/>
                        </a:rPr>
                        <a:t>60</a:t>
                      </a:r>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3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bl>
          </a:graphicData>
        </a:graphic>
      </p:graphicFrame>
      <p:pic>
        <p:nvPicPr>
          <p:cNvPr id="42" name="Content Placeholder 3"/>
          <p:cNvPicPr>
            <a:picLocks noChangeAspect="1"/>
          </p:cNvPicPr>
          <p:nvPr/>
        </p:nvPicPr>
        <p:blipFill rotWithShape="1">
          <a:blip r:embed="rId8" cstate="print">
            <a:extLst>
              <a:ext uri="{28A0092B-C50C-407E-A947-70E740481C1C}">
                <a14:useLocalDpi xmlns:a14="http://schemas.microsoft.com/office/drawing/2010/main" val="0"/>
              </a:ext>
            </a:extLst>
          </a:blip>
          <a:srcRect l="70479" t="34309" r="4401" b="26651"/>
          <a:stretch/>
        </p:blipFill>
        <p:spPr>
          <a:xfrm>
            <a:off x="32206063" y="15973559"/>
            <a:ext cx="2809988" cy="2565967"/>
          </a:xfrm>
          <a:prstGeom prst="rect">
            <a:avLst/>
          </a:prstGeom>
          <a:ln>
            <a:noFill/>
          </a:ln>
        </p:spPr>
      </p:pic>
    </p:spTree>
    <p:extLst>
      <p:ext uri="{BB962C8B-B14F-4D97-AF65-F5344CB8AC3E}">
        <p14:creationId xmlns:p14="http://schemas.microsoft.com/office/powerpoint/2010/main" val="22706987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3614</TotalTime>
  <Words>899</Words>
  <Application>Microsoft Office PowerPoint</Application>
  <PresentationFormat>Custom</PresentationFormat>
  <Paragraphs>211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Tahoma</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 Jingwen</dc:creator>
  <cp:lastModifiedBy>Borner, Katy</cp:lastModifiedBy>
  <cp:revision>256</cp:revision>
  <cp:lastPrinted>2017-07-05T18:48:24Z</cp:lastPrinted>
  <dcterms:created xsi:type="dcterms:W3CDTF">2006-08-16T00:00:00Z</dcterms:created>
  <dcterms:modified xsi:type="dcterms:W3CDTF">2017-07-09T23:21:20Z</dcterms:modified>
</cp:coreProperties>
</file>